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7.pn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74" r:id="rId2"/>
    <p:sldId id="275" r:id="rId3"/>
    <p:sldId id="285" r:id="rId4"/>
    <p:sldId id="289" r:id="rId5"/>
    <p:sldId id="286" r:id="rId6"/>
    <p:sldId id="259" r:id="rId7"/>
    <p:sldId id="282" r:id="rId8"/>
    <p:sldId id="277" r:id="rId9"/>
    <p:sldId id="278" r:id="rId10"/>
    <p:sldId id="261" r:id="rId11"/>
    <p:sldId id="262" r:id="rId12"/>
    <p:sldId id="263" r:id="rId13"/>
    <p:sldId id="279" r:id="rId14"/>
    <p:sldId id="280" r:id="rId15"/>
    <p:sldId id="266" r:id="rId16"/>
    <p:sldId id="290" r:id="rId17"/>
    <p:sldId id="291" r:id="rId18"/>
  </p:sldIdLst>
  <p:sldSz cx="9144000" cy="5143500" type="screen16x9"/>
  <p:notesSz cx="9144000" cy="6858000"/>
  <p:defaultTex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userDrawn="1">
          <p15:clr>
            <a:srgbClr val="A4A3A4"/>
          </p15:clr>
        </p15:guide>
        <p15:guide id="2" pos="288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28AD56"/>
    <a:srgbClr val="185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CE8F1-4F14-426A-8BD6-2CB06606BC25}" v="37" dt="2026-09-21T07:21:25.92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109" d="100"/>
          <a:sy n="109" d="100"/>
        </p:scale>
        <p:origin x="691" y="82"/>
      </p:cViewPr>
      <p:guideLst>
        <p:guide orient="horz" pos="1621"/>
        <p:guide pos="2881"/>
      </p:guideLst>
    </p:cSldViewPr>
  </p:slideViewPr>
  <p:notesTextViewPr>
    <p:cViewPr>
      <p:scale>
        <a:sx n="1" d="1"/>
        <a:sy n="1" d="1"/>
      </p:scale>
      <p:origin x="0" y="0"/>
    </p:cViewPr>
  </p:notesTextViewPr>
  <p:notesViewPr>
    <p:cSldViewPr showGuides="1">
      <p:cViewPr varScale="1">
        <p:scale>
          <a:sx n="117" d="100"/>
          <a:sy n="117" d="100"/>
        </p:scale>
        <p:origin x="235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E5E176A-4B59-5ECB-70D6-AED1657BAAA2}"/>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8D7F7D82-3357-0EDE-7206-11B51E53925D}"/>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E97EE0EA-D68F-4DB7-A706-3E86C567C34E}" type="datetimeFigureOut">
              <a:rPr lang="es-MX" smtClean="0"/>
              <a:t>20/09/2026</a:t>
            </a:fld>
            <a:endParaRPr lang="es-MX"/>
          </a:p>
        </p:txBody>
      </p:sp>
      <p:sp>
        <p:nvSpPr>
          <p:cNvPr id="4" name="Marcador de pie de página 3">
            <a:extLst>
              <a:ext uri="{FF2B5EF4-FFF2-40B4-BE49-F238E27FC236}">
                <a16:creationId xmlns:a16="http://schemas.microsoft.com/office/drawing/2014/main" id="{51E07DF5-E02B-CE4F-4BE0-7A5A6B0C4546}"/>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8513B6C7-F7CA-FFDD-1AE2-27EBA688D8B6}"/>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CB2E2948-777C-45DE-ABAA-4C7DEF93A8B7}" type="slidenum">
              <a:rPr lang="es-MX" smtClean="0"/>
              <a:t>‹Nº›</a:t>
            </a:fld>
            <a:endParaRPr lang="es-MX"/>
          </a:p>
        </p:txBody>
      </p:sp>
    </p:spTree>
    <p:extLst>
      <p:ext uri="{BB962C8B-B14F-4D97-AF65-F5344CB8AC3E}">
        <p14:creationId xmlns:p14="http://schemas.microsoft.com/office/powerpoint/2010/main" val="230523626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649DCB8-392E-40F3-82B8-A61CDD22F42E}" type="datetimeFigureOut">
              <a:rPr lang="es-MX" smtClean="0"/>
              <a:t>20/09/2026</a:t>
            </a:fld>
            <a:endParaRPr lang="es-MX"/>
          </a:p>
        </p:txBody>
      </p:sp>
      <p:sp>
        <p:nvSpPr>
          <p:cNvPr id="4" name="Marcador de imagen de diapositiva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D7AC556-5F5F-4A49-B74B-479FE9160B00}" type="slidenum">
              <a:rPr lang="es-MX" smtClean="0"/>
              <a:t>‹Nº›</a:t>
            </a:fld>
            <a:endParaRPr lang="es-MX"/>
          </a:p>
        </p:txBody>
      </p:sp>
    </p:spTree>
    <p:extLst>
      <p:ext uri="{BB962C8B-B14F-4D97-AF65-F5344CB8AC3E}">
        <p14:creationId xmlns:p14="http://schemas.microsoft.com/office/powerpoint/2010/main" val="203240568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85E27570-93D9-41CE-BCAA-C36421E4613B}"/>
            </a:ext>
          </a:extLst>
        </p:cNvPr>
        <p:cNvGrpSpPr/>
        <p:nvPr/>
      </p:nvGrpSpPr>
      <p:grpSpPr>
        <a:xfrm>
          <a:off x="0" y="0"/>
          <a:ext cx="0" cy="0"/>
          <a:chOff x="0" y="0"/>
          <a:chExt cx="0" cy="0"/>
        </a:xfrm>
      </p:grpSpPr>
      <p:sp>
        <p:nvSpPr>
          <p:cNvPr id="68" name="Google Shape;68;g3fb8bfecde3_0_18:notes">
            <a:extLst>
              <a:ext uri="{FF2B5EF4-FFF2-40B4-BE49-F238E27FC236}">
                <a16:creationId xmlns:a16="http://schemas.microsoft.com/office/drawing/2014/main" id="{F40A2298-8D5C-F4A7-EE1C-D7A2AAB9254F}"/>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3fb8bfecde3_0_18:notes">
            <a:extLst>
              <a:ext uri="{FF2B5EF4-FFF2-40B4-BE49-F238E27FC236}">
                <a16:creationId xmlns:a16="http://schemas.microsoft.com/office/drawing/2014/main" id="{5AF337FB-C078-6C00-FB44-86EA60DFCD66}"/>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02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fb8bfecde3_0_34: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g3fb8bfecde3_0_3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fb8bfecde3_0_25: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g3fb8bfecde3_0_2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C55A4A98-E1CE-FDF2-B8E3-9AF0D4F72477}"/>
            </a:ext>
          </a:extLst>
        </p:cNvPr>
        <p:cNvGrpSpPr/>
        <p:nvPr/>
      </p:nvGrpSpPr>
      <p:grpSpPr>
        <a:xfrm>
          <a:off x="0" y="0"/>
          <a:ext cx="0" cy="0"/>
          <a:chOff x="0" y="0"/>
          <a:chExt cx="0" cy="0"/>
        </a:xfrm>
      </p:grpSpPr>
      <p:sp>
        <p:nvSpPr>
          <p:cNvPr id="117" name="Google Shape;117;g3fb8bfecde3_0_43:notes">
            <a:extLst>
              <a:ext uri="{FF2B5EF4-FFF2-40B4-BE49-F238E27FC236}">
                <a16:creationId xmlns:a16="http://schemas.microsoft.com/office/drawing/2014/main" id="{50A54AB9-D85A-569F-DBD8-37D10F6A1E9B}"/>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fb8bfecde3_0_43:notes">
            <a:extLst>
              <a:ext uri="{FF2B5EF4-FFF2-40B4-BE49-F238E27FC236}">
                <a16:creationId xmlns:a16="http://schemas.microsoft.com/office/drawing/2014/main" id="{0376BC0F-43F2-B53F-503C-645596699022}"/>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8850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1847EFAD-1240-0CA5-3B71-B395ECE2AF04}"/>
            </a:ext>
          </a:extLst>
        </p:cNvPr>
        <p:cNvGrpSpPr/>
        <p:nvPr/>
      </p:nvGrpSpPr>
      <p:grpSpPr>
        <a:xfrm>
          <a:off x="0" y="0"/>
          <a:ext cx="0" cy="0"/>
          <a:chOff x="0" y="0"/>
          <a:chExt cx="0" cy="0"/>
        </a:xfrm>
      </p:grpSpPr>
      <p:sp>
        <p:nvSpPr>
          <p:cNvPr id="125" name="Google Shape;125;g3fb8bfecde3_0_51:notes">
            <a:extLst>
              <a:ext uri="{FF2B5EF4-FFF2-40B4-BE49-F238E27FC236}">
                <a16:creationId xmlns:a16="http://schemas.microsoft.com/office/drawing/2014/main" id="{E054ED64-FE6C-2D68-6F7D-ED36BD598B3D}"/>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fb8bfecde3_0_51:notes">
            <a:extLst>
              <a:ext uri="{FF2B5EF4-FFF2-40B4-BE49-F238E27FC236}">
                <a16:creationId xmlns:a16="http://schemas.microsoft.com/office/drawing/2014/main" id="{90714A51-B75E-EB9B-2756-E47A2FBB4314}"/>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5404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fb8bfecde3_0_58: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fb8bfecde3_0_5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5FE03017-32CC-C0E4-7164-66A3C085C82F}"/>
            </a:ext>
          </a:extLst>
        </p:cNvPr>
        <p:cNvGrpSpPr/>
        <p:nvPr/>
      </p:nvGrpSpPr>
      <p:grpSpPr>
        <a:xfrm>
          <a:off x="0" y="0"/>
          <a:ext cx="0" cy="0"/>
          <a:chOff x="0" y="0"/>
          <a:chExt cx="0" cy="0"/>
        </a:xfrm>
      </p:grpSpPr>
      <p:sp>
        <p:nvSpPr>
          <p:cNvPr id="117" name="Google Shape;117;g3fb8bfecde3_0_43:notes">
            <a:extLst>
              <a:ext uri="{FF2B5EF4-FFF2-40B4-BE49-F238E27FC236}">
                <a16:creationId xmlns:a16="http://schemas.microsoft.com/office/drawing/2014/main" id="{DCF336BD-AE1D-D93C-B4F5-39396658D972}"/>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fb8bfecde3_0_43:notes">
            <a:extLst>
              <a:ext uri="{FF2B5EF4-FFF2-40B4-BE49-F238E27FC236}">
                <a16:creationId xmlns:a16="http://schemas.microsoft.com/office/drawing/2014/main" id="{D89B917E-A971-92E4-8CB7-AC36BF7058CD}"/>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85142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11" name="4 Rectángulo"/>
          <p:cNvSpPr/>
          <p:nvPr userDrawn="1"/>
        </p:nvSpPr>
        <p:spPr>
          <a:xfrm>
            <a:off x="0" y="6694"/>
            <a:ext cx="9144000" cy="514455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74066" fontAlgn="auto">
              <a:spcBef>
                <a:spcPts val="0"/>
              </a:spcBef>
              <a:spcAft>
                <a:spcPts val="0"/>
              </a:spcAft>
              <a:defRPr/>
            </a:pPr>
            <a:endParaRPr lang="es-MX" sz="1323"/>
          </a:p>
        </p:txBody>
      </p:sp>
      <p:sp>
        <p:nvSpPr>
          <p:cNvPr id="2" name="1 Título"/>
          <p:cNvSpPr>
            <a:spLocks noGrp="1"/>
          </p:cNvSpPr>
          <p:nvPr>
            <p:ph type="title" hasCustomPrompt="1"/>
          </p:nvPr>
        </p:nvSpPr>
        <p:spPr>
          <a:xfrm>
            <a:off x="3523128" y="1609836"/>
            <a:ext cx="4484290" cy="142692"/>
          </a:xfrm>
        </p:spPr>
        <p:txBody>
          <a:bodyPr lIns="36000" tIns="0" anchor="t" anchorCtr="0">
            <a:noAutofit/>
          </a:bodyPr>
          <a:lstStyle>
            <a:lvl1pPr algn="r">
              <a:lnSpc>
                <a:spcPts val="800"/>
              </a:lnSpc>
              <a:defRPr sz="700" b="1" baseline="0">
                <a:solidFill>
                  <a:schemeClr val="tx1"/>
                </a:solidFill>
                <a:latin typeface="Gill Sans MT" panose="020B0502020104020203" pitchFamily="34" charset="0"/>
              </a:defRPr>
            </a:lvl1pPr>
          </a:lstStyle>
          <a:p>
            <a:r>
              <a:rPr lang="es-ES" dirty="0"/>
              <a:t>Haga clic aquí para escribir el nombre de la entidad académica</a:t>
            </a:r>
            <a:endParaRPr lang="es-MX" dirty="0"/>
          </a:p>
        </p:txBody>
      </p:sp>
      <p:sp>
        <p:nvSpPr>
          <p:cNvPr id="4" name="3 Marcador de texto"/>
          <p:cNvSpPr>
            <a:spLocks noGrp="1"/>
          </p:cNvSpPr>
          <p:nvPr>
            <p:ph type="body" sz="half" idx="2" hasCustomPrompt="1"/>
          </p:nvPr>
        </p:nvSpPr>
        <p:spPr>
          <a:xfrm>
            <a:off x="3529049" y="1877162"/>
            <a:ext cx="4484290" cy="190532"/>
          </a:xfrm>
        </p:spPr>
        <p:txBody>
          <a:bodyPr lIns="54000">
            <a:noAutofit/>
          </a:bodyPr>
          <a:lstStyle>
            <a:lvl1pPr marL="0" indent="0" algn="r">
              <a:lnSpc>
                <a:spcPts val="800"/>
              </a:lnSpc>
              <a:spcBef>
                <a:spcPts val="0"/>
              </a:spcBef>
              <a:buNone/>
              <a:defRPr sz="700" b="1" baseline="0">
                <a:solidFill>
                  <a:schemeClr val="tx1"/>
                </a:solidFill>
                <a:latin typeface="Gill Sans MT" panose="020B0502020104020203" pitchFamily="34" charset="0"/>
              </a:defRPr>
            </a:lvl1pPr>
            <a:lvl2pPr marL="149113" indent="0">
              <a:buNone/>
              <a:defRPr sz="392"/>
            </a:lvl2pPr>
            <a:lvl3pPr marL="298227" indent="0">
              <a:buNone/>
              <a:defRPr sz="326"/>
            </a:lvl3pPr>
            <a:lvl4pPr marL="447341" indent="0">
              <a:buNone/>
              <a:defRPr sz="294"/>
            </a:lvl4pPr>
            <a:lvl5pPr marL="596453" indent="0">
              <a:buNone/>
              <a:defRPr sz="294"/>
            </a:lvl5pPr>
            <a:lvl6pPr marL="745567" indent="0">
              <a:buNone/>
              <a:defRPr sz="294"/>
            </a:lvl6pPr>
            <a:lvl7pPr marL="894681" indent="0">
              <a:buNone/>
              <a:defRPr sz="294"/>
            </a:lvl7pPr>
            <a:lvl8pPr marL="1043795" indent="0">
              <a:buNone/>
              <a:defRPr sz="294"/>
            </a:lvl8pPr>
            <a:lvl9pPr marL="1192908" indent="0">
              <a:buNone/>
              <a:defRPr sz="294"/>
            </a:lvl9pPr>
          </a:lstStyle>
          <a:p>
            <a:pPr lvl="0"/>
            <a:r>
              <a:rPr lang="es-ES" dirty="0"/>
              <a:t>Haga clic aquí para escribir el nombre de la región</a:t>
            </a:r>
          </a:p>
        </p:txBody>
      </p:sp>
      <p:sp>
        <p:nvSpPr>
          <p:cNvPr id="14" name="Rectángulo 13"/>
          <p:cNvSpPr/>
          <p:nvPr userDrawn="1"/>
        </p:nvSpPr>
        <p:spPr>
          <a:xfrm>
            <a:off x="442039" y="-2"/>
            <a:ext cx="2425533" cy="3387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15" name="Rectángulo 14"/>
          <p:cNvSpPr/>
          <p:nvPr userDrawn="1"/>
        </p:nvSpPr>
        <p:spPr>
          <a:xfrm>
            <a:off x="343706" y="1290714"/>
            <a:ext cx="2425533" cy="518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18" name="Rectángulo 17"/>
          <p:cNvSpPr/>
          <p:nvPr userDrawn="1"/>
        </p:nvSpPr>
        <p:spPr>
          <a:xfrm rot="5400000">
            <a:off x="-552684" y="552692"/>
            <a:ext cx="1809624" cy="7042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20" name="Rectángulo 19"/>
          <p:cNvSpPr/>
          <p:nvPr userDrawn="1"/>
        </p:nvSpPr>
        <p:spPr>
          <a:xfrm rot="5400000">
            <a:off x="1872849" y="552691"/>
            <a:ext cx="1809624" cy="7042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pic>
        <p:nvPicPr>
          <p:cNvPr id="17" name="3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87862" y="298800"/>
            <a:ext cx="1482702" cy="1277372"/>
          </a:xfrm>
          <a:prstGeom prst="rect">
            <a:avLst/>
          </a:prstGeom>
        </p:spPr>
      </p:pic>
      <p:pic>
        <p:nvPicPr>
          <p:cNvPr id="19" name="1 Imagen"/>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859782"/>
            <a:ext cx="2789022" cy="2283717"/>
          </a:xfrm>
          <a:prstGeom prst="rect">
            <a:avLst/>
          </a:prstGeom>
        </p:spPr>
      </p:pic>
    </p:spTree>
    <p:extLst>
      <p:ext uri="{BB962C8B-B14F-4D97-AF65-F5344CB8AC3E}">
        <p14:creationId xmlns:p14="http://schemas.microsoft.com/office/powerpoint/2010/main" val="289928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3" name="1 Marcador de título"/>
          <p:cNvSpPr>
            <a:spLocks noGrp="1"/>
          </p:cNvSpPr>
          <p:nvPr>
            <p:ph type="title"/>
          </p:nvPr>
        </p:nvSpPr>
        <p:spPr>
          <a:xfrm>
            <a:off x="457202" y="685219"/>
            <a:ext cx="8229600" cy="342307"/>
          </a:xfrm>
          <a:prstGeom prst="rect">
            <a:avLst/>
          </a:prstGeom>
        </p:spPr>
        <p:txBody>
          <a:bodyPr vert="horz" lIns="91440" tIns="45720" rIns="91440" bIns="45720" rtlCol="0" anchor="ctr">
            <a:noAutofit/>
          </a:bodyPr>
          <a:lstStyle>
            <a:lvl1pPr>
              <a:lnSpc>
                <a:spcPts val="2600"/>
              </a:lnSpc>
              <a:defRPr sz="2200"/>
            </a:lvl1pPr>
          </a:lstStyle>
          <a:p>
            <a:r>
              <a:rPr lang="es-ES"/>
              <a:t>Haga clic para modificar el estilo de título del patrón</a:t>
            </a:r>
            <a:endParaRPr lang="es-MX" dirty="0"/>
          </a:p>
        </p:txBody>
      </p:sp>
      <p:sp>
        <p:nvSpPr>
          <p:cNvPr id="8" name="Marcador de texto 7"/>
          <p:cNvSpPr>
            <a:spLocks noGrp="1"/>
          </p:cNvSpPr>
          <p:nvPr>
            <p:ph type="body" sz="quarter" idx="10"/>
          </p:nvPr>
        </p:nvSpPr>
        <p:spPr>
          <a:xfrm>
            <a:off x="1228698" y="1190396"/>
            <a:ext cx="7458104" cy="3394472"/>
          </a:xfrm>
        </p:spPr>
        <p:txBody>
          <a:bodyPr/>
          <a:lstStyle/>
          <a:p>
            <a:pPr lvl="0"/>
            <a:r>
              <a:rPr lang="es-ES"/>
              <a:t>Haga clic para modificar los estilos de texto del patrón</a:t>
            </a:r>
          </a:p>
        </p:txBody>
      </p:sp>
    </p:spTree>
    <p:extLst>
      <p:ext uri="{BB962C8B-B14F-4D97-AF65-F5344CB8AC3E}">
        <p14:creationId xmlns:p14="http://schemas.microsoft.com/office/powerpoint/2010/main" val="952393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3" name="1 Marcador de título"/>
          <p:cNvSpPr>
            <a:spLocks noGrp="1"/>
          </p:cNvSpPr>
          <p:nvPr>
            <p:ph type="title" hasCustomPrompt="1"/>
          </p:nvPr>
        </p:nvSpPr>
        <p:spPr>
          <a:xfrm>
            <a:off x="1202211" y="2070727"/>
            <a:ext cx="7458104" cy="429015"/>
          </a:xfrm>
          <a:prstGeom prst="rect">
            <a:avLst/>
          </a:prstGeom>
        </p:spPr>
        <p:txBody>
          <a:bodyPr vert="horz" lIns="91440" tIns="45720" rIns="91440" bIns="45720" rtlCol="0" anchor="ctr">
            <a:normAutofit/>
          </a:bodyPr>
          <a:lstStyle>
            <a:lvl1pPr algn="r">
              <a:lnSpc>
                <a:spcPts val="2300"/>
              </a:lnSpc>
              <a:defRPr sz="1900" baseline="0">
                <a:solidFill>
                  <a:schemeClr val="tx1">
                    <a:lumMod val="50000"/>
                    <a:lumOff val="50000"/>
                  </a:schemeClr>
                </a:solidFill>
              </a:defRPr>
            </a:lvl1pPr>
          </a:lstStyle>
          <a:p>
            <a:r>
              <a:rPr lang="es-ES" dirty="0"/>
              <a:t>Haga clic aquí para agregar el título</a:t>
            </a:r>
            <a:endParaRPr lang="es-MX" dirty="0"/>
          </a:p>
        </p:txBody>
      </p:sp>
      <p:sp>
        <p:nvSpPr>
          <p:cNvPr id="9" name="Marcador de texto 8"/>
          <p:cNvSpPr>
            <a:spLocks noGrp="1"/>
          </p:cNvSpPr>
          <p:nvPr>
            <p:ph type="body" sz="quarter" idx="10" hasCustomPrompt="1"/>
          </p:nvPr>
        </p:nvSpPr>
        <p:spPr>
          <a:xfrm>
            <a:off x="1202210" y="2464294"/>
            <a:ext cx="7457411" cy="821959"/>
          </a:xfrm>
        </p:spPr>
        <p:txBody>
          <a:bodyPr>
            <a:normAutofit/>
          </a:bodyPr>
          <a:lstStyle>
            <a:lvl1pPr algn="r">
              <a:lnSpc>
                <a:spcPts val="2600"/>
              </a:lnSpc>
              <a:defRPr sz="2200">
                <a:solidFill>
                  <a:schemeClr val="tx1"/>
                </a:solidFill>
              </a:defRPr>
            </a:lvl1pPr>
          </a:lstStyle>
          <a:p>
            <a:pPr lvl="0"/>
            <a:r>
              <a:rPr lang="es-ES" dirty="0"/>
              <a:t>Haga clic para agregar el subtítulo</a:t>
            </a:r>
          </a:p>
        </p:txBody>
      </p:sp>
      <p:pic>
        <p:nvPicPr>
          <p:cNvPr id="5" name="3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291830"/>
            <a:ext cx="2261378" cy="1851670"/>
          </a:xfrm>
          <a:prstGeom prst="rect">
            <a:avLst/>
          </a:prstGeom>
        </p:spPr>
      </p:pic>
    </p:spTree>
    <p:extLst>
      <p:ext uri="{BB962C8B-B14F-4D97-AF65-F5344CB8AC3E}">
        <p14:creationId xmlns:p14="http://schemas.microsoft.com/office/powerpoint/2010/main" val="1433037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11" name="Marcador de contenido 10"/>
          <p:cNvSpPr>
            <a:spLocks noGrp="1"/>
          </p:cNvSpPr>
          <p:nvPr>
            <p:ph sz="quarter" idx="14"/>
          </p:nvPr>
        </p:nvSpPr>
        <p:spPr>
          <a:xfrm>
            <a:off x="442762" y="1714367"/>
            <a:ext cx="4029604" cy="2865951"/>
          </a:xfrm>
        </p:spPr>
        <p:txBody>
          <a:bodyPr/>
          <a:lstStyle/>
          <a:p>
            <a:pPr lvl="0"/>
            <a:r>
              <a:rPr lang="es-ES"/>
              <a:t>Haga clic para modificar los estilos de texto del patrón</a:t>
            </a:r>
          </a:p>
        </p:txBody>
      </p:sp>
      <p:sp>
        <p:nvSpPr>
          <p:cNvPr id="13" name="Marcador de contenido 12"/>
          <p:cNvSpPr>
            <a:spLocks noGrp="1"/>
          </p:cNvSpPr>
          <p:nvPr>
            <p:ph sz="quarter" idx="15"/>
          </p:nvPr>
        </p:nvSpPr>
        <p:spPr>
          <a:xfrm>
            <a:off x="4703109" y="1714366"/>
            <a:ext cx="3866296" cy="2865951"/>
          </a:xfrm>
        </p:spPr>
        <p:txBody>
          <a:bodyPr/>
          <a:lstStyle/>
          <a:p>
            <a:pPr lvl="0"/>
            <a:r>
              <a:rPr lang="es-ES"/>
              <a:t>Haga clic para modificar los estilos de texto del patrón</a:t>
            </a:r>
          </a:p>
        </p:txBody>
      </p:sp>
      <p:sp>
        <p:nvSpPr>
          <p:cNvPr id="19" name="Marcador de texto 18"/>
          <p:cNvSpPr>
            <a:spLocks noGrp="1"/>
          </p:cNvSpPr>
          <p:nvPr>
            <p:ph type="body" sz="quarter" idx="16" hasCustomPrompt="1"/>
          </p:nvPr>
        </p:nvSpPr>
        <p:spPr>
          <a:xfrm>
            <a:off x="4703109" y="971007"/>
            <a:ext cx="3866297" cy="743359"/>
          </a:xfrm>
        </p:spPr>
        <p:txBody>
          <a:bodyPr/>
          <a:lstStyle>
            <a:lvl1pPr>
              <a:defRPr>
                <a:solidFill>
                  <a:schemeClr val="tx1"/>
                </a:solidFill>
              </a:defRPr>
            </a:lvl1pPr>
          </a:lstStyle>
          <a:p>
            <a:pPr lvl="0"/>
            <a:r>
              <a:rPr lang="es-ES" dirty="0"/>
              <a:t>Haga clic para modificar el estilo de título del patrón</a:t>
            </a:r>
          </a:p>
        </p:txBody>
      </p:sp>
      <p:sp>
        <p:nvSpPr>
          <p:cNvPr id="23" name="Marcador de texto 18"/>
          <p:cNvSpPr>
            <a:spLocks noGrp="1"/>
          </p:cNvSpPr>
          <p:nvPr>
            <p:ph type="body" sz="quarter" idx="17" hasCustomPrompt="1"/>
          </p:nvPr>
        </p:nvSpPr>
        <p:spPr>
          <a:xfrm>
            <a:off x="451207" y="971007"/>
            <a:ext cx="4021159" cy="743359"/>
          </a:xfrm>
        </p:spPr>
        <p:txBody>
          <a:bodyPr/>
          <a:lstStyle>
            <a:lvl1pPr>
              <a:defRPr>
                <a:solidFill>
                  <a:schemeClr val="tx1"/>
                </a:solidFill>
              </a:defRPr>
            </a:lvl1pPr>
          </a:lstStyle>
          <a:p>
            <a:pPr lvl="0"/>
            <a:r>
              <a:rPr lang="es-ES" dirty="0"/>
              <a:t>Haga clic para modificar el estilo de título del patrón</a:t>
            </a:r>
          </a:p>
        </p:txBody>
      </p:sp>
    </p:spTree>
    <p:extLst>
      <p:ext uri="{BB962C8B-B14F-4D97-AF65-F5344CB8AC3E}">
        <p14:creationId xmlns:p14="http://schemas.microsoft.com/office/powerpoint/2010/main" val="2726363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
        <p:nvSpPr>
          <p:cNvPr id="4" name="Marcador de contenido 3"/>
          <p:cNvSpPr>
            <a:spLocks noGrp="1"/>
          </p:cNvSpPr>
          <p:nvPr>
            <p:ph sz="quarter" idx="10"/>
          </p:nvPr>
        </p:nvSpPr>
        <p:spPr>
          <a:xfrm>
            <a:off x="3719785" y="1476202"/>
            <a:ext cx="4851065" cy="3096664"/>
          </a:xfrm>
        </p:spPr>
        <p:txBody>
          <a:bodyPr/>
          <a:lstStyle>
            <a:lvl1pPr>
              <a:defRPr lang="es-ES" dirty="0" smtClean="0"/>
            </a:lvl1pPr>
          </a:lstStyle>
          <a:p>
            <a:pPr lvl="0"/>
            <a:r>
              <a:rPr lang="es-ES"/>
              <a:t>Haga clic para modificar los estilos de texto del patrón</a:t>
            </a:r>
          </a:p>
        </p:txBody>
      </p:sp>
      <p:sp>
        <p:nvSpPr>
          <p:cNvPr id="6" name="Marcador de texto 5"/>
          <p:cNvSpPr>
            <a:spLocks noGrp="1"/>
          </p:cNvSpPr>
          <p:nvPr>
            <p:ph type="body" sz="quarter" idx="11" hasCustomPrompt="1"/>
          </p:nvPr>
        </p:nvSpPr>
        <p:spPr>
          <a:xfrm>
            <a:off x="442769" y="904598"/>
            <a:ext cx="6425513" cy="571604"/>
          </a:xfrm>
        </p:spPr>
        <p:txBody>
          <a:bodyPr/>
          <a:lstStyle>
            <a:lvl1pPr>
              <a:defRPr b="0">
                <a:solidFill>
                  <a:schemeClr val="tx1"/>
                </a:solidFill>
              </a:defRPr>
            </a:lvl1pPr>
          </a:lstStyle>
          <a:p>
            <a:pPr lvl="0"/>
            <a:r>
              <a:rPr lang="es-ES" dirty="0"/>
              <a:t>Haga clic para modificar el estilo de título del patrón</a:t>
            </a:r>
          </a:p>
        </p:txBody>
      </p:sp>
      <p:sp>
        <p:nvSpPr>
          <p:cNvPr id="8" name="Marcador de texto 7"/>
          <p:cNvSpPr>
            <a:spLocks noGrp="1"/>
          </p:cNvSpPr>
          <p:nvPr>
            <p:ph type="body" sz="quarter" idx="12"/>
          </p:nvPr>
        </p:nvSpPr>
        <p:spPr>
          <a:xfrm>
            <a:off x="442039" y="1476203"/>
            <a:ext cx="3015844" cy="3096795"/>
          </a:xfrm>
        </p:spPr>
        <p:txBody>
          <a:bodyPr/>
          <a:lstStyle/>
          <a:p>
            <a:pPr lvl="0"/>
            <a:r>
              <a:rPr lang="es-ES"/>
              <a:t>Haga clic para modificar los estilos de texto del patrón</a:t>
            </a:r>
          </a:p>
        </p:txBody>
      </p:sp>
    </p:spTree>
    <p:extLst>
      <p:ext uri="{BB962C8B-B14F-4D97-AF65-F5344CB8AC3E}">
        <p14:creationId xmlns:p14="http://schemas.microsoft.com/office/powerpoint/2010/main" val="578621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17102" y="3917735"/>
            <a:ext cx="7920880" cy="288032"/>
          </a:xfrm>
        </p:spPr>
        <p:txBody>
          <a:bodyPr anchor="b" anchorCtr="0">
            <a:normAutofit/>
          </a:bodyPr>
          <a:lstStyle>
            <a:lvl1pPr algn="ctr">
              <a:lnSpc>
                <a:spcPts val="2100"/>
              </a:lnSpc>
              <a:defRPr sz="1900">
                <a:solidFill>
                  <a:schemeClr val="tx1"/>
                </a:solidFill>
              </a:defRPr>
            </a:lvl1pPr>
          </a:lstStyle>
          <a:p>
            <a:r>
              <a:rPr lang="es-ES" dirty="0"/>
              <a:t>Haga clic para agregar título</a:t>
            </a:r>
            <a:endParaRPr lang="es-MX" dirty="0"/>
          </a:p>
        </p:txBody>
      </p:sp>
      <p:sp>
        <p:nvSpPr>
          <p:cNvPr id="7" name="Marcador de posición de imagen 6"/>
          <p:cNvSpPr>
            <a:spLocks noGrp="1"/>
          </p:cNvSpPr>
          <p:nvPr>
            <p:ph type="pic" sz="quarter" idx="13"/>
          </p:nvPr>
        </p:nvSpPr>
        <p:spPr>
          <a:xfrm>
            <a:off x="1603047" y="932192"/>
            <a:ext cx="5939368" cy="2919372"/>
          </a:xfrm>
        </p:spPr>
        <p:txBody>
          <a:bodyPr/>
          <a:lstStyle>
            <a:lvl1pPr>
              <a:defRPr baseline="0"/>
            </a:lvl1pPr>
          </a:lstStyle>
          <a:p>
            <a:r>
              <a:rPr lang="es-ES"/>
              <a:t>Haga clic en el icono para agregar una imagen</a:t>
            </a:r>
            <a:endParaRPr lang="es-MX" dirty="0"/>
          </a:p>
        </p:txBody>
      </p:sp>
      <p:sp>
        <p:nvSpPr>
          <p:cNvPr id="9" name="Marcador de texto 8"/>
          <p:cNvSpPr>
            <a:spLocks noGrp="1"/>
          </p:cNvSpPr>
          <p:nvPr>
            <p:ph type="body" sz="quarter" idx="14" hasCustomPrompt="1"/>
          </p:nvPr>
        </p:nvSpPr>
        <p:spPr>
          <a:xfrm>
            <a:off x="611560" y="4299942"/>
            <a:ext cx="7920880" cy="277600"/>
          </a:xfrm>
        </p:spPr>
        <p:txBody>
          <a:bodyPr anchor="b" anchorCtr="0">
            <a:noAutofit/>
          </a:bodyPr>
          <a:lstStyle>
            <a:lvl1pPr algn="ctr">
              <a:lnSpc>
                <a:spcPts val="2200"/>
              </a:lnSpc>
              <a:defRPr/>
            </a:lvl1pPr>
          </a:lstStyle>
          <a:p>
            <a:pPr lvl="0"/>
            <a:r>
              <a:rPr lang="es-ES" dirty="0"/>
              <a:t>Haga clic para agregar texto</a:t>
            </a:r>
          </a:p>
        </p:txBody>
      </p:sp>
    </p:spTree>
    <p:extLst>
      <p:ext uri="{BB962C8B-B14F-4D97-AF65-F5344CB8AC3E}">
        <p14:creationId xmlns:p14="http://schemas.microsoft.com/office/powerpoint/2010/main" val="2660494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Diseño personalizado">
  <p:cSld name="5_Diseño personalizado">
    <p:spTree>
      <p:nvGrpSpPr>
        <p:cNvPr id="1" name="Shape 26"/>
        <p:cNvGrpSpPr/>
        <p:nvPr/>
      </p:nvGrpSpPr>
      <p:grpSpPr>
        <a:xfrm>
          <a:off x="0" y="0"/>
          <a:ext cx="0" cy="0"/>
          <a:chOff x="0" y="0"/>
          <a:chExt cx="0" cy="0"/>
        </a:xfrm>
      </p:grpSpPr>
      <p:sp>
        <p:nvSpPr>
          <p:cNvPr id="27" name="Google Shape;27;p3"/>
          <p:cNvSpPr txBox="1">
            <a:spLocks noGrp="1"/>
          </p:cNvSpPr>
          <p:nvPr>
            <p:ph type="title"/>
          </p:nvPr>
        </p:nvSpPr>
        <p:spPr>
          <a:xfrm>
            <a:off x="457202" y="685219"/>
            <a:ext cx="8229600" cy="342307"/>
          </a:xfrm>
          <a:prstGeom prst="rect">
            <a:avLst/>
          </a:prstGeom>
          <a:noFill/>
          <a:ln>
            <a:noFill/>
          </a:ln>
        </p:spPr>
        <p:txBody>
          <a:bodyPr spcFirstLastPara="1" wrap="square" lIns="91425" tIns="45700" rIns="91425" bIns="45700" anchor="ctr" anchorCtr="0">
            <a:noAutofit/>
          </a:bodyPr>
          <a:lstStyle>
            <a:lvl1pPr lvl="0" algn="l">
              <a:lnSpc>
                <a:spcPct val="118181"/>
              </a:lnSpc>
              <a:spcBef>
                <a:spcPts val="0"/>
              </a:spcBef>
              <a:spcAft>
                <a:spcPts val="0"/>
              </a:spcAft>
              <a:buClr>
                <a:schemeClr val="dk1"/>
              </a:buClr>
              <a:buSzPts val="2200"/>
              <a:buFont typeface="Gill Sans"/>
              <a:buNone/>
              <a:defRPr sz="2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
          <p:cNvSpPr txBox="1">
            <a:spLocks noGrp="1"/>
          </p:cNvSpPr>
          <p:nvPr>
            <p:ph type="body" idx="1"/>
          </p:nvPr>
        </p:nvSpPr>
        <p:spPr>
          <a:xfrm>
            <a:off x="1228698" y="1190396"/>
            <a:ext cx="7458104" cy="3394472"/>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713292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Diseño personalizado">
  <p:cSld name="6_Diseño personalizado">
    <p:spTree>
      <p:nvGrpSpPr>
        <p:cNvPr id="1" name="Shape 35"/>
        <p:cNvGrpSpPr/>
        <p:nvPr/>
      </p:nvGrpSpPr>
      <p:grpSpPr>
        <a:xfrm>
          <a:off x="0" y="0"/>
          <a:ext cx="0" cy="0"/>
          <a:chOff x="0" y="0"/>
          <a:chExt cx="0" cy="0"/>
        </a:xfrm>
      </p:grpSpPr>
      <p:sp>
        <p:nvSpPr>
          <p:cNvPr id="36" name="Google Shape;36;p5"/>
          <p:cNvSpPr txBox="1">
            <a:spLocks noGrp="1"/>
          </p:cNvSpPr>
          <p:nvPr>
            <p:ph type="body" idx="1"/>
          </p:nvPr>
        </p:nvSpPr>
        <p:spPr>
          <a:xfrm>
            <a:off x="442762" y="1714367"/>
            <a:ext cx="4029604" cy="2865951"/>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 name="Google Shape;37;p5"/>
          <p:cNvSpPr txBox="1">
            <a:spLocks noGrp="1"/>
          </p:cNvSpPr>
          <p:nvPr>
            <p:ph type="body" idx="2"/>
          </p:nvPr>
        </p:nvSpPr>
        <p:spPr>
          <a:xfrm>
            <a:off x="4703109" y="1714366"/>
            <a:ext cx="3866296" cy="2865951"/>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 name="Google Shape;38;p5"/>
          <p:cNvSpPr txBox="1">
            <a:spLocks noGrp="1"/>
          </p:cNvSpPr>
          <p:nvPr>
            <p:ph type="body" idx="3"/>
          </p:nvPr>
        </p:nvSpPr>
        <p:spPr>
          <a:xfrm>
            <a:off x="4703109" y="971007"/>
            <a:ext cx="3866297" cy="743359"/>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chemeClr val="dk1"/>
              </a:buClr>
              <a:buSzPts val="1900"/>
              <a:buNone/>
              <a:defRPr>
                <a:solidFill>
                  <a:schemeClr val="dk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 name="Google Shape;39;p5"/>
          <p:cNvSpPr txBox="1">
            <a:spLocks noGrp="1"/>
          </p:cNvSpPr>
          <p:nvPr>
            <p:ph type="body" idx="4"/>
          </p:nvPr>
        </p:nvSpPr>
        <p:spPr>
          <a:xfrm>
            <a:off x="451207" y="971007"/>
            <a:ext cx="4021159" cy="743359"/>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chemeClr val="dk1"/>
              </a:buClr>
              <a:buSzPts val="1900"/>
              <a:buNone/>
              <a:defRPr>
                <a:solidFill>
                  <a:schemeClr val="dk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 name="Google Shape;40;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931521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_Diseño personalizado">
  <p:cSld name="7_Diseño personalizado">
    <p:spTree>
      <p:nvGrpSpPr>
        <p:cNvPr id="1" name="Shape 41"/>
        <p:cNvGrpSpPr/>
        <p:nvPr/>
      </p:nvGrpSpPr>
      <p:grpSpPr>
        <a:xfrm>
          <a:off x="0" y="0"/>
          <a:ext cx="0" cy="0"/>
          <a:chOff x="0" y="0"/>
          <a:chExt cx="0" cy="0"/>
        </a:xfrm>
      </p:grpSpPr>
      <p:sp>
        <p:nvSpPr>
          <p:cNvPr id="42" name="Google Shape;42;p6"/>
          <p:cNvSpPr txBox="1">
            <a:spLocks noGrp="1"/>
          </p:cNvSpPr>
          <p:nvPr>
            <p:ph type="body" idx="1"/>
          </p:nvPr>
        </p:nvSpPr>
        <p:spPr>
          <a:xfrm>
            <a:off x="3719785" y="1476202"/>
            <a:ext cx="4851065" cy="3096664"/>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rgbClr val="7F7F7F"/>
              </a:buClr>
              <a:buSzPts val="19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3" name="Google Shape;43;p6"/>
          <p:cNvSpPr txBox="1">
            <a:spLocks noGrp="1"/>
          </p:cNvSpPr>
          <p:nvPr>
            <p:ph type="body" idx="2"/>
          </p:nvPr>
        </p:nvSpPr>
        <p:spPr>
          <a:xfrm>
            <a:off x="442769" y="904598"/>
            <a:ext cx="6425513" cy="571604"/>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chemeClr val="dk1"/>
              </a:buClr>
              <a:buSzPts val="1900"/>
              <a:buNone/>
              <a:defRPr b="0">
                <a:solidFill>
                  <a:schemeClr val="dk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442039" y="1476203"/>
            <a:ext cx="3015844" cy="3096795"/>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5" name="Google Shape;45;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5311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seño personalizado">
  <p:cSld name="8_Diseño personalizado">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617102" y="3917735"/>
            <a:ext cx="7920880" cy="288032"/>
          </a:xfrm>
          <a:prstGeom prst="rect">
            <a:avLst/>
          </a:prstGeom>
          <a:noFill/>
          <a:ln>
            <a:noFill/>
          </a:ln>
        </p:spPr>
        <p:txBody>
          <a:bodyPr spcFirstLastPara="1" wrap="square" lIns="91425" tIns="45700" rIns="91425" bIns="45700" anchor="b" anchorCtr="0">
            <a:normAutofit/>
          </a:bodyPr>
          <a:lstStyle>
            <a:lvl1pPr lvl="0" algn="ctr">
              <a:lnSpc>
                <a:spcPct val="110526"/>
              </a:lnSpc>
              <a:spcBef>
                <a:spcPts val="0"/>
              </a:spcBef>
              <a:spcAft>
                <a:spcPts val="0"/>
              </a:spcAft>
              <a:buClr>
                <a:schemeClr val="dk1"/>
              </a:buClr>
              <a:buSzPts val="1900"/>
              <a:buFont typeface="Gill Sans"/>
              <a:buNone/>
              <a:defRPr sz="19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7"/>
          <p:cNvSpPr>
            <a:spLocks noGrp="1"/>
          </p:cNvSpPr>
          <p:nvPr>
            <p:ph type="pic" idx="2"/>
          </p:nvPr>
        </p:nvSpPr>
        <p:spPr>
          <a:xfrm>
            <a:off x="1603047" y="932192"/>
            <a:ext cx="5939368" cy="2919372"/>
          </a:xfrm>
          <a:prstGeom prst="rect">
            <a:avLst/>
          </a:prstGeom>
          <a:noFill/>
          <a:ln>
            <a:noFill/>
          </a:ln>
        </p:spPr>
        <p:txBody>
          <a:bodyPr/>
          <a:lstStyle/>
          <a:p>
            <a:endParaRPr lang="es-MX"/>
          </a:p>
        </p:txBody>
      </p:sp>
      <p:sp>
        <p:nvSpPr>
          <p:cNvPr id="49" name="Google Shape;49;p7"/>
          <p:cNvSpPr txBox="1">
            <a:spLocks noGrp="1"/>
          </p:cNvSpPr>
          <p:nvPr>
            <p:ph type="body" idx="1"/>
          </p:nvPr>
        </p:nvSpPr>
        <p:spPr>
          <a:xfrm>
            <a:off x="611560" y="4299942"/>
            <a:ext cx="7920880" cy="277600"/>
          </a:xfrm>
          <a:prstGeom prst="rect">
            <a:avLst/>
          </a:prstGeom>
          <a:noFill/>
          <a:ln>
            <a:noFill/>
          </a:ln>
        </p:spPr>
        <p:txBody>
          <a:bodyPr spcFirstLastPara="1" wrap="square" lIns="91425" tIns="45700" rIns="91425" bIns="45700" anchor="b" anchorCtr="0">
            <a:noAutofit/>
          </a:bodyPr>
          <a:lstStyle>
            <a:lvl1pPr marL="457200" lvl="0" indent="-228600" algn="ctr">
              <a:lnSpc>
                <a:spcPct val="115789"/>
              </a:lnSpc>
              <a:spcBef>
                <a:spcPts val="380"/>
              </a:spcBef>
              <a:spcAft>
                <a:spcPts val="0"/>
              </a:spcAft>
              <a:buClr>
                <a:srgbClr val="7F7F7F"/>
              </a:buClr>
              <a:buSzPts val="19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 name="Google Shape;50;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489595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2" y="685219"/>
            <a:ext cx="8229600" cy="342307"/>
          </a:xfrm>
          <a:prstGeom prst="rect">
            <a:avLst/>
          </a:prstGeom>
        </p:spPr>
        <p:txBody>
          <a:bodyPr vert="horz" lIns="91440" tIns="45720" rIns="91440" bIns="45720" rtlCol="0" anchor="ctr">
            <a:noAutofit/>
          </a:bodyPr>
          <a:lstStyle/>
          <a:p>
            <a:r>
              <a:rPr lang="es-ES" dirty="0"/>
              <a:t>Haga clic para modificar el estilo de título del patrón</a:t>
            </a:r>
            <a:endParaRPr lang="es-MX" dirty="0"/>
          </a:p>
        </p:txBody>
      </p:sp>
      <p:sp>
        <p:nvSpPr>
          <p:cNvPr id="3" name="2 Marcador de texto"/>
          <p:cNvSpPr>
            <a:spLocks noGrp="1"/>
          </p:cNvSpPr>
          <p:nvPr>
            <p:ph type="body" idx="1"/>
          </p:nvPr>
        </p:nvSpPr>
        <p:spPr>
          <a:xfrm>
            <a:off x="1228698" y="1200154"/>
            <a:ext cx="7458104" cy="3394472"/>
          </a:xfrm>
          <a:prstGeom prst="rect">
            <a:avLst/>
          </a:prstGeom>
        </p:spPr>
        <p:txBody>
          <a:bodyPr vert="horz" lIns="91440" tIns="45720" rIns="91440" bIns="45720" rtlCol="0">
            <a:normAutofit/>
          </a:bodyPr>
          <a:lstStyle/>
          <a:p>
            <a:pPr lvl="0"/>
            <a:r>
              <a:rPr lang="es-ES" dirty="0"/>
              <a:t>Haga clic para modificar el estilo de texto del patrón</a:t>
            </a:r>
          </a:p>
        </p:txBody>
      </p:sp>
      <p:cxnSp>
        <p:nvCxnSpPr>
          <p:cNvPr id="6" name="3 Conector recto"/>
          <p:cNvCxnSpPr/>
          <p:nvPr userDrawn="1"/>
        </p:nvCxnSpPr>
        <p:spPr>
          <a:xfrm>
            <a:off x="508238" y="483518"/>
            <a:ext cx="812752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1 Imagen"/>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6940273" y="275506"/>
            <a:ext cx="1664175" cy="108000"/>
          </a:xfrm>
          <a:prstGeom prst="rect">
            <a:avLst/>
          </a:prstGeom>
        </p:spPr>
      </p:pic>
    </p:spTree>
    <p:extLst>
      <p:ext uri="{BB962C8B-B14F-4D97-AF65-F5344CB8AC3E}">
        <p14:creationId xmlns:p14="http://schemas.microsoft.com/office/powerpoint/2010/main" val="18977673"/>
      </p:ext>
    </p:extLst>
  </p:cSld>
  <p:clrMap bg1="lt1" tx1="dk1" bg2="lt2" tx2="dk2" accent1="accent1" accent2="accent2" accent3="accent3" accent4="accent4" accent5="accent5" accent6="accent6" hlink="hlink" folHlink="folHlink"/>
  <p:sldLayoutIdLst>
    <p:sldLayoutId id="2147483657" r:id="rId1"/>
    <p:sldLayoutId id="2147483662" r:id="rId2"/>
    <p:sldLayoutId id="2147483661" r:id="rId3"/>
    <p:sldLayoutId id="2147483659" r:id="rId4"/>
    <p:sldLayoutId id="2147483663" r:id="rId5"/>
    <p:sldLayoutId id="2147483658" r:id="rId6"/>
    <p:sldLayoutId id="2147483664" r:id="rId7"/>
    <p:sldLayoutId id="2147483665" r:id="rId8"/>
    <p:sldLayoutId id="2147483666" r:id="rId9"/>
    <p:sldLayoutId id="2147483667" r:id="rId10"/>
  </p:sldLayoutIdLst>
  <p:hf hdr="0" ftr="0" dt="0"/>
  <p:txStyles>
    <p:title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p:titleStyle>
    <p:body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p:bodyStyle>
    <p:otherStyle>
      <a:defPPr>
        <a:defRPr lang="es-MX"/>
      </a:defPPr>
      <a:lvl1pPr marL="0" algn="l" defTabSz="298227" rtl="0" eaLnBrk="1" latinLnBrk="0" hangingPunct="1">
        <a:defRPr sz="587" kern="1200">
          <a:solidFill>
            <a:schemeClr val="tx1"/>
          </a:solidFill>
          <a:latin typeface="+mn-lt"/>
          <a:ea typeface="+mn-ea"/>
          <a:cs typeface="+mn-cs"/>
        </a:defRPr>
      </a:lvl1pPr>
      <a:lvl2pPr marL="149113" algn="l" defTabSz="298227" rtl="0" eaLnBrk="1" latinLnBrk="0" hangingPunct="1">
        <a:defRPr sz="587" kern="1200">
          <a:solidFill>
            <a:schemeClr val="tx1"/>
          </a:solidFill>
          <a:latin typeface="+mn-lt"/>
          <a:ea typeface="+mn-ea"/>
          <a:cs typeface="+mn-cs"/>
        </a:defRPr>
      </a:lvl2pPr>
      <a:lvl3pPr marL="298227" algn="l" defTabSz="298227" rtl="0" eaLnBrk="1" latinLnBrk="0" hangingPunct="1">
        <a:defRPr sz="587" kern="1200">
          <a:solidFill>
            <a:schemeClr val="tx1"/>
          </a:solidFill>
          <a:latin typeface="+mn-lt"/>
          <a:ea typeface="+mn-ea"/>
          <a:cs typeface="+mn-cs"/>
        </a:defRPr>
      </a:lvl3pPr>
      <a:lvl4pPr marL="447341" algn="l" defTabSz="298227" rtl="0" eaLnBrk="1" latinLnBrk="0" hangingPunct="1">
        <a:defRPr sz="587" kern="1200">
          <a:solidFill>
            <a:schemeClr val="tx1"/>
          </a:solidFill>
          <a:latin typeface="+mn-lt"/>
          <a:ea typeface="+mn-ea"/>
          <a:cs typeface="+mn-cs"/>
        </a:defRPr>
      </a:lvl4pPr>
      <a:lvl5pPr marL="596453" algn="l" defTabSz="298227" rtl="0" eaLnBrk="1" latinLnBrk="0" hangingPunct="1">
        <a:defRPr sz="587" kern="1200">
          <a:solidFill>
            <a:schemeClr val="tx1"/>
          </a:solidFill>
          <a:latin typeface="+mn-lt"/>
          <a:ea typeface="+mn-ea"/>
          <a:cs typeface="+mn-cs"/>
        </a:defRPr>
      </a:lvl5pPr>
      <a:lvl6pPr marL="745567" algn="l" defTabSz="298227" rtl="0" eaLnBrk="1" latinLnBrk="0" hangingPunct="1">
        <a:defRPr sz="587" kern="1200">
          <a:solidFill>
            <a:schemeClr val="tx1"/>
          </a:solidFill>
          <a:latin typeface="+mn-lt"/>
          <a:ea typeface="+mn-ea"/>
          <a:cs typeface="+mn-cs"/>
        </a:defRPr>
      </a:lvl6pPr>
      <a:lvl7pPr marL="894681" algn="l" defTabSz="298227" rtl="0" eaLnBrk="1" latinLnBrk="0" hangingPunct="1">
        <a:defRPr sz="587" kern="1200">
          <a:solidFill>
            <a:schemeClr val="tx1"/>
          </a:solidFill>
          <a:latin typeface="+mn-lt"/>
          <a:ea typeface="+mn-ea"/>
          <a:cs typeface="+mn-cs"/>
        </a:defRPr>
      </a:lvl7pPr>
      <a:lvl8pPr marL="1043795" algn="l" defTabSz="298227" rtl="0" eaLnBrk="1" latinLnBrk="0" hangingPunct="1">
        <a:defRPr sz="587" kern="1200">
          <a:solidFill>
            <a:schemeClr val="tx1"/>
          </a:solidFill>
          <a:latin typeface="+mn-lt"/>
          <a:ea typeface="+mn-ea"/>
          <a:cs typeface="+mn-cs"/>
        </a:defRPr>
      </a:lvl8pPr>
      <a:lvl9pPr marL="1192908" algn="l" defTabSz="298227" rtl="0" eaLnBrk="1" latinLnBrk="0" hangingPunct="1">
        <a:defRPr sz="5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hyperlink" Target="https://www.ibm.com/mx-es/think/topics/large-language-models" TargetMode="External"/><Relationship Id="rId3" Type="http://schemas.openxmlformats.org/officeDocument/2006/relationships/hyperlink" Target="https://doi.org/10.1109/ACCESS.2026.3656849" TargetMode="External"/><Relationship Id="rId7" Type="http://schemas.openxmlformats.org/officeDocument/2006/relationships/hyperlink" Target="https://www.fortinet.com/lat/resources/cyberglossary/what-is-cybersecurity"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hyperlink" Target="https://doi.org/10.1109/ICHMS59971.2024.10555871" TargetMode="External"/><Relationship Id="rId11" Type="http://schemas.openxmlformats.org/officeDocument/2006/relationships/hyperlink" Target="https://doi.org/10.1109/ACCESS.2026.3700492" TargetMode="External"/><Relationship Id="rId5" Type="http://schemas.openxmlformats.org/officeDocument/2006/relationships/hyperlink" Target="https://www.researchgate.net/publication/302924724" TargetMode="External"/><Relationship Id="rId10" Type="http://schemas.openxmlformats.org/officeDocument/2006/relationships/hyperlink" Target="https://www.paloaltonetworks.com/cyberpedia/what-is-a-prompt-injection-attack" TargetMode="External"/><Relationship Id="rId4" Type="http://schemas.openxmlformats.org/officeDocument/2006/relationships/hyperlink" Target="https://doi.org/10.32604/cmc.2025.074081" TargetMode="External"/><Relationship Id="rId9" Type="http://schemas.openxmlformats.org/officeDocument/2006/relationships/hyperlink" Target="https://doi.org/10.6028/NIST.AI.100-2e202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noProof="0" dirty="0"/>
              <a:t>Facultad de Estadística e Informática</a:t>
            </a:r>
          </a:p>
        </p:txBody>
      </p:sp>
      <p:sp>
        <p:nvSpPr>
          <p:cNvPr id="4" name="Marcador de texto 3"/>
          <p:cNvSpPr>
            <a:spLocks noGrp="1"/>
          </p:cNvSpPr>
          <p:nvPr>
            <p:ph type="body" sz="half" idx="2"/>
          </p:nvPr>
        </p:nvSpPr>
        <p:spPr/>
        <p:txBody>
          <a:bodyPr/>
          <a:lstStyle/>
          <a:p>
            <a:r>
              <a:rPr lang="es-MX" noProof="0" dirty="0"/>
              <a:t>Región: Xalapa</a:t>
            </a:r>
          </a:p>
        </p:txBody>
      </p:sp>
      <p:sp>
        <p:nvSpPr>
          <p:cNvPr id="5" name="CuadroTexto 4"/>
          <p:cNvSpPr txBox="1"/>
          <p:nvPr/>
        </p:nvSpPr>
        <p:spPr>
          <a:xfrm>
            <a:off x="2699792" y="2198292"/>
            <a:ext cx="5307626" cy="2775696"/>
          </a:xfrm>
          <a:prstGeom prst="rect">
            <a:avLst/>
          </a:prstGeom>
          <a:noFill/>
        </p:spPr>
        <p:txBody>
          <a:bodyPr wrap="square" rtlCol="0">
            <a:spAutoFit/>
          </a:bodyPr>
          <a:lstStyle/>
          <a:p>
            <a:pPr algn="r">
              <a:lnSpc>
                <a:spcPts val="1100"/>
              </a:lnSpc>
            </a:pPr>
            <a:r>
              <a:rPr lang="es-MX" sz="900" noProof="0" dirty="0">
                <a:latin typeface="Gill Sans MT" panose="020B0502020104020203" pitchFamily="34" charset="0"/>
              </a:rPr>
              <a:t>Licenciatura en Ingeniería en Ciberseguridad e Infraestructura de Computo</a:t>
            </a:r>
          </a:p>
          <a:p>
            <a:pPr algn="r">
              <a:lnSpc>
                <a:spcPts val="1100"/>
              </a:lnSpc>
            </a:pPr>
            <a:endParaRPr lang="es-MX" sz="794" noProof="0" dirty="0">
              <a:latin typeface="Gill Sans MT" panose="020B0502020104020203" pitchFamily="34" charset="0"/>
            </a:endParaRPr>
          </a:p>
          <a:p>
            <a:pPr algn="r">
              <a:lnSpc>
                <a:spcPts val="1400"/>
              </a:lnSpc>
            </a:pPr>
            <a:r>
              <a:rPr lang="es-MX" sz="1200" noProof="0" dirty="0">
                <a:latin typeface="Gill Sans MT" panose="020B0502020104020203" pitchFamily="34" charset="0"/>
              </a:rPr>
              <a:t>Estado del arte de las medidas de seguridad a nivel de aplicación en el contexto de ataques de inyección de </a:t>
            </a:r>
            <a:r>
              <a:rPr lang="es-MX" sz="1200" i="1" noProof="0" dirty="0" err="1">
                <a:latin typeface="Gill Sans MT" panose="020B0502020104020203" pitchFamily="34" charset="0"/>
              </a:rPr>
              <a:t>prompt</a:t>
            </a:r>
            <a:r>
              <a:rPr lang="es-MX" sz="1200" noProof="0" dirty="0">
                <a:latin typeface="Gill Sans MT" panose="020B0502020104020203" pitchFamily="34" charset="0"/>
              </a:rPr>
              <a:t> dirigidos a sistemas basados en LLM</a:t>
            </a:r>
            <a:endParaRPr lang="es-MX" sz="926" noProof="0" dirty="0">
              <a:latin typeface="Gill Sans MT" panose="020B0502020104020203" pitchFamily="34" charset="0"/>
            </a:endParaRP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Presentación de avances para la EE Proyecto Guiado</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a:t>
            </a:r>
          </a:p>
          <a:p>
            <a:pPr marL="900430" algn="r">
              <a:lnSpc>
                <a:spcPct val="90909"/>
              </a:lnSpc>
              <a:spcAft>
                <a:spcPts val="1000"/>
              </a:spcAft>
              <a:buNone/>
            </a:pPr>
            <a:r>
              <a:rPr lang="es-MX" sz="900" b="1" noProof="0" dirty="0">
                <a:effectLst/>
                <a:latin typeface="Gill Sans MT" panose="020B0502020104020203" pitchFamily="34" charset="0"/>
                <a:ea typeface="Times New Roman" panose="02020603050405020304" pitchFamily="18" charset="0"/>
                <a:cs typeface="Times New Roman" panose="02020603050405020304" pitchFamily="18" charset="0"/>
              </a:rPr>
              <a:t>Abraham Núñez Sánchez</a:t>
            </a:r>
          </a:p>
          <a:p>
            <a:pPr algn="r">
              <a:lnSpc>
                <a:spcPts val="1100"/>
              </a:lnSpc>
            </a:pPr>
            <a:r>
              <a:rPr lang="es-MX" sz="900" noProof="0" dirty="0">
                <a:latin typeface="Gill Sans MT" panose="020B0502020104020203" pitchFamily="34" charset="0"/>
              </a:rPr>
              <a:t>Director:</a:t>
            </a:r>
          </a:p>
          <a:p>
            <a:pPr marL="900430" algn="r">
              <a:lnSpc>
                <a:spcPct val="90909"/>
              </a:lnSpc>
              <a:spcAft>
                <a:spcPts val="1000"/>
              </a:spcAft>
              <a:buNone/>
            </a:pPr>
            <a:r>
              <a:rPr lang="es-MX" sz="900" b="1" noProof="0" dirty="0">
                <a:latin typeface="Gill Sans MT" panose="020B0502020104020203" pitchFamily="34" charset="0"/>
                <a:ea typeface="Times New Roman" panose="02020603050405020304" pitchFamily="18" charset="0"/>
                <a:cs typeface="Times New Roman" panose="02020603050405020304" pitchFamily="18" charset="0"/>
              </a:rPr>
              <a:t>Héctor Xavier Limón Riaño</a:t>
            </a:r>
          </a:p>
          <a:p>
            <a:pPr algn="r">
              <a:lnSpc>
                <a:spcPts val="1100"/>
              </a:lnSpc>
            </a:pPr>
            <a:r>
              <a:rPr lang="es-MX" sz="900" noProof="0" dirty="0">
                <a:latin typeface="Gill Sans MT" panose="020B0502020104020203" pitchFamily="34" charset="0"/>
              </a:rPr>
              <a:t>Septiembre 2026</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“Lis de Veracruz: Arte, Ciencia, Luz</a:t>
            </a:r>
            <a:r>
              <a:rPr lang="es-MX" sz="794" noProof="0" dirty="0">
                <a:latin typeface="Gill Sans MT" panose="020B0502020104020203" pitchFamily="34" charset="0"/>
              </a:rPr>
              <a:t>”</a:t>
            </a:r>
          </a:p>
          <a:p>
            <a:pPr algn="r"/>
            <a:endParaRPr lang="es-MX" sz="794" b="1" noProof="0" dirty="0">
              <a:latin typeface="Gill Sans MT" panose="020B0502020104020203" pitchFamily="34" charset="0"/>
            </a:endParaRPr>
          </a:p>
          <a:p>
            <a:pPr algn="r"/>
            <a:endParaRPr lang="es-MX" sz="1838" noProof="0" dirty="0">
              <a:latin typeface="Gill Sans MT" panose="020B0502020104020203" pitchFamily="34" charset="0"/>
            </a:endParaRPr>
          </a:p>
        </p:txBody>
      </p:sp>
      <p:pic>
        <p:nvPicPr>
          <p:cNvPr id="6" name="Imagen 5">
            <a:extLst>
              <a:ext uri="{FF2B5EF4-FFF2-40B4-BE49-F238E27FC236}">
                <a16:creationId xmlns:a16="http://schemas.microsoft.com/office/drawing/2014/main" id="{E8FB7686-6831-4A0B-5377-CFA178588966}"/>
              </a:ext>
            </a:extLst>
          </p:cNvPr>
          <p:cNvPicPr>
            <a:picLocks noChangeAspect="1"/>
          </p:cNvPicPr>
          <p:nvPr/>
        </p:nvPicPr>
        <p:blipFill>
          <a:blip r:embed="rId2"/>
          <a:srcRect t="15984" b="12206"/>
          <a:stretch>
            <a:fillRect/>
          </a:stretch>
        </p:blipFill>
        <p:spPr>
          <a:xfrm>
            <a:off x="2699792" y="3291830"/>
            <a:ext cx="1150106" cy="938500"/>
          </a:xfrm>
          <a:prstGeom prst="rect">
            <a:avLst/>
          </a:prstGeom>
        </p:spPr>
      </p:pic>
    </p:spTree>
    <p:extLst>
      <p:ext uri="{BB962C8B-B14F-4D97-AF65-F5344CB8AC3E}">
        <p14:creationId xmlns:p14="http://schemas.microsoft.com/office/powerpoint/2010/main" val="4101506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noProof="0" dirty="0"/>
              <a:t>Antecedentes (1/3) - Contexto</a:t>
            </a:r>
          </a:p>
        </p:txBody>
      </p:sp>
      <p:sp>
        <p:nvSpPr>
          <p:cNvPr id="3" name="Marcador de texto 2"/>
          <p:cNvSpPr>
            <a:spLocks noGrp="1"/>
          </p:cNvSpPr>
          <p:nvPr>
            <p:ph type="body" sz="quarter" idx="10"/>
          </p:nvPr>
        </p:nvSpPr>
        <p:spPr>
          <a:xfrm>
            <a:off x="457202" y="1232800"/>
            <a:ext cx="5266926" cy="2419070"/>
          </a:xfrm>
        </p:spPr>
        <p:txBody>
          <a:bodyPr>
            <a:normAutofit/>
          </a:bodyPr>
          <a:lstStyle/>
          <a:p>
            <a:pPr lvl="0">
              <a:lnSpc>
                <a:spcPct val="150000"/>
              </a:lnSpc>
            </a:pPr>
            <a:r>
              <a:rPr lang="es-MX" sz="1400" dirty="0">
                <a:solidFill>
                  <a:schemeClr val="tx1"/>
                </a:solidFill>
              </a:rPr>
              <a:t>- De acuerdo con Fortinet (s.f.), la ciberseguridad ya no es solo una función de TI, sino una prioridad principal del negocio. </a:t>
            </a:r>
          </a:p>
          <a:p>
            <a:pPr lvl="0">
              <a:lnSpc>
                <a:spcPct val="150000"/>
              </a:lnSpc>
            </a:pPr>
            <a:endParaRPr lang="es-MX" sz="1400" dirty="0">
              <a:solidFill>
                <a:schemeClr val="tx1"/>
              </a:solidFill>
            </a:endParaRPr>
          </a:p>
          <a:p>
            <a:pPr lvl="0">
              <a:lnSpc>
                <a:spcPct val="150000"/>
              </a:lnSpc>
            </a:pPr>
            <a:r>
              <a:rPr lang="es-MX" sz="1400" dirty="0">
                <a:solidFill>
                  <a:schemeClr val="tx1"/>
                </a:solidFill>
              </a:rPr>
              <a:t>- En los últimos años, una de las tendencias en el área de la tecnología es la inteligencia artificial generativa en aplicaciones de uso cotidiano y profesional. IBM (s.f.) señala que los LLM muestran una amplia versatilidad en distintos sectores industriales.</a:t>
            </a:r>
          </a:p>
        </p:txBody>
      </p:sp>
      <p:pic>
        <p:nvPicPr>
          <p:cNvPr id="8" name="Imagen 7" descr="Vector illustration of a brain. Concept for generative AI and Large Language Models LLM. Vector illustration of a brain. Concept for generative AI and Large Language Models LLM. large language model stock illustrations">
            <a:extLst>
              <a:ext uri="{FF2B5EF4-FFF2-40B4-BE49-F238E27FC236}">
                <a16:creationId xmlns:a16="http://schemas.microsoft.com/office/drawing/2014/main" id="{60842E29-6352-B73E-66EC-5F98AA87C017}"/>
              </a:ext>
            </a:extLst>
          </p:cNvPr>
          <p:cNvPicPr>
            <a:picLocks noChangeAspect="1"/>
          </p:cNvPicPr>
          <p:nvPr/>
        </p:nvPicPr>
        <p:blipFill>
          <a:blip r:embed="rId2"/>
          <a:stretch>
            <a:fillRect/>
          </a:stretch>
        </p:blipFill>
        <p:spPr>
          <a:xfrm>
            <a:off x="5940152" y="1347614"/>
            <a:ext cx="2601144" cy="1840352"/>
          </a:xfrm>
          <a:prstGeom prst="rect">
            <a:avLst/>
          </a:prstGeom>
        </p:spPr>
      </p:pic>
      <p:sp>
        <p:nvSpPr>
          <p:cNvPr id="10" name="Google Shape;106;p14">
            <a:extLst>
              <a:ext uri="{FF2B5EF4-FFF2-40B4-BE49-F238E27FC236}">
                <a16:creationId xmlns:a16="http://schemas.microsoft.com/office/drawing/2014/main" id="{28387F40-BC9E-5208-F962-3BB2A993EF51}"/>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5" name="CuadroTexto 4">
            <a:extLst>
              <a:ext uri="{FF2B5EF4-FFF2-40B4-BE49-F238E27FC236}">
                <a16:creationId xmlns:a16="http://schemas.microsoft.com/office/drawing/2014/main" id="{FF358467-0AA5-1AE0-C097-16C68CEABDDA}"/>
              </a:ext>
            </a:extLst>
          </p:cNvPr>
          <p:cNvSpPr txBox="1"/>
          <p:nvPr/>
        </p:nvSpPr>
        <p:spPr>
          <a:xfrm>
            <a:off x="457202" y="3857144"/>
            <a:ext cx="8147245" cy="705258"/>
          </a:xfrm>
          <a:prstGeom prst="rect">
            <a:avLst/>
          </a:prstGeom>
          <a:noFill/>
        </p:spPr>
        <p:txBody>
          <a:bodyPr wrap="square">
            <a:spAutoFit/>
          </a:bodyPr>
          <a:lstStyle/>
          <a:p>
            <a:pPr lvl="0">
              <a:lnSpc>
                <a:spcPct val="150000"/>
              </a:lnSpc>
            </a:pPr>
            <a:r>
              <a:rPr lang="es-MX" sz="1400" dirty="0">
                <a:solidFill>
                  <a:schemeClr val="tx1"/>
                </a:solidFill>
              </a:rPr>
              <a:t>- Los modelos de lenguaje grandes (LLM) son modelos de aprendizaje entrenados con grandes cantidades de datos, lo que les permite comprender y generar lenguaje natural para realizar diversas tareas, según IBM (s.f.).</a:t>
            </a:r>
          </a:p>
        </p:txBody>
      </p:sp>
      <p:sp>
        <p:nvSpPr>
          <p:cNvPr id="6" name="Marcador de número de diapositiva 1">
            <a:extLst>
              <a:ext uri="{FF2B5EF4-FFF2-40B4-BE49-F238E27FC236}">
                <a16:creationId xmlns:a16="http://schemas.microsoft.com/office/drawing/2014/main" id="{D666D0E3-F5A5-F6ED-6400-6E878629992E}"/>
              </a:ext>
            </a:extLst>
          </p:cNvPr>
          <p:cNvSpPr txBox="1">
            <a:spLocks/>
          </p:cNvSpPr>
          <p:nvPr/>
        </p:nvSpPr>
        <p:spPr>
          <a:xfrm>
            <a:off x="8556784" y="4749851"/>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1</a:t>
            </a:r>
          </a:p>
        </p:txBody>
      </p:sp>
    </p:spTree>
    <p:extLst>
      <p:ext uri="{BB962C8B-B14F-4D97-AF65-F5344CB8AC3E}">
        <p14:creationId xmlns:p14="http://schemas.microsoft.com/office/powerpoint/2010/main" val="1353462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04B1B-6663-F415-83AF-CF4AEC14ED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327AE5-D6E1-A803-2173-04251AC94511}"/>
              </a:ext>
            </a:extLst>
          </p:cNvPr>
          <p:cNvSpPr>
            <a:spLocks noGrp="1"/>
          </p:cNvSpPr>
          <p:nvPr>
            <p:ph type="title"/>
          </p:nvPr>
        </p:nvSpPr>
        <p:spPr>
          <a:xfrm>
            <a:off x="457200" y="610863"/>
            <a:ext cx="8229600" cy="342307"/>
          </a:xfrm>
        </p:spPr>
        <p:txBody>
          <a:bodyPr/>
          <a:lstStyle/>
          <a:p>
            <a:r>
              <a:rPr lang="es-MX" sz="1800" b="1" noProof="0" dirty="0"/>
              <a:t>Antecedentes (2/3) – Sistemas basados en LLM y la inyección de </a:t>
            </a:r>
            <a:r>
              <a:rPr lang="es-MX" sz="1800" b="1" i="1" noProof="0" dirty="0" err="1"/>
              <a:t>prompt</a:t>
            </a:r>
            <a:endParaRPr lang="es-MX" sz="1800" b="1" i="1" noProof="0" dirty="0"/>
          </a:p>
        </p:txBody>
      </p:sp>
      <p:sp>
        <p:nvSpPr>
          <p:cNvPr id="9" name="Marcador de texto 2">
            <a:extLst>
              <a:ext uri="{FF2B5EF4-FFF2-40B4-BE49-F238E27FC236}">
                <a16:creationId xmlns:a16="http://schemas.microsoft.com/office/drawing/2014/main" id="{E36B1EA9-9142-9E4E-124E-18624A39E2A3}"/>
              </a:ext>
            </a:extLst>
          </p:cNvPr>
          <p:cNvSpPr>
            <a:spLocks noGrp="1"/>
          </p:cNvSpPr>
          <p:nvPr>
            <p:ph type="body" sz="quarter" idx="10"/>
          </p:nvPr>
        </p:nvSpPr>
        <p:spPr>
          <a:xfrm>
            <a:off x="457200" y="1190962"/>
            <a:ext cx="4762870" cy="1885410"/>
          </a:xfrm>
        </p:spPr>
        <p:txBody>
          <a:bodyPr>
            <a:normAutofit/>
          </a:bodyPr>
          <a:lstStyle/>
          <a:p>
            <a:pPr marL="285750" lvl="0" indent="-285750">
              <a:lnSpc>
                <a:spcPct val="150000"/>
              </a:lnSpc>
              <a:buFontTx/>
              <a:buChar char="-"/>
            </a:pPr>
            <a:r>
              <a:rPr lang="es-MX" sz="1500" dirty="0">
                <a:solidFill>
                  <a:schemeClr val="tx1"/>
                </a:solidFill>
              </a:rPr>
              <a:t>Vassilev et al. (2025) en el documento “</a:t>
            </a:r>
            <a:r>
              <a:rPr lang="es-MX" sz="1500" i="1" dirty="0">
                <a:solidFill>
                  <a:schemeClr val="tx1"/>
                </a:solidFill>
              </a:rPr>
              <a:t>Adversarial Machine </a:t>
            </a:r>
            <a:r>
              <a:rPr lang="es-MX" sz="1500" i="1" dirty="0" err="1">
                <a:solidFill>
                  <a:schemeClr val="tx1"/>
                </a:solidFill>
              </a:rPr>
              <a:t>Learning</a:t>
            </a:r>
            <a:r>
              <a:rPr lang="es-MX" sz="1500" dirty="0">
                <a:solidFill>
                  <a:schemeClr val="tx1"/>
                </a:solidFill>
              </a:rPr>
              <a:t>” señalan que los LLM pueden integrarse en aplicaciones de software y combinarse con bases de datos, documentos y herramientas externas. </a:t>
            </a:r>
          </a:p>
        </p:txBody>
      </p:sp>
      <p:pic>
        <p:nvPicPr>
          <p:cNvPr id="12" name="Imagen 11" descr="Image with no description">
            <a:extLst>
              <a:ext uri="{FF2B5EF4-FFF2-40B4-BE49-F238E27FC236}">
                <a16:creationId xmlns:a16="http://schemas.microsoft.com/office/drawing/2014/main" id="{00E709F1-427A-D8A8-6558-B15BCE71EA84}"/>
              </a:ext>
            </a:extLst>
          </p:cNvPr>
          <p:cNvPicPr>
            <a:picLocks noChangeAspect="1"/>
          </p:cNvPicPr>
          <p:nvPr/>
        </p:nvPicPr>
        <p:blipFill>
          <a:blip r:embed="rId2"/>
          <a:srcRect l="6975" t="23802" r="5745" b="19377"/>
          <a:stretch>
            <a:fillRect/>
          </a:stretch>
        </p:blipFill>
        <p:spPr>
          <a:xfrm>
            <a:off x="5063060" y="1347615"/>
            <a:ext cx="3721410" cy="1362770"/>
          </a:xfrm>
          <a:prstGeom prst="rect">
            <a:avLst/>
          </a:prstGeom>
        </p:spPr>
      </p:pic>
      <p:sp>
        <p:nvSpPr>
          <p:cNvPr id="14" name="CuadroTexto 13">
            <a:extLst>
              <a:ext uri="{FF2B5EF4-FFF2-40B4-BE49-F238E27FC236}">
                <a16:creationId xmlns:a16="http://schemas.microsoft.com/office/drawing/2014/main" id="{64B8110F-2A28-AFA2-FECC-E2BA56333959}"/>
              </a:ext>
            </a:extLst>
          </p:cNvPr>
          <p:cNvSpPr txBox="1"/>
          <p:nvPr/>
        </p:nvSpPr>
        <p:spPr>
          <a:xfrm>
            <a:off x="457200" y="3245545"/>
            <a:ext cx="7978682" cy="1095300"/>
          </a:xfrm>
          <a:prstGeom prst="rect">
            <a:avLst/>
          </a:prstGeom>
          <a:noFill/>
        </p:spPr>
        <p:txBody>
          <a:bodyPr wrap="square">
            <a:spAutoFit/>
          </a:bodyPr>
          <a:lstStyle/>
          <a:p>
            <a:pPr marL="285750" lvl="0" indent="-285750">
              <a:lnSpc>
                <a:spcPct val="150000"/>
              </a:lnSpc>
              <a:buFontTx/>
              <a:buChar char="-"/>
            </a:pPr>
            <a:r>
              <a:rPr lang="es-MX" sz="1500" dirty="0">
                <a:solidFill>
                  <a:schemeClr val="tx1"/>
                </a:solidFill>
                <a:latin typeface="Gill Sans MT" panose="020B0502020104020203" pitchFamily="34" charset="0"/>
              </a:rPr>
              <a:t>La inyección de </a:t>
            </a:r>
            <a:r>
              <a:rPr lang="es-MX" sz="1500" i="1" dirty="0" err="1">
                <a:solidFill>
                  <a:schemeClr val="tx1"/>
                </a:solidFill>
                <a:latin typeface="Gill Sans MT" panose="020B0502020104020203" pitchFamily="34" charset="0"/>
              </a:rPr>
              <a:t>prompt</a:t>
            </a:r>
            <a:r>
              <a:rPr lang="es-MX" sz="1500" dirty="0">
                <a:solidFill>
                  <a:schemeClr val="tx1"/>
                </a:solidFill>
                <a:latin typeface="Gill Sans MT" panose="020B0502020104020203" pitchFamily="34" charset="0"/>
              </a:rPr>
              <a:t> son aquellos ataques donde el usuario proporciona instrucciones dentro del contexto que son incorporadas junto con instrucciones de mayor nivel de confianza </a:t>
            </a:r>
            <a:r>
              <a:rPr lang="es-MX" sz="1500" dirty="0">
                <a:latin typeface="Gill Sans MT" panose="020B0502020104020203" pitchFamily="34" charset="0"/>
              </a:rPr>
              <a:t>(</a:t>
            </a:r>
            <a:r>
              <a:rPr lang="es-MX" sz="1500" dirty="0">
                <a:solidFill>
                  <a:schemeClr val="tx1"/>
                </a:solidFill>
                <a:latin typeface="Gill Sans MT" panose="020B0502020104020203" pitchFamily="34" charset="0"/>
              </a:rPr>
              <a:t>Vassilev et al., 2025).</a:t>
            </a:r>
          </a:p>
        </p:txBody>
      </p:sp>
      <p:sp>
        <p:nvSpPr>
          <p:cNvPr id="16" name="Google Shape;106;p14">
            <a:extLst>
              <a:ext uri="{FF2B5EF4-FFF2-40B4-BE49-F238E27FC236}">
                <a16:creationId xmlns:a16="http://schemas.microsoft.com/office/drawing/2014/main" id="{18889C4B-C586-82F7-2B05-0FEFBBD76F6C}"/>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3" name="Marcador de número de diapositiva 1">
            <a:extLst>
              <a:ext uri="{FF2B5EF4-FFF2-40B4-BE49-F238E27FC236}">
                <a16:creationId xmlns:a16="http://schemas.microsoft.com/office/drawing/2014/main" id="{95EC3A0D-CB8D-DEC0-F80A-0B3D882AEEDC}"/>
              </a:ext>
            </a:extLst>
          </p:cNvPr>
          <p:cNvSpPr txBox="1">
            <a:spLocks/>
          </p:cNvSpPr>
          <p:nvPr/>
        </p:nvSpPr>
        <p:spPr>
          <a:xfrm>
            <a:off x="8595300" y="4679206"/>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2</a:t>
            </a:r>
          </a:p>
        </p:txBody>
      </p:sp>
    </p:spTree>
    <p:extLst>
      <p:ext uri="{BB962C8B-B14F-4D97-AF65-F5344CB8AC3E}">
        <p14:creationId xmlns:p14="http://schemas.microsoft.com/office/powerpoint/2010/main" val="3156132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E4FF7-70F2-910F-51D2-8F061CB019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5F70EB-487D-9FB4-F895-A55581DE4767}"/>
              </a:ext>
            </a:extLst>
          </p:cNvPr>
          <p:cNvSpPr>
            <a:spLocks noGrp="1"/>
          </p:cNvSpPr>
          <p:nvPr>
            <p:ph type="title"/>
          </p:nvPr>
        </p:nvSpPr>
        <p:spPr>
          <a:xfrm>
            <a:off x="457200" y="555526"/>
            <a:ext cx="8229600" cy="342307"/>
          </a:xfrm>
        </p:spPr>
        <p:txBody>
          <a:bodyPr/>
          <a:lstStyle/>
          <a:p>
            <a:r>
              <a:rPr lang="es-MX" sz="1800" b="1" noProof="0" dirty="0"/>
              <a:t>Antecedentes (3/3) – Trabajos previos</a:t>
            </a:r>
            <a:endParaRPr lang="es-MX" sz="1800" b="1" i="1" noProof="0" dirty="0"/>
          </a:p>
        </p:txBody>
      </p:sp>
      <p:sp>
        <p:nvSpPr>
          <p:cNvPr id="16" name="Google Shape;106;p14">
            <a:extLst>
              <a:ext uri="{FF2B5EF4-FFF2-40B4-BE49-F238E27FC236}">
                <a16:creationId xmlns:a16="http://schemas.microsoft.com/office/drawing/2014/main" id="{6D7E0F40-9C31-D751-5DAA-2F10274D0910}"/>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graphicFrame>
        <p:nvGraphicFramePr>
          <p:cNvPr id="5" name="Tabla 4">
            <a:extLst>
              <a:ext uri="{FF2B5EF4-FFF2-40B4-BE49-F238E27FC236}">
                <a16:creationId xmlns:a16="http://schemas.microsoft.com/office/drawing/2014/main" id="{CD1C1211-B00E-08B6-BDFD-7BB10122D715}"/>
              </a:ext>
            </a:extLst>
          </p:cNvPr>
          <p:cNvGraphicFramePr>
            <a:graphicFrameLocks noGrp="1"/>
          </p:cNvGraphicFramePr>
          <p:nvPr>
            <p:extLst>
              <p:ext uri="{D42A27DB-BD31-4B8C-83A1-F6EECF244321}">
                <p14:modId xmlns:p14="http://schemas.microsoft.com/office/powerpoint/2010/main" val="364096240"/>
              </p:ext>
            </p:extLst>
          </p:nvPr>
        </p:nvGraphicFramePr>
        <p:xfrm>
          <a:off x="457200" y="1063622"/>
          <a:ext cx="8229600" cy="3374112"/>
        </p:xfrm>
        <a:graphic>
          <a:graphicData uri="http://schemas.openxmlformats.org/drawingml/2006/table">
            <a:tbl>
              <a:tblPr firstRow="1" bandRow="1">
                <a:tableStyleId>{5C22544A-7EE6-4342-B048-85BDC9FD1C3A}</a:tableStyleId>
              </a:tblPr>
              <a:tblGrid>
                <a:gridCol w="2314600">
                  <a:extLst>
                    <a:ext uri="{9D8B030D-6E8A-4147-A177-3AD203B41FA5}">
                      <a16:colId xmlns:a16="http://schemas.microsoft.com/office/drawing/2014/main" val="952410794"/>
                    </a:ext>
                  </a:extLst>
                </a:gridCol>
                <a:gridCol w="3096344">
                  <a:extLst>
                    <a:ext uri="{9D8B030D-6E8A-4147-A177-3AD203B41FA5}">
                      <a16:colId xmlns:a16="http://schemas.microsoft.com/office/drawing/2014/main" val="2703493866"/>
                    </a:ext>
                  </a:extLst>
                </a:gridCol>
                <a:gridCol w="2818656">
                  <a:extLst>
                    <a:ext uri="{9D8B030D-6E8A-4147-A177-3AD203B41FA5}">
                      <a16:colId xmlns:a16="http://schemas.microsoft.com/office/drawing/2014/main" val="428609497"/>
                    </a:ext>
                  </a:extLst>
                </a:gridCol>
              </a:tblGrid>
              <a:tr h="698089">
                <a:tc>
                  <a:txBody>
                    <a:bodyPr/>
                    <a:lstStyle/>
                    <a:p>
                      <a:r>
                        <a:rPr lang="es-MX" sz="1400" dirty="0">
                          <a:latin typeface="Gill Sans MT" panose="020B0502020104020203" pitchFamily="34" charset="0"/>
                        </a:rPr>
                        <a:t>Titulo</a:t>
                      </a:r>
                    </a:p>
                  </a:txBody>
                  <a:tcPr/>
                </a:tc>
                <a:tc>
                  <a:txBody>
                    <a:bodyPr/>
                    <a:lstStyle/>
                    <a:p>
                      <a:r>
                        <a:rPr lang="es-MX" sz="1400" dirty="0">
                          <a:latin typeface="Gill Sans MT" panose="020B0502020104020203" pitchFamily="34" charset="0"/>
                        </a:rPr>
                        <a:t>Descripción</a:t>
                      </a:r>
                    </a:p>
                  </a:txBody>
                  <a:tcPr/>
                </a:tc>
                <a:tc>
                  <a:txBody>
                    <a:bodyPr/>
                    <a:lstStyle/>
                    <a:p>
                      <a:r>
                        <a:rPr lang="es-MX" sz="1400" dirty="0">
                          <a:latin typeface="Gill Sans MT" panose="020B0502020104020203" pitchFamily="34" charset="0"/>
                        </a:rPr>
                        <a:t>Aporte</a:t>
                      </a:r>
                    </a:p>
                  </a:txBody>
                  <a:tcPr/>
                </a:tc>
                <a:extLst>
                  <a:ext uri="{0D108BD9-81ED-4DB2-BD59-A6C34878D82A}">
                    <a16:rowId xmlns:a16="http://schemas.microsoft.com/office/drawing/2014/main" val="2788385580"/>
                  </a:ext>
                </a:extLst>
              </a:tr>
              <a:tr h="1030103">
                <a:tc>
                  <a:txBody>
                    <a:bodyPr/>
                    <a:lstStyle/>
                    <a:p>
                      <a:r>
                        <a:rPr lang="en-US" sz="1200" i="1" dirty="0">
                          <a:latin typeface="Gill Sans MT" panose="020B0502020104020203" pitchFamily="34" charset="0"/>
                        </a:rPr>
                        <a:t>A Systematic Review of Prompt Injection Attacks on Large Language Models: Trends, Taxonomy, Evaluation, Defenses, and Opportunities.</a:t>
                      </a:r>
                      <a:endParaRPr lang="es-MX" sz="1200" i="1" dirty="0">
                        <a:latin typeface="Gill Sans MT" panose="020B0502020104020203" pitchFamily="34" charset="0"/>
                      </a:endParaRPr>
                    </a:p>
                  </a:txBody>
                  <a:tcPr/>
                </a:tc>
                <a:tc>
                  <a:txBody>
                    <a:bodyPr/>
                    <a:lstStyle/>
                    <a:p>
                      <a:r>
                        <a:rPr lang="es-MX" sz="1200" dirty="0" err="1">
                          <a:latin typeface="Gill Sans MT" panose="020B0502020104020203" pitchFamily="34" charset="0"/>
                        </a:rPr>
                        <a:t>Damacena</a:t>
                      </a:r>
                      <a:r>
                        <a:rPr lang="es-MX" sz="1200" dirty="0">
                          <a:latin typeface="Gill Sans MT" panose="020B0502020104020203" pitchFamily="34" charset="0"/>
                        </a:rPr>
                        <a:t> Duarte et al. (2026) Realizan una revisión sistemática sobre ataques de inyección de </a:t>
                      </a:r>
                      <a:r>
                        <a:rPr lang="es-MX" sz="1200" i="1" dirty="0" err="1">
                          <a:latin typeface="Gill Sans MT" panose="020B0502020104020203" pitchFamily="34" charset="0"/>
                        </a:rPr>
                        <a:t>prompt</a:t>
                      </a:r>
                      <a:r>
                        <a:rPr lang="es-MX" sz="1200" dirty="0">
                          <a:latin typeface="Gill Sans MT" panose="020B0502020104020203" pitchFamily="34" charset="0"/>
                        </a:rPr>
                        <a:t>, abordando su evolución, taxonomías, métodos de evaluación y estrategias de defensa. </a:t>
                      </a:r>
                    </a:p>
                  </a:txBody>
                  <a:tcPr/>
                </a:tc>
                <a:tc>
                  <a:txBody>
                    <a:bodyPr/>
                    <a:lstStyle/>
                    <a:p>
                      <a:r>
                        <a:rPr lang="es-MX" sz="1200" dirty="0">
                          <a:latin typeface="Gill Sans MT" panose="020B0502020104020203" pitchFamily="34" charset="0"/>
                        </a:rPr>
                        <a:t>Proporcionar una visión estructurada del estado del campo e identificar oportunidades de investigación.</a:t>
                      </a:r>
                    </a:p>
                    <a:p>
                      <a:endParaRPr lang="es-MX" sz="1200" dirty="0">
                        <a:latin typeface="Gill Sans MT" panose="020B0502020104020203" pitchFamily="34" charset="0"/>
                      </a:endParaRPr>
                    </a:p>
                  </a:txBody>
                  <a:tcPr/>
                </a:tc>
                <a:extLst>
                  <a:ext uri="{0D108BD9-81ED-4DB2-BD59-A6C34878D82A}">
                    <a16:rowId xmlns:a16="http://schemas.microsoft.com/office/drawing/2014/main" val="1276593376"/>
                  </a:ext>
                </a:extLst>
              </a:tr>
              <a:tr h="752160">
                <a:tc>
                  <a:txBody>
                    <a:bodyPr/>
                    <a:lstStyle/>
                    <a:p>
                      <a:r>
                        <a:rPr lang="en-US" sz="1200" i="1" dirty="0">
                          <a:latin typeface="Gill Sans MT" panose="020B0502020104020203" pitchFamily="34" charset="0"/>
                        </a:rPr>
                        <a:t>Prompt Injection Attacks on Large Language Models: A Survey of Attack Methods, Root Causes, and Defense Strategies.</a:t>
                      </a:r>
                      <a:endParaRPr lang="es-MX" sz="1200" i="1" dirty="0">
                        <a:latin typeface="Gill Sans MT" panose="020B0502020104020203" pitchFamily="34" charset="0"/>
                      </a:endParaRPr>
                    </a:p>
                  </a:txBody>
                  <a:tcPr/>
                </a:tc>
                <a:tc>
                  <a:txBody>
                    <a:bodyPr/>
                    <a:lstStyle/>
                    <a:p>
                      <a:r>
                        <a:rPr lang="es-MX" sz="1200" dirty="0">
                          <a:latin typeface="Gill Sans MT" panose="020B0502020104020203" pitchFamily="34" charset="0"/>
                        </a:rPr>
                        <a:t>Geng et al. (2026) Analizan 128 estudios sobre métodos de ataque, causas de vulnerabilidad, defensas y evaluación. </a:t>
                      </a:r>
                    </a:p>
                  </a:txBody>
                  <a:tcPr/>
                </a:tc>
                <a:tc>
                  <a:txBody>
                    <a:bodyPr/>
                    <a:lstStyle/>
                    <a:p>
                      <a:r>
                        <a:rPr lang="es-MX" sz="1200" dirty="0">
                          <a:latin typeface="Gill Sans MT" panose="020B0502020104020203" pitchFamily="34" charset="0"/>
                        </a:rPr>
                        <a:t>Clasifican las defensas en procesamiento de entradas, arquitectura del sistema y nivel del modelo, además de identificar limitaciones en los métodos de evaluación.</a:t>
                      </a:r>
                    </a:p>
                  </a:txBody>
                  <a:tcPr/>
                </a:tc>
                <a:extLst>
                  <a:ext uri="{0D108BD9-81ED-4DB2-BD59-A6C34878D82A}">
                    <a16:rowId xmlns:a16="http://schemas.microsoft.com/office/drawing/2014/main" val="933734375"/>
                  </a:ext>
                </a:extLst>
              </a:tr>
              <a:tr h="752160">
                <a:tc>
                  <a:txBody>
                    <a:bodyPr/>
                    <a:lstStyle/>
                    <a:p>
                      <a:r>
                        <a:rPr lang="en-US" sz="1200" i="1" dirty="0">
                          <a:latin typeface="Gill Sans MT" panose="020B0502020104020203" pitchFamily="34" charset="0"/>
                        </a:rPr>
                        <a:t>A Systematic Literature Review of Prompt</a:t>
                      </a:r>
                    </a:p>
                    <a:p>
                      <a:r>
                        <a:rPr lang="en-US" sz="1200" i="1" dirty="0">
                          <a:latin typeface="Gill Sans MT" panose="020B0502020104020203" pitchFamily="34" charset="0"/>
                        </a:rPr>
                        <a:t>Injection Attacks in LLM-Integrated Systems</a:t>
                      </a:r>
                      <a:endParaRPr lang="es-MX" sz="1200" i="1" dirty="0">
                        <a:latin typeface="Gill Sans MT" panose="020B0502020104020203" pitchFamily="34" charset="0"/>
                      </a:endParaRPr>
                    </a:p>
                  </a:txBody>
                  <a:tcPr/>
                </a:tc>
                <a:tc>
                  <a:txBody>
                    <a:bodyPr/>
                    <a:lstStyle/>
                    <a:p>
                      <a:r>
                        <a:rPr lang="es-MX" sz="1200" dirty="0" err="1">
                          <a:latin typeface="Gill Sans MT" panose="020B0502020104020203" pitchFamily="34" charset="0"/>
                        </a:rPr>
                        <a:t>Woesle</a:t>
                      </a:r>
                      <a:r>
                        <a:rPr lang="es-MX" sz="1200" dirty="0">
                          <a:latin typeface="Gill Sans MT" panose="020B0502020104020203" pitchFamily="34" charset="0"/>
                        </a:rPr>
                        <a:t> y Buettner (2026) Realizan una revisión sistemática de 89 publicaciones sobre ataques de inyección de </a:t>
                      </a:r>
                      <a:r>
                        <a:rPr lang="es-MX" sz="1200" dirty="0" err="1">
                          <a:latin typeface="Gill Sans MT" panose="020B0502020104020203" pitchFamily="34" charset="0"/>
                        </a:rPr>
                        <a:t>prompt</a:t>
                      </a:r>
                      <a:r>
                        <a:rPr lang="es-MX" sz="1200" dirty="0">
                          <a:latin typeface="Gill Sans MT" panose="020B0502020104020203" pitchFamily="34" charset="0"/>
                        </a:rPr>
                        <a:t> en sistemas integrados con LLM.</a:t>
                      </a:r>
                    </a:p>
                  </a:txBody>
                  <a:tcPr/>
                </a:tc>
                <a:tc>
                  <a:txBody>
                    <a:bodyPr/>
                    <a:lstStyle/>
                    <a:p>
                      <a:r>
                        <a:rPr lang="es-MX" sz="1200" dirty="0">
                          <a:latin typeface="Gill Sans MT" panose="020B0502020104020203" pitchFamily="34" charset="0"/>
                        </a:rPr>
                        <a:t>Proponen un marco de análisis basado en tres ejes: límite de confianza, objetivo del atacante y orientación de la investigación.</a:t>
                      </a:r>
                    </a:p>
                  </a:txBody>
                  <a:tcPr/>
                </a:tc>
                <a:extLst>
                  <a:ext uri="{0D108BD9-81ED-4DB2-BD59-A6C34878D82A}">
                    <a16:rowId xmlns:a16="http://schemas.microsoft.com/office/drawing/2014/main" val="2257446001"/>
                  </a:ext>
                </a:extLst>
              </a:tr>
            </a:tbl>
          </a:graphicData>
        </a:graphic>
      </p:graphicFrame>
      <p:sp>
        <p:nvSpPr>
          <p:cNvPr id="3" name="Marcador de número de diapositiva 1">
            <a:extLst>
              <a:ext uri="{FF2B5EF4-FFF2-40B4-BE49-F238E27FC236}">
                <a16:creationId xmlns:a16="http://schemas.microsoft.com/office/drawing/2014/main" id="{FA5C9D12-2CF0-8EDA-CEA1-634C8C30040D}"/>
              </a:ext>
            </a:extLst>
          </p:cNvPr>
          <p:cNvSpPr txBox="1">
            <a:spLocks/>
          </p:cNvSpPr>
          <p:nvPr/>
        </p:nvSpPr>
        <p:spPr>
          <a:xfrm>
            <a:off x="8556784" y="4749851"/>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3</a:t>
            </a:r>
          </a:p>
        </p:txBody>
      </p:sp>
    </p:spTree>
    <p:extLst>
      <p:ext uri="{BB962C8B-B14F-4D97-AF65-F5344CB8AC3E}">
        <p14:creationId xmlns:p14="http://schemas.microsoft.com/office/powerpoint/2010/main" val="2988819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00437E06-6470-21ED-67DC-492F18847C17}"/>
            </a:ext>
          </a:extLst>
        </p:cNvPr>
        <p:cNvGrpSpPr/>
        <p:nvPr/>
      </p:nvGrpSpPr>
      <p:grpSpPr>
        <a:xfrm>
          <a:off x="0" y="0"/>
          <a:ext cx="0" cy="0"/>
          <a:chOff x="0" y="0"/>
          <a:chExt cx="0" cy="0"/>
        </a:xfrm>
      </p:grpSpPr>
      <p:sp>
        <p:nvSpPr>
          <p:cNvPr id="71" name="Google Shape;71;p10">
            <a:extLst>
              <a:ext uri="{FF2B5EF4-FFF2-40B4-BE49-F238E27FC236}">
                <a16:creationId xmlns:a16="http://schemas.microsoft.com/office/drawing/2014/main" id="{8FDE9970-F24F-05A0-0B5D-CC9BB7382490}"/>
              </a:ext>
            </a:extLst>
          </p:cNvPr>
          <p:cNvSpPr txBox="1">
            <a:spLocks noGrp="1"/>
          </p:cNvSpPr>
          <p:nvPr>
            <p:ph type="title"/>
          </p:nvPr>
        </p:nvSpPr>
        <p:spPr>
          <a:xfrm>
            <a:off x="432542" y="627534"/>
            <a:ext cx="8229600" cy="342300"/>
          </a:xfrm>
          <a:prstGeom prst="rect">
            <a:avLst/>
          </a:prstGeom>
          <a:noFill/>
          <a:ln>
            <a:noFill/>
          </a:ln>
        </p:spPr>
        <p:txBody>
          <a:bodyPr spcFirstLastPara="1" wrap="square" lIns="91425" tIns="45700" rIns="91425" bIns="45700" anchor="ctr" anchorCtr="0">
            <a:noAutofit/>
          </a:bodyPr>
          <a:lstStyle/>
          <a:p>
            <a:pPr marL="0" lvl="0" indent="0" algn="r" rtl="0">
              <a:lnSpc>
                <a:spcPct val="118181"/>
              </a:lnSpc>
              <a:spcBef>
                <a:spcPts val="0"/>
              </a:spcBef>
              <a:spcAft>
                <a:spcPts val="0"/>
              </a:spcAft>
              <a:buClr>
                <a:schemeClr val="dk1"/>
              </a:buClr>
              <a:buSzPts val="2200"/>
              <a:buFont typeface="Gill Sans"/>
              <a:buNone/>
            </a:pPr>
            <a:r>
              <a:rPr lang="es-ES" b="1" dirty="0"/>
              <a:t>Problemática</a:t>
            </a:r>
          </a:p>
        </p:txBody>
      </p:sp>
      <p:sp>
        <p:nvSpPr>
          <p:cNvPr id="72" name="Google Shape;72;p10">
            <a:extLst>
              <a:ext uri="{FF2B5EF4-FFF2-40B4-BE49-F238E27FC236}">
                <a16:creationId xmlns:a16="http://schemas.microsoft.com/office/drawing/2014/main" id="{706EBD6F-8D5F-C43A-4424-E45EAE312955}"/>
              </a:ext>
            </a:extLst>
          </p:cNvPr>
          <p:cNvSpPr txBox="1">
            <a:spLocks noGrp="1"/>
          </p:cNvSpPr>
          <p:nvPr>
            <p:ph type="body" idx="1"/>
          </p:nvPr>
        </p:nvSpPr>
        <p:spPr>
          <a:xfrm>
            <a:off x="2952822" y="1131590"/>
            <a:ext cx="5709320" cy="3509570"/>
          </a:xfrm>
          <a:prstGeom prst="rect">
            <a:avLst/>
          </a:prstGeom>
          <a:noFill/>
          <a:ln>
            <a:noFill/>
          </a:ln>
        </p:spPr>
        <p:txBody>
          <a:bodyPr spcFirstLastPara="1" wrap="square" lIns="91425" tIns="45700" rIns="91425" bIns="45700" anchor="t" anchorCtr="0">
            <a:normAutofit/>
          </a:bodyPr>
          <a:lstStyle/>
          <a:p>
            <a:pPr marL="285750" lvl="0" indent="-285750" algn="just">
              <a:lnSpc>
                <a:spcPct val="127777"/>
              </a:lnSpc>
              <a:spcBef>
                <a:spcPts val="0"/>
              </a:spcBef>
              <a:buFont typeface="Arial" panose="020B0604020202020204" pitchFamily="34" charset="0"/>
              <a:buChar char="•"/>
            </a:pPr>
            <a:r>
              <a:rPr lang="es-MX" sz="1400" dirty="0">
                <a:solidFill>
                  <a:schemeClr val="tx1"/>
                </a:solidFill>
              </a:rPr>
              <a:t>La literatura incluye diversidad de propuestas, pero estas aparecen en estudios con diferentes objetivos, escenarios y métodos de evaluación.</a:t>
            </a:r>
          </a:p>
          <a:p>
            <a:pPr marL="285750" lvl="0" indent="-285750" algn="just">
              <a:lnSpc>
                <a:spcPct val="127777"/>
              </a:lnSpc>
              <a:spcBef>
                <a:spcPts val="0"/>
              </a:spcBef>
              <a:buFont typeface="Arial" panose="020B0604020202020204" pitchFamily="34" charset="0"/>
              <a:buChar char="•"/>
            </a:pPr>
            <a:endParaRPr lang="es-MX" sz="1400" dirty="0">
              <a:solidFill>
                <a:schemeClr val="tx1"/>
              </a:solidFill>
            </a:endParaRPr>
          </a:p>
          <a:p>
            <a:pPr marL="285750" lvl="0" indent="-285750" algn="just">
              <a:lnSpc>
                <a:spcPct val="127777"/>
              </a:lnSpc>
              <a:spcBef>
                <a:spcPts val="0"/>
              </a:spcBef>
              <a:buFont typeface="Arial" panose="020B0604020202020204" pitchFamily="34" charset="0"/>
              <a:buChar char="•"/>
            </a:pPr>
            <a:r>
              <a:rPr lang="es-MX" sz="1400" dirty="0">
                <a:solidFill>
                  <a:schemeClr val="tx1"/>
                </a:solidFill>
              </a:rPr>
              <a:t>Una medida que presenta resultados favorables en un escenario determinado no necesariamente ofrece el mismo nivel de protección cuando se utiliza en otro contexto o ante otro tipo de inyección.</a:t>
            </a:r>
          </a:p>
          <a:p>
            <a:pPr marL="0" lvl="0" indent="0" algn="just">
              <a:lnSpc>
                <a:spcPct val="127777"/>
              </a:lnSpc>
              <a:spcBef>
                <a:spcPts val="0"/>
              </a:spcBef>
            </a:pPr>
            <a:endParaRPr lang="es-MX" sz="1400" dirty="0">
              <a:solidFill>
                <a:schemeClr val="tx1"/>
              </a:solidFill>
            </a:endParaRPr>
          </a:p>
          <a:p>
            <a:pPr marL="285750" lvl="0" indent="-285750" algn="just">
              <a:lnSpc>
                <a:spcPct val="150000"/>
              </a:lnSpc>
              <a:spcBef>
                <a:spcPts val="0"/>
              </a:spcBef>
              <a:buFont typeface="Arial" panose="020B0604020202020204" pitchFamily="34" charset="0"/>
              <a:buChar char="•"/>
            </a:pPr>
            <a:r>
              <a:rPr lang="es-MX" sz="1400" b="1" dirty="0">
                <a:solidFill>
                  <a:schemeClr val="tx1"/>
                </a:solidFill>
              </a:rPr>
              <a:t>El conocimiento sobre las medidas de seguridad frente a los ataques de inyección de </a:t>
            </a:r>
            <a:r>
              <a:rPr lang="es-MX" sz="1400" b="1" i="1" dirty="0" err="1">
                <a:solidFill>
                  <a:schemeClr val="tx1"/>
                </a:solidFill>
              </a:rPr>
              <a:t>prompt</a:t>
            </a:r>
            <a:r>
              <a:rPr lang="es-MX" sz="1400" b="1" i="1" dirty="0">
                <a:solidFill>
                  <a:schemeClr val="tx1"/>
                </a:solidFill>
              </a:rPr>
              <a:t> </a:t>
            </a:r>
            <a:r>
              <a:rPr lang="es-MX" sz="1400" b="1" dirty="0">
                <a:solidFill>
                  <a:schemeClr val="tx1"/>
                </a:solidFill>
              </a:rPr>
              <a:t>se encuentra disperso, particularmente en aquellas que pueden implementarse a nivel de aplicación. </a:t>
            </a:r>
            <a:endParaRPr lang="es-MX" sz="1300" b="1" dirty="0">
              <a:solidFill>
                <a:schemeClr val="tx1"/>
              </a:solidFill>
            </a:endParaRPr>
          </a:p>
        </p:txBody>
      </p:sp>
      <p:sp>
        <p:nvSpPr>
          <p:cNvPr id="8" name="Google Shape;106;p14">
            <a:extLst>
              <a:ext uri="{FF2B5EF4-FFF2-40B4-BE49-F238E27FC236}">
                <a16:creationId xmlns:a16="http://schemas.microsoft.com/office/drawing/2014/main" id="{24E8AEBB-3EC4-F390-71CD-E63EA1BE9D65}"/>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a:t>​​Monografía: Estado del arte de las medidas de seguridad a nivel de aplicación en el contexto de ataques de inyección de </a:t>
            </a:r>
            <a:r>
              <a:rPr lang="es-MX" sz="800" i="1"/>
              <a:t>prompt</a:t>
            </a:r>
            <a:r>
              <a:rPr lang="es-MX" sz="800"/>
              <a:t> dirigidos a sistemas basados en LLM​</a:t>
            </a:r>
            <a:endParaRPr lang="es-MX" sz="800" dirty="0"/>
          </a:p>
        </p:txBody>
      </p:sp>
      <p:pic>
        <p:nvPicPr>
          <p:cNvPr id="9" name="Imagen 8" descr="Vector gratuito fondo con símbolo de interrogación elegante y garabatos misteriosos">
            <a:extLst>
              <a:ext uri="{FF2B5EF4-FFF2-40B4-BE49-F238E27FC236}">
                <a16:creationId xmlns:a16="http://schemas.microsoft.com/office/drawing/2014/main" id="{DBE57C4E-541A-4744-5D42-0EDF4788064C}"/>
              </a:ext>
            </a:extLst>
          </p:cNvPr>
          <p:cNvPicPr>
            <a:picLocks noChangeAspect="1"/>
          </p:cNvPicPr>
          <p:nvPr/>
        </p:nvPicPr>
        <p:blipFill>
          <a:blip r:embed="rId3"/>
          <a:srcRect l="14382" t="12532" r="13706" b="12679"/>
          <a:stretch>
            <a:fillRect/>
          </a:stretch>
        </p:blipFill>
        <p:spPr>
          <a:xfrm>
            <a:off x="457200" y="1261204"/>
            <a:ext cx="2520280" cy="2621092"/>
          </a:xfrm>
          <a:prstGeom prst="rect">
            <a:avLst/>
          </a:prstGeom>
        </p:spPr>
      </p:pic>
      <p:sp>
        <p:nvSpPr>
          <p:cNvPr id="2" name="Marcador de número de diapositiva 1">
            <a:extLst>
              <a:ext uri="{FF2B5EF4-FFF2-40B4-BE49-F238E27FC236}">
                <a16:creationId xmlns:a16="http://schemas.microsoft.com/office/drawing/2014/main" id="{93B3C97C-7D6D-04E0-49AB-7FFA48553F36}"/>
              </a:ext>
            </a:extLst>
          </p:cNvPr>
          <p:cNvSpPr>
            <a:spLocks noGrp="1"/>
          </p:cNvSpPr>
          <p:nvPr>
            <p:ph type="sldNum" idx="12"/>
          </p:nvPr>
        </p:nvSpPr>
        <p:spPr>
          <a:xfrm>
            <a:off x="8556574" y="4641160"/>
            <a:ext cx="548700" cy="393600"/>
          </a:xfrm>
        </p:spPr>
        <p:txBody>
          <a:bodyPr/>
          <a:lstStyle/>
          <a:p>
            <a:pPr marL="0" lvl="0" indent="0" algn="r" rtl="0">
              <a:spcBef>
                <a:spcPts val="0"/>
              </a:spcBef>
              <a:spcAft>
                <a:spcPts val="0"/>
              </a:spcAft>
              <a:buNone/>
            </a:pPr>
            <a:r>
              <a:rPr lang="es-ES" dirty="0"/>
              <a:t>4</a:t>
            </a:r>
          </a:p>
        </p:txBody>
      </p:sp>
    </p:spTree>
    <p:extLst>
      <p:ext uri="{BB962C8B-B14F-4D97-AF65-F5344CB8AC3E}">
        <p14:creationId xmlns:p14="http://schemas.microsoft.com/office/powerpoint/2010/main" val="429361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1"/>
          <p:cNvSpPr txBox="1">
            <a:spLocks noGrp="1"/>
          </p:cNvSpPr>
          <p:nvPr>
            <p:ph type="body" idx="2"/>
          </p:nvPr>
        </p:nvSpPr>
        <p:spPr>
          <a:xfrm>
            <a:off x="451084" y="1335884"/>
            <a:ext cx="5320531" cy="3270499"/>
          </a:xfrm>
          <a:prstGeom prst="rect">
            <a:avLst/>
          </a:prstGeom>
          <a:noFill/>
          <a:ln>
            <a:noFill/>
          </a:ln>
        </p:spPr>
        <p:txBody>
          <a:bodyPr spcFirstLastPara="1" wrap="square" lIns="91425" tIns="45700" rIns="91425" bIns="45700" anchor="t" anchorCtr="0">
            <a:normAutofit/>
          </a:bodyPr>
          <a:lstStyle/>
          <a:p>
            <a:pPr marL="0" lvl="0" indent="0" algn="just" rtl="0">
              <a:lnSpc>
                <a:spcPct val="200000"/>
              </a:lnSpc>
              <a:spcBef>
                <a:spcPts val="0"/>
              </a:spcBef>
              <a:spcAft>
                <a:spcPts val="0"/>
              </a:spcAft>
              <a:buClr>
                <a:srgbClr val="7F7F7F"/>
              </a:buClr>
              <a:buSzPts val="1900"/>
            </a:pPr>
            <a:r>
              <a:rPr lang="es-MX" sz="1800" dirty="0">
                <a:solidFill>
                  <a:schemeClr val="tx1"/>
                </a:solidFill>
              </a:rPr>
              <a:t>¿Qué medidas de seguridad a nivel de aplicación han sido propuestas y evaluadas frente a los ataques de inyección de </a:t>
            </a:r>
            <a:r>
              <a:rPr lang="es-MX" sz="1800" i="1" dirty="0" err="1">
                <a:solidFill>
                  <a:schemeClr val="tx1"/>
                </a:solidFill>
              </a:rPr>
              <a:t>prompt</a:t>
            </a:r>
            <a:r>
              <a:rPr lang="es-MX" sz="1800" dirty="0">
                <a:solidFill>
                  <a:schemeClr val="tx1"/>
                </a:solidFill>
              </a:rPr>
              <a:t> en sistemas basados en LLM, y cuáles son sus principales características, alcances, limitaciones y criterios de evaluación?</a:t>
            </a:r>
            <a:endParaRPr sz="1800" dirty="0">
              <a:solidFill>
                <a:schemeClr val="tx1"/>
              </a:solidFill>
            </a:endParaRPr>
          </a:p>
        </p:txBody>
      </p:sp>
      <p:sp>
        <p:nvSpPr>
          <p:cNvPr id="80" name="Google Shape;80;p11"/>
          <p:cNvSpPr txBox="1">
            <a:spLocks noGrp="1"/>
          </p:cNvSpPr>
          <p:nvPr>
            <p:ph type="body" idx="4"/>
          </p:nvPr>
        </p:nvSpPr>
        <p:spPr>
          <a:xfrm>
            <a:off x="451084" y="726351"/>
            <a:ext cx="8105700" cy="609533"/>
          </a:xfrm>
          <a:prstGeom prst="rect">
            <a:avLst/>
          </a:prstGeom>
          <a:noFill/>
          <a:ln>
            <a:noFill/>
          </a:ln>
        </p:spPr>
        <p:txBody>
          <a:bodyPr spcFirstLastPara="1" wrap="square" lIns="91425" tIns="45700" rIns="91425" bIns="45700" anchor="t" anchorCtr="0">
            <a:normAutofit/>
          </a:bodyPr>
          <a:lstStyle/>
          <a:p>
            <a:pPr marL="0" lvl="0" indent="0" algn="l" rtl="0">
              <a:lnSpc>
                <a:spcPct val="121052"/>
              </a:lnSpc>
              <a:spcBef>
                <a:spcPts val="0"/>
              </a:spcBef>
              <a:spcAft>
                <a:spcPts val="0"/>
              </a:spcAft>
              <a:buClr>
                <a:schemeClr val="dk1"/>
              </a:buClr>
              <a:buSzPts val="1900"/>
              <a:buNone/>
            </a:pPr>
            <a:r>
              <a:rPr lang="es-ES" b="1" dirty="0"/>
              <a:t>Preguntas de investigación (1</a:t>
            </a:r>
            <a:r>
              <a:rPr lang="en-US" b="1" dirty="0"/>
              <a:t>/2</a:t>
            </a:r>
            <a:r>
              <a:rPr lang="es-ES" b="1" dirty="0"/>
              <a:t>) – Pregunta principal</a:t>
            </a:r>
            <a:endParaRPr b="1" dirty="0"/>
          </a:p>
        </p:txBody>
      </p:sp>
      <p:sp>
        <p:nvSpPr>
          <p:cNvPr id="6" name="Google Shape;106;p14">
            <a:extLst>
              <a:ext uri="{FF2B5EF4-FFF2-40B4-BE49-F238E27FC236}">
                <a16:creationId xmlns:a16="http://schemas.microsoft.com/office/drawing/2014/main" id="{C15A0F41-ED33-5616-6FE2-7714D8EB8363}"/>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pic>
        <p:nvPicPr>
          <p:cNvPr id="2" name="Imagen 1" descr="ilustraciones, imágenes clip art, dibujos animados e iconos de stock de diseño de iconos de preguntas y respuestas - pregunta">
            <a:extLst>
              <a:ext uri="{FF2B5EF4-FFF2-40B4-BE49-F238E27FC236}">
                <a16:creationId xmlns:a16="http://schemas.microsoft.com/office/drawing/2014/main" id="{C33CCBA7-FECB-FAC1-3DC7-4564C778E573}"/>
              </a:ext>
            </a:extLst>
          </p:cNvPr>
          <p:cNvPicPr>
            <a:picLocks noChangeAspect="1"/>
          </p:cNvPicPr>
          <p:nvPr/>
        </p:nvPicPr>
        <p:blipFill>
          <a:blip r:embed="rId3"/>
          <a:stretch>
            <a:fillRect/>
          </a:stretch>
        </p:blipFill>
        <p:spPr>
          <a:xfrm>
            <a:off x="6175516" y="1366954"/>
            <a:ext cx="2409592" cy="2409592"/>
          </a:xfrm>
          <a:prstGeom prst="rect">
            <a:avLst/>
          </a:prstGeom>
        </p:spPr>
      </p:pic>
      <p:sp>
        <p:nvSpPr>
          <p:cNvPr id="3" name="Marcador de número de diapositiva 2">
            <a:extLst>
              <a:ext uri="{FF2B5EF4-FFF2-40B4-BE49-F238E27FC236}">
                <a16:creationId xmlns:a16="http://schemas.microsoft.com/office/drawing/2014/main" id="{53AA2D8D-3B18-0AC3-7439-924F2AD9F437}"/>
              </a:ext>
            </a:extLst>
          </p:cNvPr>
          <p:cNvSpPr>
            <a:spLocks noGrp="1"/>
          </p:cNvSpPr>
          <p:nvPr>
            <p:ph type="sldNum" idx="12"/>
          </p:nvPr>
        </p:nvSpPr>
        <p:spPr>
          <a:xfrm>
            <a:off x="8556784" y="4679206"/>
            <a:ext cx="548700" cy="393600"/>
          </a:xfrm>
        </p:spPr>
        <p:txBody>
          <a:bodyPr/>
          <a:lstStyle/>
          <a:p>
            <a:pPr marL="0" lvl="0" indent="0" algn="r" rtl="0">
              <a:spcBef>
                <a:spcPts val="0"/>
              </a:spcBef>
              <a:spcAft>
                <a:spcPts val="0"/>
              </a:spcAft>
              <a:buNone/>
            </a:pPr>
            <a:r>
              <a:rPr lang="es-ES" dirty="0"/>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A814-B3C0-C9E2-2025-8CC18DD6BCB2}"/>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C0E9478-BBF1-2827-226A-8E8F2ABE2464}"/>
              </a:ext>
            </a:extLst>
          </p:cNvPr>
          <p:cNvSpPr>
            <a:spLocks noGrp="1"/>
          </p:cNvSpPr>
          <p:nvPr>
            <p:ph sz="quarter" idx="15"/>
          </p:nvPr>
        </p:nvSpPr>
        <p:spPr>
          <a:xfrm>
            <a:off x="539552" y="699542"/>
            <a:ext cx="8012976" cy="3960440"/>
          </a:xfrm>
        </p:spPr>
        <p:txBody>
          <a:bodyPr>
            <a:normAutofit/>
          </a:bodyPr>
          <a:lstStyle/>
          <a:p>
            <a:pPr marL="342900" indent="-342900" algn="just">
              <a:lnSpc>
                <a:spcPct val="150000"/>
              </a:lnSpc>
              <a:buFont typeface="+mj-lt"/>
              <a:buAutoNum type="arabicPeriod"/>
            </a:pPr>
            <a:r>
              <a:rPr lang="es-MX" sz="1400" noProof="0" dirty="0">
                <a:solidFill>
                  <a:schemeClr val="tx1"/>
                </a:solidFill>
              </a:rPr>
              <a:t>¿Qué es un ataque de inyección de </a:t>
            </a:r>
            <a:r>
              <a:rPr lang="es-MX" sz="1400" i="1" noProof="0" dirty="0" err="1">
                <a:solidFill>
                  <a:schemeClr val="tx1"/>
                </a:solidFill>
              </a:rPr>
              <a:t>prompt</a:t>
            </a:r>
            <a:r>
              <a:rPr lang="es-MX" sz="1400" noProof="0" dirty="0">
                <a:solidFill>
                  <a:schemeClr val="tx1"/>
                </a:solidFill>
              </a:rPr>
              <a:t> y cuáles son las categorías que presenta?</a:t>
            </a:r>
          </a:p>
          <a:p>
            <a:pPr marL="342900" indent="-342900" algn="just">
              <a:lnSpc>
                <a:spcPct val="150000"/>
              </a:lnSpc>
              <a:buFont typeface="+mj-lt"/>
              <a:buAutoNum type="arabicPeriod"/>
            </a:pPr>
            <a:r>
              <a:rPr lang="es-MX" sz="1400" noProof="0" dirty="0">
                <a:solidFill>
                  <a:schemeClr val="tx1"/>
                </a:solidFill>
              </a:rPr>
              <a:t>¿Qué medidas de seguridad a nivel de aplicación han sido propuestas en la literatura reciente para reducir los ataques de inyección de </a:t>
            </a:r>
            <a:r>
              <a:rPr lang="es-MX" sz="1400" i="1" noProof="0" dirty="0" err="1">
                <a:solidFill>
                  <a:schemeClr val="tx1"/>
                </a:solidFill>
              </a:rPr>
              <a:t>prompt</a:t>
            </a:r>
            <a:r>
              <a:rPr lang="es-MX" sz="1400" noProof="0" dirty="0">
                <a:solidFill>
                  <a:schemeClr val="tx1"/>
                </a:solidFill>
              </a:rPr>
              <a:t> en sistemas basados en LLM?</a:t>
            </a:r>
          </a:p>
          <a:p>
            <a:pPr marL="342900" indent="-342900" algn="just">
              <a:lnSpc>
                <a:spcPct val="150000"/>
              </a:lnSpc>
              <a:buFont typeface="+mj-lt"/>
              <a:buAutoNum type="arabicPeriod"/>
            </a:pPr>
            <a:r>
              <a:rPr lang="es-MX" sz="1400" noProof="0" dirty="0">
                <a:solidFill>
                  <a:schemeClr val="tx1"/>
                </a:solidFill>
              </a:rPr>
              <a:t>¿Cómo pueden clasificarse las medidas de seguridad identificadas de acuerdo con el punto de intervención dentro del sistema basado en LLM?</a:t>
            </a:r>
          </a:p>
          <a:p>
            <a:pPr marL="342900" indent="-342900" algn="just">
              <a:lnSpc>
                <a:spcPct val="150000"/>
              </a:lnSpc>
              <a:buFont typeface="+mj-lt"/>
              <a:buAutoNum type="arabicPeriod"/>
            </a:pPr>
            <a:r>
              <a:rPr lang="es-MX" sz="1400" noProof="0" dirty="0">
                <a:solidFill>
                  <a:schemeClr val="tx1"/>
                </a:solidFill>
              </a:rPr>
              <a:t>¿En qué contextos y escenarios han sido evaluadas las medidas identificadas, qué tipos de ataques abordan y qué criterios se utilizan para determinar su efectividad?</a:t>
            </a:r>
          </a:p>
          <a:p>
            <a:pPr marL="342900" indent="-342900" algn="just">
              <a:lnSpc>
                <a:spcPct val="150000"/>
              </a:lnSpc>
              <a:buFont typeface="+mj-lt"/>
              <a:buAutoNum type="arabicPeriod"/>
            </a:pPr>
            <a:r>
              <a:rPr lang="es-MX" sz="1400" noProof="0" dirty="0">
                <a:solidFill>
                  <a:schemeClr val="tx1"/>
                </a:solidFill>
              </a:rPr>
              <a:t>¿Qué limitaciones y compromisos entre seguridad, utilidad, rendimiento, costo o complejidad de implementación han sido reportados para las medidas analizadas?</a:t>
            </a:r>
          </a:p>
          <a:p>
            <a:pPr marL="342900" indent="-342900" algn="just">
              <a:lnSpc>
                <a:spcPct val="150000"/>
              </a:lnSpc>
              <a:buFont typeface="+mj-lt"/>
              <a:buAutoNum type="arabicPeriod"/>
            </a:pPr>
            <a:r>
              <a:rPr lang="es-MX" sz="1400" noProof="0" dirty="0">
                <a:solidFill>
                  <a:schemeClr val="tx1"/>
                </a:solidFill>
              </a:rPr>
              <a:t>¿Qué cosas permanecen abiertas o insuficientemente en la literatura sobre medidas de seguridad a nivel de aplicación frente a ataques de inyección de </a:t>
            </a:r>
            <a:r>
              <a:rPr lang="es-MX" sz="1400" noProof="0" dirty="0" err="1">
                <a:solidFill>
                  <a:schemeClr val="tx1"/>
                </a:solidFill>
              </a:rPr>
              <a:t>prompt</a:t>
            </a:r>
            <a:r>
              <a:rPr lang="es-MX" sz="1400" noProof="0" dirty="0">
                <a:solidFill>
                  <a:schemeClr val="tx1"/>
                </a:solidFill>
              </a:rPr>
              <a:t>?</a:t>
            </a:r>
          </a:p>
        </p:txBody>
      </p:sp>
      <p:sp>
        <p:nvSpPr>
          <p:cNvPr id="4" name="Marcador de texto 3">
            <a:extLst>
              <a:ext uri="{FF2B5EF4-FFF2-40B4-BE49-F238E27FC236}">
                <a16:creationId xmlns:a16="http://schemas.microsoft.com/office/drawing/2014/main" id="{5557F97A-23A3-481A-499B-3E6CB0AA3F96}"/>
              </a:ext>
            </a:extLst>
          </p:cNvPr>
          <p:cNvSpPr>
            <a:spLocks noGrp="1"/>
          </p:cNvSpPr>
          <p:nvPr>
            <p:ph type="body" sz="quarter" idx="16"/>
          </p:nvPr>
        </p:nvSpPr>
        <p:spPr>
          <a:xfrm>
            <a:off x="539552" y="123478"/>
            <a:ext cx="7994811" cy="407488"/>
          </a:xfrm>
        </p:spPr>
        <p:txBody>
          <a:bodyPr>
            <a:normAutofit/>
          </a:bodyPr>
          <a:lstStyle/>
          <a:p>
            <a:pPr lvl="0">
              <a:lnSpc>
                <a:spcPct val="121052"/>
              </a:lnSpc>
              <a:spcBef>
                <a:spcPts val="0"/>
              </a:spcBef>
              <a:buClr>
                <a:schemeClr val="dk1"/>
              </a:buClr>
              <a:buSzPts val="1900"/>
            </a:pPr>
            <a:r>
              <a:rPr lang="es-ES" sz="1600" b="1" dirty="0"/>
              <a:t>Preguntas de investigación (2/2) – Preguntas complementarias </a:t>
            </a:r>
          </a:p>
        </p:txBody>
      </p:sp>
      <p:sp>
        <p:nvSpPr>
          <p:cNvPr id="7" name="Google Shape;106;p14">
            <a:extLst>
              <a:ext uri="{FF2B5EF4-FFF2-40B4-BE49-F238E27FC236}">
                <a16:creationId xmlns:a16="http://schemas.microsoft.com/office/drawing/2014/main" id="{341C03E6-44A9-F961-326F-AFBC847D8AC7}"/>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EEAC64ED-14EF-C2AE-854D-71FACE13C00E}"/>
              </a:ext>
            </a:extLst>
          </p:cNvPr>
          <p:cNvSpPr txBox="1">
            <a:spLocks/>
          </p:cNvSpPr>
          <p:nvPr/>
        </p:nvSpPr>
        <p:spPr>
          <a:xfrm>
            <a:off x="8570319" y="4679206"/>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6</a:t>
            </a:r>
          </a:p>
        </p:txBody>
      </p:sp>
    </p:spTree>
    <p:extLst>
      <p:ext uri="{BB962C8B-B14F-4D97-AF65-F5344CB8AC3E}">
        <p14:creationId xmlns:p14="http://schemas.microsoft.com/office/powerpoint/2010/main" val="2309812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sz="quarter" idx="14"/>
          </p:nvPr>
        </p:nvSpPr>
        <p:spPr>
          <a:xfrm>
            <a:off x="3347864" y="1248088"/>
            <a:ext cx="5337677" cy="2865951"/>
          </a:xfrm>
        </p:spPr>
        <p:txBody>
          <a:bodyPr>
            <a:normAutofit lnSpcReduction="10000"/>
          </a:bodyPr>
          <a:lstStyle/>
          <a:p>
            <a:pPr algn="just">
              <a:lnSpc>
                <a:spcPct val="200000"/>
              </a:lnSpc>
            </a:pPr>
            <a:r>
              <a:rPr lang="es-MX" sz="1600" noProof="0" dirty="0">
                <a:solidFill>
                  <a:schemeClr val="tx1"/>
                </a:solidFill>
              </a:rPr>
              <a:t>Analizar las medidas de seguridad a nivel de aplicación frente a ataques de inyección de </a:t>
            </a:r>
            <a:r>
              <a:rPr lang="es-MX" sz="1600" i="1" noProof="0" dirty="0" err="1">
                <a:solidFill>
                  <a:schemeClr val="tx1"/>
                </a:solidFill>
              </a:rPr>
              <a:t>prompt</a:t>
            </a:r>
            <a:r>
              <a:rPr lang="es-MX" sz="1600" noProof="0" dirty="0">
                <a:solidFill>
                  <a:schemeClr val="tx1"/>
                </a:solidFill>
              </a:rPr>
              <a:t> en sistemas basados en LLM, mediante la revisión, clasificación, comparación y síntesis de literatura científica reciente, con el propósito de identificar sus características, contextos de aplicación, alcances, limitaciones y criterios de evaluación.</a:t>
            </a:r>
          </a:p>
        </p:txBody>
      </p:sp>
      <p:sp>
        <p:nvSpPr>
          <p:cNvPr id="5" name="Marcador de texto 4"/>
          <p:cNvSpPr>
            <a:spLocks noGrp="1"/>
          </p:cNvSpPr>
          <p:nvPr>
            <p:ph type="body" sz="quarter" idx="17"/>
          </p:nvPr>
        </p:nvSpPr>
        <p:spPr>
          <a:xfrm>
            <a:off x="539552" y="605898"/>
            <a:ext cx="4525215" cy="648072"/>
          </a:xfrm>
        </p:spPr>
        <p:txBody>
          <a:bodyPr/>
          <a:lstStyle/>
          <a:p>
            <a:pPr>
              <a:lnSpc>
                <a:spcPct val="150000"/>
              </a:lnSpc>
            </a:pPr>
            <a:r>
              <a:rPr lang="es-MX" b="1" noProof="0" dirty="0"/>
              <a:t>Objetivos (1/</a:t>
            </a:r>
            <a:r>
              <a:rPr lang="es-MX" b="1" dirty="0"/>
              <a:t>2</a:t>
            </a:r>
            <a:r>
              <a:rPr lang="es-MX" b="1" noProof="0" dirty="0"/>
              <a:t>) - Objetivo general</a:t>
            </a:r>
          </a:p>
        </p:txBody>
      </p:sp>
      <p:sp>
        <p:nvSpPr>
          <p:cNvPr id="7" name="Google Shape;106;p14">
            <a:extLst>
              <a:ext uri="{FF2B5EF4-FFF2-40B4-BE49-F238E27FC236}">
                <a16:creationId xmlns:a16="http://schemas.microsoft.com/office/drawing/2014/main" id="{0AE20224-F5D5-07D7-AAF4-1713B7FC92B6}"/>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pic>
        <p:nvPicPr>
          <p:cNvPr id="3" name="Imagen 2" descr="ilustraciones, imágenes clip art, dibujos animados e iconos de stock de objetivo de negocio, tablero de dardos, icono de objetivo - objetivos">
            <a:extLst>
              <a:ext uri="{FF2B5EF4-FFF2-40B4-BE49-F238E27FC236}">
                <a16:creationId xmlns:a16="http://schemas.microsoft.com/office/drawing/2014/main" id="{B199723B-E06E-0EA8-D558-0D43D5139EBE}"/>
              </a:ext>
            </a:extLst>
          </p:cNvPr>
          <p:cNvPicPr>
            <a:picLocks noChangeAspect="1"/>
          </p:cNvPicPr>
          <p:nvPr/>
        </p:nvPicPr>
        <p:blipFill>
          <a:blip r:embed="rId2"/>
          <a:stretch>
            <a:fillRect/>
          </a:stretch>
        </p:blipFill>
        <p:spPr>
          <a:xfrm>
            <a:off x="458459" y="1247633"/>
            <a:ext cx="2648234" cy="2648234"/>
          </a:xfrm>
          <a:prstGeom prst="rect">
            <a:avLst/>
          </a:prstGeom>
        </p:spPr>
      </p:pic>
      <p:sp>
        <p:nvSpPr>
          <p:cNvPr id="4" name="Marcador de número de diapositiva 1">
            <a:extLst>
              <a:ext uri="{FF2B5EF4-FFF2-40B4-BE49-F238E27FC236}">
                <a16:creationId xmlns:a16="http://schemas.microsoft.com/office/drawing/2014/main" id="{5B8B6F36-B13C-502C-3B62-99065795C128}"/>
              </a:ext>
            </a:extLst>
          </p:cNvPr>
          <p:cNvSpPr txBox="1">
            <a:spLocks/>
          </p:cNvSpPr>
          <p:nvPr/>
        </p:nvSpPr>
        <p:spPr>
          <a:xfrm>
            <a:off x="8572939" y="4679206"/>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7</a:t>
            </a:r>
          </a:p>
        </p:txBody>
      </p:sp>
    </p:spTree>
    <p:extLst>
      <p:ext uri="{BB962C8B-B14F-4D97-AF65-F5344CB8AC3E}">
        <p14:creationId xmlns:p14="http://schemas.microsoft.com/office/powerpoint/2010/main" val="2211088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D506B-01F4-2F26-EC3E-60C4CE7DBE36}"/>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88CB29A-C4FE-7078-1DC2-D2E27CB5BECC}"/>
              </a:ext>
            </a:extLst>
          </p:cNvPr>
          <p:cNvSpPr>
            <a:spLocks noGrp="1"/>
          </p:cNvSpPr>
          <p:nvPr>
            <p:ph sz="quarter" idx="15"/>
          </p:nvPr>
        </p:nvSpPr>
        <p:spPr>
          <a:xfrm>
            <a:off x="560238" y="1123721"/>
            <a:ext cx="8208913" cy="3536261"/>
          </a:xfrm>
        </p:spPr>
        <p:txBody>
          <a:bodyPr>
            <a:normAutofit fontScale="92500"/>
          </a:bodyPr>
          <a:lstStyle/>
          <a:p>
            <a:pPr marL="342900" indent="-342900" algn="just">
              <a:lnSpc>
                <a:spcPct val="150000"/>
              </a:lnSpc>
              <a:buFont typeface="Arial" panose="020B0604020202020204" pitchFamily="34" charset="0"/>
              <a:buChar char="•"/>
            </a:pPr>
            <a:r>
              <a:rPr lang="es-MX" sz="1400" noProof="0" dirty="0">
                <a:solidFill>
                  <a:schemeClr val="tx1"/>
                </a:solidFill>
              </a:rPr>
              <a:t>OE-01: Identificar los ataques de inyección de </a:t>
            </a:r>
            <a:r>
              <a:rPr lang="es-MX" sz="1400" i="1" noProof="0" dirty="0" err="1">
                <a:solidFill>
                  <a:schemeClr val="tx1"/>
                </a:solidFill>
              </a:rPr>
              <a:t>prompt</a:t>
            </a:r>
            <a:r>
              <a:rPr lang="es-MX" sz="1400" noProof="0" dirty="0">
                <a:solidFill>
                  <a:schemeClr val="tx1"/>
                </a:solidFill>
              </a:rPr>
              <a:t> que pueden ser mitigados desde el lado de la aplicación.</a:t>
            </a:r>
          </a:p>
          <a:p>
            <a:pPr marL="342900" indent="-342900" algn="just">
              <a:lnSpc>
                <a:spcPct val="150000"/>
              </a:lnSpc>
              <a:buFont typeface="Arial" panose="020B0604020202020204" pitchFamily="34" charset="0"/>
              <a:buChar char="•"/>
            </a:pPr>
            <a:r>
              <a:rPr lang="es-MX" sz="1400" noProof="0" dirty="0">
                <a:solidFill>
                  <a:schemeClr val="tx1"/>
                </a:solidFill>
              </a:rPr>
              <a:t>OE-02: Analizar las medidas de seguridad a nivel de aplicación propuestas en la literatura reciente para mitigar los ataques de inyección de </a:t>
            </a:r>
            <a:r>
              <a:rPr lang="es-MX" sz="1400" i="1" noProof="0" dirty="0" err="1">
                <a:solidFill>
                  <a:schemeClr val="tx1"/>
                </a:solidFill>
              </a:rPr>
              <a:t>prompt</a:t>
            </a:r>
            <a:r>
              <a:rPr lang="es-MX" sz="1400" noProof="0" dirty="0">
                <a:solidFill>
                  <a:schemeClr val="tx1"/>
                </a:solidFill>
              </a:rPr>
              <a:t> en sistemas basados en LLM.</a:t>
            </a:r>
          </a:p>
          <a:p>
            <a:pPr marL="342900" indent="-342900" algn="just">
              <a:lnSpc>
                <a:spcPct val="150000"/>
              </a:lnSpc>
              <a:buFont typeface="Arial" panose="020B0604020202020204" pitchFamily="34" charset="0"/>
              <a:buChar char="•"/>
            </a:pPr>
            <a:r>
              <a:rPr lang="es-MX" sz="1400" noProof="0" dirty="0">
                <a:solidFill>
                  <a:schemeClr val="tx1"/>
                </a:solidFill>
              </a:rPr>
              <a:t>OE-03: Clasificar las medidas de seguridad identificadas de acuerdo con el punto de intervención dentro del sistema.</a:t>
            </a:r>
          </a:p>
          <a:p>
            <a:pPr marL="342900" indent="-342900" algn="just">
              <a:lnSpc>
                <a:spcPct val="150000"/>
              </a:lnSpc>
              <a:buFont typeface="Arial" panose="020B0604020202020204" pitchFamily="34" charset="0"/>
              <a:buChar char="•"/>
            </a:pPr>
            <a:r>
              <a:rPr lang="es-MX" sz="1400" noProof="0" dirty="0">
                <a:solidFill>
                  <a:schemeClr val="tx1"/>
                </a:solidFill>
              </a:rPr>
              <a:t>OE-04: Identificar las taxonomías existentes para clasificar las mitigaciones de ataques de inyección de </a:t>
            </a:r>
            <a:r>
              <a:rPr lang="es-MX" sz="1400" noProof="0" dirty="0" err="1">
                <a:solidFill>
                  <a:schemeClr val="tx1"/>
                </a:solidFill>
              </a:rPr>
              <a:t>prompt</a:t>
            </a:r>
            <a:r>
              <a:rPr lang="es-MX" sz="1400" noProof="0" dirty="0">
                <a:solidFill>
                  <a:schemeClr val="tx1"/>
                </a:solidFill>
              </a:rPr>
              <a:t> a nivel de aplicación.</a:t>
            </a:r>
          </a:p>
          <a:p>
            <a:pPr marL="342900" indent="-342900" algn="just">
              <a:lnSpc>
                <a:spcPct val="150000"/>
              </a:lnSpc>
              <a:buFont typeface="Arial" panose="020B0604020202020204" pitchFamily="34" charset="0"/>
              <a:buChar char="•"/>
            </a:pPr>
            <a:r>
              <a:rPr lang="es-MX" sz="1400" noProof="0" dirty="0">
                <a:solidFill>
                  <a:schemeClr val="tx1"/>
                </a:solidFill>
              </a:rPr>
              <a:t>OE-05: Analizar las formas en las que se evalúan las medidas de seguridad reportadas en la literatura considerando los tipos de ataques abordados, contextos de aplicación, criterios de evaluación, efectividad, impacto sobre la utilidad y limitaciones.</a:t>
            </a:r>
          </a:p>
          <a:p>
            <a:pPr marL="342900" indent="-342900" algn="just">
              <a:lnSpc>
                <a:spcPct val="150000"/>
              </a:lnSpc>
              <a:buFont typeface="Arial" panose="020B0604020202020204" pitchFamily="34" charset="0"/>
              <a:buChar char="•"/>
            </a:pPr>
            <a:r>
              <a:rPr lang="es-MX" sz="1400" noProof="0" dirty="0">
                <a:solidFill>
                  <a:schemeClr val="tx1"/>
                </a:solidFill>
              </a:rPr>
              <a:t>OE-06: Discutir los alcances y limitaciones que permanezcan abiertos para futuras investigaciones.</a:t>
            </a:r>
          </a:p>
        </p:txBody>
      </p:sp>
      <p:sp>
        <p:nvSpPr>
          <p:cNvPr id="4" name="Marcador de texto 3">
            <a:extLst>
              <a:ext uri="{FF2B5EF4-FFF2-40B4-BE49-F238E27FC236}">
                <a16:creationId xmlns:a16="http://schemas.microsoft.com/office/drawing/2014/main" id="{5E16FE36-B834-A692-EE0B-B6D28EC6B825}"/>
              </a:ext>
            </a:extLst>
          </p:cNvPr>
          <p:cNvSpPr>
            <a:spLocks noGrp="1"/>
          </p:cNvSpPr>
          <p:nvPr>
            <p:ph type="body" sz="quarter" idx="16"/>
          </p:nvPr>
        </p:nvSpPr>
        <p:spPr>
          <a:xfrm>
            <a:off x="574593" y="580087"/>
            <a:ext cx="7994811" cy="407488"/>
          </a:xfrm>
        </p:spPr>
        <p:txBody>
          <a:bodyPr/>
          <a:lstStyle/>
          <a:p>
            <a:r>
              <a:rPr lang="es-MX" b="1" dirty="0"/>
              <a:t>Objetivos (2/2) - </a:t>
            </a:r>
            <a:r>
              <a:rPr lang="es-MX" b="1" noProof="0" dirty="0"/>
              <a:t>Objetivos específicos</a:t>
            </a:r>
          </a:p>
        </p:txBody>
      </p:sp>
      <p:sp>
        <p:nvSpPr>
          <p:cNvPr id="7" name="Google Shape;106;p14">
            <a:extLst>
              <a:ext uri="{FF2B5EF4-FFF2-40B4-BE49-F238E27FC236}">
                <a16:creationId xmlns:a16="http://schemas.microsoft.com/office/drawing/2014/main" id="{0CF51A61-BD70-06C9-75A3-CB358F9D1EE2}"/>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99BB89F3-DAA2-E5EF-65B7-7B634887A93C}"/>
              </a:ext>
            </a:extLst>
          </p:cNvPr>
          <p:cNvSpPr txBox="1">
            <a:spLocks/>
          </p:cNvSpPr>
          <p:nvPr/>
        </p:nvSpPr>
        <p:spPr>
          <a:xfrm>
            <a:off x="8559060" y="4679206"/>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8</a:t>
            </a:r>
          </a:p>
        </p:txBody>
      </p:sp>
    </p:spTree>
    <p:extLst>
      <p:ext uri="{BB962C8B-B14F-4D97-AF65-F5344CB8AC3E}">
        <p14:creationId xmlns:p14="http://schemas.microsoft.com/office/powerpoint/2010/main" val="610408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3"/>
          <p:cNvSpPr txBox="1">
            <a:spLocks noGrp="1"/>
          </p:cNvSpPr>
          <p:nvPr>
            <p:ph type="body" idx="1"/>
          </p:nvPr>
        </p:nvSpPr>
        <p:spPr>
          <a:xfrm>
            <a:off x="515250" y="710803"/>
            <a:ext cx="8113500" cy="1180101"/>
          </a:xfrm>
          <a:prstGeom prst="rect">
            <a:avLst/>
          </a:prstGeom>
          <a:noFill/>
          <a:ln>
            <a:noFill/>
          </a:ln>
        </p:spPr>
        <p:txBody>
          <a:bodyPr spcFirstLastPara="1" wrap="square" lIns="91425" tIns="45700" rIns="91425" bIns="45700" anchor="t" anchorCtr="0">
            <a:noAutofit/>
          </a:bodyPr>
          <a:lstStyle/>
          <a:p>
            <a:pPr marL="0" lvl="0" indent="0" algn="just">
              <a:lnSpc>
                <a:spcPct val="150000"/>
              </a:lnSpc>
              <a:spcBef>
                <a:spcPts val="0"/>
              </a:spcBef>
            </a:pPr>
            <a:r>
              <a:rPr lang="es-MX" sz="1400" dirty="0">
                <a:solidFill>
                  <a:schemeClr val="tx1"/>
                </a:solidFill>
              </a:rPr>
              <a:t>Kumar et al. (2024) presentan un marco que clasifica diversos ataques de inyección de </a:t>
            </a:r>
            <a:r>
              <a:rPr lang="es-MX" sz="1400" i="1" dirty="0" err="1">
                <a:solidFill>
                  <a:schemeClr val="tx1"/>
                </a:solidFill>
              </a:rPr>
              <a:t>prompt</a:t>
            </a:r>
            <a:r>
              <a:rPr lang="es-MX" sz="1400" dirty="0">
                <a:solidFill>
                  <a:schemeClr val="tx1"/>
                </a:solidFill>
              </a:rPr>
              <a:t> según características para llevarlos a cabo, evidenciando la diversidad de estos ataques y la necesidad de identificarlos y clasificarlos.</a:t>
            </a:r>
          </a:p>
        </p:txBody>
      </p:sp>
      <p:sp>
        <p:nvSpPr>
          <p:cNvPr id="98" name="Google Shape;98;p13"/>
          <p:cNvSpPr txBox="1">
            <a:spLocks noGrp="1"/>
          </p:cNvSpPr>
          <p:nvPr>
            <p:ph type="body" idx="2"/>
          </p:nvPr>
        </p:nvSpPr>
        <p:spPr>
          <a:xfrm>
            <a:off x="515250" y="118677"/>
            <a:ext cx="1608478" cy="36004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21052"/>
              </a:lnSpc>
              <a:spcBef>
                <a:spcPts val="0"/>
              </a:spcBef>
              <a:spcAft>
                <a:spcPts val="0"/>
              </a:spcAft>
              <a:buClr>
                <a:schemeClr val="dk1"/>
              </a:buClr>
              <a:buSzPts val="1900"/>
              <a:buNone/>
            </a:pPr>
            <a:r>
              <a:rPr lang="es-ES" sz="1800" b="1" dirty="0"/>
              <a:t>Justificación</a:t>
            </a:r>
            <a:endParaRPr sz="1800" b="1" dirty="0"/>
          </a:p>
        </p:txBody>
      </p:sp>
      <p:sp>
        <p:nvSpPr>
          <p:cNvPr id="6" name="Google Shape;106;p14">
            <a:extLst>
              <a:ext uri="{FF2B5EF4-FFF2-40B4-BE49-F238E27FC236}">
                <a16:creationId xmlns:a16="http://schemas.microsoft.com/office/drawing/2014/main" id="{D714ED01-EB4A-8E51-72F9-A26E1351B2BC}"/>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pic>
        <p:nvPicPr>
          <p:cNvPr id="2" name="Imagen 1" descr="Vector light bulb icon set light bulb vector illustration ideal for ideas">
            <a:extLst>
              <a:ext uri="{FF2B5EF4-FFF2-40B4-BE49-F238E27FC236}">
                <a16:creationId xmlns:a16="http://schemas.microsoft.com/office/drawing/2014/main" id="{783D423B-2E0C-F5E0-7C0C-65E3AA87B74C}"/>
              </a:ext>
            </a:extLst>
          </p:cNvPr>
          <p:cNvPicPr>
            <a:picLocks noChangeAspect="1"/>
          </p:cNvPicPr>
          <p:nvPr/>
        </p:nvPicPr>
        <p:blipFill>
          <a:blip r:embed="rId3"/>
          <a:stretch>
            <a:fillRect/>
          </a:stretch>
        </p:blipFill>
        <p:spPr>
          <a:xfrm>
            <a:off x="6291181" y="2042622"/>
            <a:ext cx="2601298" cy="2601298"/>
          </a:xfrm>
          <a:prstGeom prst="rect">
            <a:avLst/>
          </a:prstGeom>
        </p:spPr>
      </p:pic>
      <p:sp>
        <p:nvSpPr>
          <p:cNvPr id="4" name="CuadroTexto 3">
            <a:extLst>
              <a:ext uri="{FF2B5EF4-FFF2-40B4-BE49-F238E27FC236}">
                <a16:creationId xmlns:a16="http://schemas.microsoft.com/office/drawing/2014/main" id="{7B6B0B62-24D4-1BEF-29B4-416C7F869B80}"/>
              </a:ext>
            </a:extLst>
          </p:cNvPr>
          <p:cNvSpPr txBox="1"/>
          <p:nvPr/>
        </p:nvSpPr>
        <p:spPr>
          <a:xfrm>
            <a:off x="511579" y="3045676"/>
            <a:ext cx="5496910" cy="1674754"/>
          </a:xfrm>
          <a:prstGeom prst="rect">
            <a:avLst/>
          </a:prstGeom>
          <a:noFill/>
        </p:spPr>
        <p:txBody>
          <a:bodyPr wrap="square">
            <a:spAutoFit/>
          </a:bodyPr>
          <a:lstStyle/>
          <a:p>
            <a:pPr lvl="0" algn="just" rtl="0">
              <a:lnSpc>
                <a:spcPct val="150000"/>
              </a:lnSpc>
              <a:spcBef>
                <a:spcPts val="0"/>
              </a:spcBef>
              <a:spcAft>
                <a:spcPts val="0"/>
              </a:spcAft>
              <a:buClr>
                <a:srgbClr val="7F7F7F"/>
              </a:buClr>
              <a:buSzPts val="1900"/>
            </a:pPr>
            <a:r>
              <a:rPr lang="es-MX" sz="1400" b="1" dirty="0"/>
              <a:t>La </a:t>
            </a:r>
            <a:r>
              <a:rPr lang="es-MX" sz="1400" b="1" dirty="0">
                <a:solidFill>
                  <a:schemeClr val="tx1"/>
                </a:solidFill>
              </a:rPr>
              <a:t>investigación delimita el análisis a las medidas de seguridad implementadas a nivel de aplicación en sistemas basados en LLM, con el propósito de identificar sus características, puntos de intervención, contextos de aplicación, métodos de evaluación, limitaciones y qué</a:t>
            </a:r>
          </a:p>
          <a:p>
            <a:pPr lvl="0" algn="just" rtl="0">
              <a:lnSpc>
                <a:spcPct val="150000"/>
              </a:lnSpc>
              <a:spcBef>
                <a:spcPts val="0"/>
              </a:spcBef>
              <a:spcAft>
                <a:spcPts val="0"/>
              </a:spcAft>
              <a:buClr>
                <a:srgbClr val="7F7F7F"/>
              </a:buClr>
              <a:buSzPts val="1900"/>
            </a:pPr>
            <a:r>
              <a:rPr lang="es-MX" sz="1400" b="1" dirty="0">
                <a:solidFill>
                  <a:schemeClr val="tx1"/>
                </a:solidFill>
              </a:rPr>
              <a:t>compromisos presentan entre seguridad y utilidad.</a:t>
            </a:r>
          </a:p>
        </p:txBody>
      </p:sp>
      <p:sp>
        <p:nvSpPr>
          <p:cNvPr id="7" name="CuadroTexto 6">
            <a:extLst>
              <a:ext uri="{FF2B5EF4-FFF2-40B4-BE49-F238E27FC236}">
                <a16:creationId xmlns:a16="http://schemas.microsoft.com/office/drawing/2014/main" id="{7E66F582-17BB-5EE4-6866-B3A4B30EE6FA}"/>
              </a:ext>
            </a:extLst>
          </p:cNvPr>
          <p:cNvSpPr txBox="1"/>
          <p:nvPr/>
        </p:nvSpPr>
        <p:spPr>
          <a:xfrm>
            <a:off x="511579" y="1873240"/>
            <a:ext cx="5496909" cy="1028423"/>
          </a:xfrm>
          <a:prstGeom prst="rect">
            <a:avLst/>
          </a:prstGeom>
          <a:noFill/>
        </p:spPr>
        <p:txBody>
          <a:bodyPr wrap="square">
            <a:spAutoFit/>
          </a:bodyPr>
          <a:lstStyle/>
          <a:p>
            <a:pPr algn="just">
              <a:lnSpc>
                <a:spcPct val="150000"/>
              </a:lnSpc>
              <a:spcBef>
                <a:spcPts val="0"/>
              </a:spcBef>
            </a:pPr>
            <a:r>
              <a:rPr lang="es-MX" sz="1400" dirty="0">
                <a:latin typeface="Gill Sans MT" panose="020B0502020104020203" pitchFamily="34" charset="0"/>
              </a:rPr>
              <a:t>Los trabajos previos permiten comprender qué ataques existen y qué estrategias de defensa han sido propuestas. Sin embargo, dichas revisiones abordan las defensas desde perspectivas amplias. </a:t>
            </a:r>
          </a:p>
        </p:txBody>
      </p:sp>
      <p:sp>
        <p:nvSpPr>
          <p:cNvPr id="15" name="Marcador de número de diapositiva 14">
            <a:extLst>
              <a:ext uri="{FF2B5EF4-FFF2-40B4-BE49-F238E27FC236}">
                <a16:creationId xmlns:a16="http://schemas.microsoft.com/office/drawing/2014/main" id="{AAA7A88E-A6B4-D326-0667-CA42721358F9}"/>
              </a:ext>
            </a:extLst>
          </p:cNvPr>
          <p:cNvSpPr>
            <a:spLocks noGrp="1"/>
          </p:cNvSpPr>
          <p:nvPr>
            <p:ph type="sldNum" idx="12"/>
          </p:nvPr>
        </p:nvSpPr>
        <p:spPr>
          <a:xfrm>
            <a:off x="8460432" y="4643920"/>
            <a:ext cx="548700" cy="393600"/>
          </a:xfrm>
        </p:spPr>
        <p:txBody>
          <a:bodyPr/>
          <a:lstStyle/>
          <a:p>
            <a:pPr marL="0" lvl="0" indent="0" algn="r" rtl="0">
              <a:spcBef>
                <a:spcPts val="0"/>
              </a:spcBef>
              <a:spcAft>
                <a:spcPts val="0"/>
              </a:spcAft>
              <a:buNone/>
            </a:pPr>
            <a:r>
              <a:rPr lang="es-ES" dirty="0"/>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ctr" rtl="0">
              <a:lnSpc>
                <a:spcPct val="118181"/>
              </a:lnSpc>
              <a:spcBef>
                <a:spcPts val="0"/>
              </a:spcBef>
              <a:spcAft>
                <a:spcPts val="0"/>
              </a:spcAft>
              <a:buClr>
                <a:schemeClr val="dk1"/>
              </a:buClr>
              <a:buSzPts val="2200"/>
              <a:buFont typeface="Gill Sans"/>
              <a:buNone/>
            </a:pPr>
            <a:r>
              <a:rPr lang="es-ES" b="1" dirty="0"/>
              <a:t>Delimitación del trabajo</a:t>
            </a:r>
            <a:endParaRPr b="1" dirty="0"/>
          </a:p>
        </p:txBody>
      </p:sp>
      <p:sp>
        <p:nvSpPr>
          <p:cNvPr id="108" name="Google Shape;108;p14"/>
          <p:cNvSpPr txBox="1">
            <a:spLocks noGrp="1"/>
          </p:cNvSpPr>
          <p:nvPr>
            <p:ph type="body" idx="4294967295"/>
          </p:nvPr>
        </p:nvSpPr>
        <p:spPr>
          <a:xfrm>
            <a:off x="349904" y="1131590"/>
            <a:ext cx="4131600" cy="3600399"/>
          </a:xfrm>
          <a:prstGeom prst="rect">
            <a:avLst/>
          </a:prstGeom>
          <a:noFill/>
          <a:ln>
            <a:noFill/>
          </a:ln>
        </p:spPr>
        <p:txBody>
          <a:bodyPr spcFirstLastPara="1" wrap="square" lIns="91425" tIns="45700" rIns="91425" bIns="45700" anchor="t" anchorCtr="0">
            <a:normAutofit fontScale="70000" lnSpcReduction="20000"/>
          </a:bodyPr>
          <a:lstStyle/>
          <a:p>
            <a:pPr marL="107950" lvl="0" algn="l" rtl="0">
              <a:lnSpc>
                <a:spcPct val="121052"/>
              </a:lnSpc>
              <a:spcBef>
                <a:spcPts val="0"/>
              </a:spcBef>
              <a:spcAft>
                <a:spcPts val="0"/>
              </a:spcAft>
              <a:buSzPts val="1900"/>
            </a:pPr>
            <a:r>
              <a:rPr lang="es-ES" b="1" dirty="0">
                <a:solidFill>
                  <a:schemeClr val="tx1"/>
                </a:solidFill>
              </a:rPr>
              <a:t>Alcances</a:t>
            </a:r>
          </a:p>
          <a:p>
            <a:pPr marL="450850" lvl="0" indent="-342900" algn="l" rtl="0">
              <a:lnSpc>
                <a:spcPct val="160000"/>
              </a:lnSpc>
              <a:spcBef>
                <a:spcPts val="0"/>
              </a:spcBef>
              <a:spcAft>
                <a:spcPts val="0"/>
              </a:spcAft>
              <a:buSzPts val="1900"/>
              <a:buFont typeface="Arial" panose="020B0604020202020204" pitchFamily="34" charset="0"/>
              <a:buChar char="•"/>
            </a:pPr>
            <a:r>
              <a:rPr lang="es-ES" sz="2000" dirty="0">
                <a:solidFill>
                  <a:schemeClr val="tx1"/>
                </a:solidFill>
              </a:rPr>
              <a:t>Alcance de tipo descriptivo.</a:t>
            </a:r>
          </a:p>
          <a:p>
            <a:pPr marL="450850" lvl="0" indent="-342900" algn="l" rtl="0">
              <a:lnSpc>
                <a:spcPct val="160000"/>
              </a:lnSpc>
              <a:spcBef>
                <a:spcPts val="0"/>
              </a:spcBef>
              <a:spcAft>
                <a:spcPts val="0"/>
              </a:spcAft>
              <a:buSzPts val="1900"/>
              <a:buFont typeface="Arial" panose="020B0604020202020204" pitchFamily="34" charset="0"/>
              <a:buChar char="•"/>
            </a:pPr>
            <a:r>
              <a:rPr lang="es-ES" sz="2000" dirty="0">
                <a:solidFill>
                  <a:schemeClr val="tx1"/>
                </a:solidFill>
              </a:rPr>
              <a:t>Literatura científica no mayor a cinco años en ingles.</a:t>
            </a:r>
          </a:p>
          <a:p>
            <a:pPr marL="450850" lvl="0" indent="-342900" algn="l" rtl="0">
              <a:lnSpc>
                <a:spcPct val="160000"/>
              </a:lnSpc>
              <a:spcBef>
                <a:spcPts val="0"/>
              </a:spcBef>
              <a:spcAft>
                <a:spcPts val="0"/>
              </a:spcAft>
              <a:buSzPts val="1900"/>
              <a:buFont typeface="Arial" panose="020B0604020202020204" pitchFamily="34" charset="0"/>
              <a:buChar char="•"/>
            </a:pPr>
            <a:r>
              <a:rPr lang="es-MX" sz="2000" dirty="0">
                <a:solidFill>
                  <a:schemeClr val="tx1"/>
                </a:solidFill>
              </a:rPr>
              <a:t>Literatura científica recuperable mediante plataformas académicas con acceso institucional, como </a:t>
            </a:r>
            <a:r>
              <a:rPr lang="es-MX" sz="2000" i="1" dirty="0">
                <a:solidFill>
                  <a:schemeClr val="tx1"/>
                </a:solidFill>
              </a:rPr>
              <a:t>ACM Digital Library, </a:t>
            </a:r>
            <a:r>
              <a:rPr lang="es-MX" sz="2000" i="1" dirty="0" err="1">
                <a:solidFill>
                  <a:schemeClr val="tx1"/>
                </a:solidFill>
              </a:rPr>
              <a:t>SpringerLink</a:t>
            </a:r>
            <a:r>
              <a:rPr lang="es-MX" sz="2000" i="1" dirty="0">
                <a:solidFill>
                  <a:schemeClr val="tx1"/>
                </a:solidFill>
              </a:rPr>
              <a:t>, </a:t>
            </a:r>
            <a:r>
              <a:rPr lang="es-MX" sz="2000" i="1" dirty="0" err="1">
                <a:solidFill>
                  <a:schemeClr val="tx1"/>
                </a:solidFill>
              </a:rPr>
              <a:t>ScienceDirect</a:t>
            </a:r>
            <a:r>
              <a:rPr lang="es-MX" sz="2000" i="1" dirty="0">
                <a:solidFill>
                  <a:schemeClr val="tx1"/>
                </a:solidFill>
              </a:rPr>
              <a:t> </a:t>
            </a:r>
            <a:r>
              <a:rPr lang="es-MX" sz="2000" dirty="0">
                <a:solidFill>
                  <a:schemeClr val="tx1"/>
                </a:solidFill>
              </a:rPr>
              <a:t>e</a:t>
            </a:r>
            <a:r>
              <a:rPr lang="es-MX" sz="2000" i="1" dirty="0">
                <a:solidFill>
                  <a:schemeClr val="tx1"/>
                </a:solidFill>
              </a:rPr>
              <a:t> IEEE </a:t>
            </a:r>
            <a:r>
              <a:rPr lang="es-MX" sz="2000" i="1" dirty="0" err="1">
                <a:solidFill>
                  <a:schemeClr val="tx1"/>
                </a:solidFill>
              </a:rPr>
              <a:t>Xplore</a:t>
            </a:r>
            <a:r>
              <a:rPr lang="es-ES" sz="2000" dirty="0">
                <a:solidFill>
                  <a:schemeClr val="tx1"/>
                </a:solidFill>
              </a:rPr>
              <a:t>.</a:t>
            </a:r>
          </a:p>
          <a:p>
            <a:pPr marL="450850" lvl="0" indent="-342900" algn="l" rtl="0">
              <a:lnSpc>
                <a:spcPct val="160000"/>
              </a:lnSpc>
              <a:spcBef>
                <a:spcPts val="0"/>
              </a:spcBef>
              <a:spcAft>
                <a:spcPts val="0"/>
              </a:spcAft>
              <a:buSzPts val="1900"/>
              <a:buFont typeface="Arial" panose="020B0604020202020204" pitchFamily="34" charset="0"/>
              <a:buChar char="•"/>
            </a:pPr>
            <a:r>
              <a:rPr lang="es-ES" sz="2000" dirty="0">
                <a:solidFill>
                  <a:schemeClr val="tx1"/>
                </a:solidFill>
              </a:rPr>
              <a:t>Centrada en el área de ciberseguridad analizando los ataques y mitigaciones.</a:t>
            </a:r>
          </a:p>
          <a:p>
            <a:pPr marL="450850" lvl="0" indent="-342900" algn="l" rtl="0">
              <a:lnSpc>
                <a:spcPct val="160000"/>
              </a:lnSpc>
              <a:spcBef>
                <a:spcPts val="0"/>
              </a:spcBef>
              <a:spcAft>
                <a:spcPts val="0"/>
              </a:spcAft>
              <a:buSzPts val="1900"/>
              <a:buFont typeface="Arial" panose="020B0604020202020204" pitchFamily="34" charset="0"/>
              <a:buChar char="•"/>
            </a:pPr>
            <a:r>
              <a:rPr lang="es-ES" sz="2000" dirty="0">
                <a:solidFill>
                  <a:schemeClr val="tx1"/>
                </a:solidFill>
              </a:rPr>
              <a:t>Medidas de seguridad que pueden implementarse a nivel de aplicación.</a:t>
            </a:r>
          </a:p>
        </p:txBody>
      </p:sp>
      <p:sp>
        <p:nvSpPr>
          <p:cNvPr id="109" name="Google Shape;109;p14"/>
          <p:cNvSpPr txBox="1">
            <a:spLocks noGrp="1"/>
          </p:cNvSpPr>
          <p:nvPr>
            <p:ph type="body" idx="4294967295"/>
          </p:nvPr>
        </p:nvSpPr>
        <p:spPr>
          <a:xfrm>
            <a:off x="4690829" y="1131590"/>
            <a:ext cx="4131600" cy="3326690"/>
          </a:xfrm>
          <a:prstGeom prst="rect">
            <a:avLst/>
          </a:prstGeom>
          <a:noFill/>
          <a:ln>
            <a:noFill/>
          </a:ln>
        </p:spPr>
        <p:txBody>
          <a:bodyPr spcFirstLastPara="1" wrap="square" lIns="91425" tIns="45700" rIns="91425" bIns="45700" anchor="t" anchorCtr="0">
            <a:normAutofit/>
          </a:bodyPr>
          <a:lstStyle/>
          <a:p>
            <a:pPr marL="107950" lvl="0" algn="l" rtl="0">
              <a:lnSpc>
                <a:spcPct val="121052"/>
              </a:lnSpc>
              <a:spcBef>
                <a:spcPts val="0"/>
              </a:spcBef>
              <a:spcAft>
                <a:spcPts val="0"/>
              </a:spcAft>
              <a:buSzPts val="1900"/>
            </a:pPr>
            <a:r>
              <a:rPr lang="es-ES" sz="1600" b="1" dirty="0">
                <a:solidFill>
                  <a:schemeClr val="tx1"/>
                </a:solidFill>
              </a:rPr>
              <a:t>Limitaciones</a:t>
            </a:r>
          </a:p>
          <a:p>
            <a:pPr marL="393700" lvl="0" indent="-285750" algn="l" rtl="0">
              <a:lnSpc>
                <a:spcPct val="150000"/>
              </a:lnSpc>
              <a:spcBef>
                <a:spcPts val="0"/>
              </a:spcBef>
              <a:spcAft>
                <a:spcPts val="0"/>
              </a:spcAft>
              <a:buSzPts val="1900"/>
              <a:buFont typeface="Arial" panose="020B0604020202020204" pitchFamily="34" charset="0"/>
              <a:buChar char="•"/>
            </a:pPr>
            <a:r>
              <a:rPr lang="es-MX" sz="1400" dirty="0">
                <a:solidFill>
                  <a:schemeClr val="tx1"/>
                </a:solidFill>
              </a:rPr>
              <a:t>Artículos o revisiones que no puedan ser accedidos por medios institucionales.</a:t>
            </a:r>
          </a:p>
          <a:p>
            <a:pPr marL="393700" lvl="0" indent="-285750" algn="l" rtl="0">
              <a:lnSpc>
                <a:spcPct val="150000"/>
              </a:lnSpc>
              <a:spcBef>
                <a:spcPts val="0"/>
              </a:spcBef>
              <a:spcAft>
                <a:spcPts val="0"/>
              </a:spcAft>
              <a:buSzPts val="1900"/>
              <a:buFont typeface="Arial" panose="020B0604020202020204" pitchFamily="34" charset="0"/>
              <a:buChar char="•"/>
            </a:pPr>
            <a:r>
              <a:rPr lang="es-MX" sz="1400" dirty="0">
                <a:solidFill>
                  <a:schemeClr val="tx1"/>
                </a:solidFill>
              </a:rPr>
              <a:t>Se excluirán trabajos no publicados formalmente o que no hayan pasado por un proceso de revisión.</a:t>
            </a:r>
          </a:p>
          <a:p>
            <a:pPr marL="393700" lvl="0" indent="-285750" algn="l" rtl="0">
              <a:lnSpc>
                <a:spcPct val="150000"/>
              </a:lnSpc>
              <a:spcBef>
                <a:spcPts val="0"/>
              </a:spcBef>
              <a:spcAft>
                <a:spcPts val="0"/>
              </a:spcAft>
              <a:buSzPts val="1900"/>
              <a:buFont typeface="Arial" panose="020B0604020202020204" pitchFamily="34" charset="0"/>
              <a:buChar char="•"/>
            </a:pPr>
            <a:r>
              <a:rPr lang="es-MX" sz="1400" dirty="0">
                <a:solidFill>
                  <a:schemeClr val="tx1"/>
                </a:solidFill>
              </a:rPr>
              <a:t>Medidas de seguridad que modifiquen el LLM.</a:t>
            </a:r>
          </a:p>
        </p:txBody>
      </p:sp>
      <p:sp>
        <p:nvSpPr>
          <p:cNvPr id="8" name="Google Shape;106;p14">
            <a:extLst>
              <a:ext uri="{FF2B5EF4-FFF2-40B4-BE49-F238E27FC236}">
                <a16:creationId xmlns:a16="http://schemas.microsoft.com/office/drawing/2014/main" id="{217BACAB-4BC0-AB2D-408F-233D5CAFEA7D}"/>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ABDE6C31-5AE2-2491-732D-A896560F30B4}"/>
              </a:ext>
            </a:extLst>
          </p:cNvPr>
          <p:cNvSpPr>
            <a:spLocks noGrp="1"/>
          </p:cNvSpPr>
          <p:nvPr>
            <p:ph type="sldNum" idx="12"/>
          </p:nvPr>
        </p:nvSpPr>
        <p:spPr>
          <a:xfrm>
            <a:off x="8519746" y="4626422"/>
            <a:ext cx="548700" cy="393600"/>
          </a:xfrm>
        </p:spPr>
        <p:txBody>
          <a:bodyPr/>
          <a:lstStyle/>
          <a:p>
            <a:pPr marL="0" lvl="0" indent="0" algn="r" rtl="0">
              <a:spcBef>
                <a:spcPts val="0"/>
              </a:spcBef>
              <a:spcAft>
                <a:spcPts val="0"/>
              </a:spcAft>
              <a:buNone/>
            </a:pPr>
            <a:r>
              <a:rPr lang="es-ES" dirty="0"/>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4" name="Imagen 3">
            <a:extLst>
              <a:ext uri="{FF2B5EF4-FFF2-40B4-BE49-F238E27FC236}">
                <a16:creationId xmlns:a16="http://schemas.microsoft.com/office/drawing/2014/main" id="{768D82D1-6F39-10DF-0761-6B9F31D9F4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2061" y="555526"/>
            <a:ext cx="7579878" cy="4236510"/>
          </a:xfrm>
          <a:prstGeom prst="rect">
            <a:avLst/>
          </a:prstGeom>
        </p:spPr>
      </p:pic>
      <p:sp>
        <p:nvSpPr>
          <p:cNvPr id="5" name="Google Shape;120;p16">
            <a:extLst>
              <a:ext uri="{FF2B5EF4-FFF2-40B4-BE49-F238E27FC236}">
                <a16:creationId xmlns:a16="http://schemas.microsoft.com/office/drawing/2014/main" id="{60E535A0-4524-652F-BB95-95F72F815DD0}"/>
              </a:ext>
            </a:extLst>
          </p:cNvPr>
          <p:cNvSpPr txBox="1">
            <a:spLocks/>
          </p:cNvSpPr>
          <p:nvPr/>
        </p:nvSpPr>
        <p:spPr>
          <a:xfrm>
            <a:off x="395536" y="123478"/>
            <a:ext cx="3600400" cy="342300"/>
          </a:xfrm>
          <a:prstGeom prst="rect">
            <a:avLst/>
          </a:prstGeom>
          <a:noFill/>
          <a:ln>
            <a:noFill/>
          </a:ln>
        </p:spPr>
        <p:txBody>
          <a:bodyPr spcFirstLastPara="1" vert="horz" wrap="square" lIns="91425" tIns="45700" rIns="91425" bIns="45700" rtlCol="0" anchor="ctr" anchorCtr="0">
            <a:noAutofit/>
          </a:bodyPr>
          <a:lstStyle>
            <a:lvl1pPr lvl="0" algn="ctr" defTabSz="298227" rtl="0" eaLnBrk="1" latinLnBrk="0" hangingPunct="1">
              <a:lnSpc>
                <a:spcPct val="110526"/>
              </a:lnSpc>
              <a:spcBef>
                <a:spcPts val="0"/>
              </a:spcBef>
              <a:spcAft>
                <a:spcPts val="0"/>
              </a:spcAft>
              <a:buClr>
                <a:schemeClr val="dk1"/>
              </a:buClr>
              <a:buSzPts val="1900"/>
              <a:buFont typeface="Gill Sans"/>
              <a:buNone/>
              <a:defRPr sz="1900" kern="1200">
                <a:solidFill>
                  <a:schemeClr val="dk1"/>
                </a:solidFill>
                <a:latin typeface="Gill Sans MT" panose="020B0502020104020203" pitchFamily="34" charset="0"/>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l">
              <a:lnSpc>
                <a:spcPct val="118181"/>
              </a:lnSpc>
              <a:buSzPts val="2200"/>
            </a:pPr>
            <a:r>
              <a:rPr lang="es-ES" b="1" dirty="0"/>
              <a:t>Marco teórico del trabajo </a:t>
            </a:r>
          </a:p>
        </p:txBody>
      </p:sp>
      <p:sp>
        <p:nvSpPr>
          <p:cNvPr id="11" name="Google Shape;106;p14">
            <a:extLst>
              <a:ext uri="{FF2B5EF4-FFF2-40B4-BE49-F238E27FC236}">
                <a16:creationId xmlns:a16="http://schemas.microsoft.com/office/drawing/2014/main" id="{1ADBBE70-7D8E-E99F-670B-85F3ACE75ED0}"/>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58FF16D7-0CA2-328F-7918-CEA7426004C7}"/>
              </a:ext>
            </a:extLst>
          </p:cNvPr>
          <p:cNvSpPr>
            <a:spLocks noGrp="1"/>
          </p:cNvSpPr>
          <p:nvPr>
            <p:ph type="sldNum" idx="12"/>
          </p:nvPr>
        </p:nvSpPr>
        <p:spPr>
          <a:xfrm>
            <a:off x="8460432" y="4595236"/>
            <a:ext cx="548700" cy="393600"/>
          </a:xfrm>
        </p:spPr>
        <p:txBody>
          <a:bodyPr/>
          <a:lstStyle/>
          <a:p>
            <a:pPr marL="0" lvl="0" indent="0" algn="r" rtl="0">
              <a:spcBef>
                <a:spcPts val="0"/>
              </a:spcBef>
              <a:spcAft>
                <a:spcPts val="0"/>
              </a:spcAft>
              <a:buNone/>
            </a:pPr>
            <a:r>
              <a:rPr lang="es-ES" dirty="0"/>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04C7527E-88F3-69B7-AD58-4CD3A33BB0D9}"/>
            </a:ext>
          </a:extLst>
        </p:cNvPr>
        <p:cNvGrpSpPr/>
        <p:nvPr/>
      </p:nvGrpSpPr>
      <p:grpSpPr>
        <a:xfrm>
          <a:off x="0" y="0"/>
          <a:ext cx="0" cy="0"/>
          <a:chOff x="0" y="0"/>
          <a:chExt cx="0" cy="0"/>
        </a:xfrm>
      </p:grpSpPr>
      <p:sp>
        <p:nvSpPr>
          <p:cNvPr id="120" name="Google Shape;120;p16">
            <a:extLst>
              <a:ext uri="{FF2B5EF4-FFF2-40B4-BE49-F238E27FC236}">
                <a16:creationId xmlns:a16="http://schemas.microsoft.com/office/drawing/2014/main" id="{C022D33D-5B98-BC33-C023-0569B556152B}"/>
              </a:ext>
            </a:extLst>
          </p:cNvPr>
          <p:cNvSpPr txBox="1">
            <a:spLocks noGrp="1"/>
          </p:cNvSpPr>
          <p:nvPr>
            <p:ph type="title"/>
          </p:nvPr>
        </p:nvSpPr>
        <p:spPr>
          <a:xfrm>
            <a:off x="395536" y="106279"/>
            <a:ext cx="6480720" cy="342300"/>
          </a:xfrm>
          <a:prstGeom prst="rect">
            <a:avLst/>
          </a:prstGeom>
          <a:noFill/>
          <a:ln>
            <a:noFill/>
          </a:ln>
        </p:spPr>
        <p:txBody>
          <a:bodyPr spcFirstLastPara="1" wrap="square" lIns="91425" tIns="45700" rIns="91425" bIns="45700" anchor="ctr" anchorCtr="0">
            <a:noAutofit/>
          </a:bodyPr>
          <a:lstStyle/>
          <a:p>
            <a:pPr marL="0" lvl="0" indent="0" algn="l" rtl="0">
              <a:lnSpc>
                <a:spcPct val="118181"/>
              </a:lnSpc>
              <a:spcBef>
                <a:spcPts val="0"/>
              </a:spcBef>
              <a:spcAft>
                <a:spcPts val="0"/>
              </a:spcAft>
              <a:buClr>
                <a:schemeClr val="dk1"/>
              </a:buClr>
              <a:buSzPts val="2200"/>
              <a:buFont typeface="Gill Sans"/>
              <a:buNone/>
            </a:pPr>
            <a:r>
              <a:rPr lang="es-ES" sz="1800" b="1" dirty="0"/>
              <a:t>Método de investigación – Kitchenham</a:t>
            </a:r>
            <a:endParaRPr sz="1800" b="1" dirty="0"/>
          </a:p>
        </p:txBody>
      </p:sp>
      <p:pic>
        <p:nvPicPr>
          <p:cNvPr id="3" name="Imagen 2">
            <a:extLst>
              <a:ext uri="{FF2B5EF4-FFF2-40B4-BE49-F238E27FC236}">
                <a16:creationId xmlns:a16="http://schemas.microsoft.com/office/drawing/2014/main" id="{B9DC538D-8BF1-E181-7202-76611EC121EC}"/>
              </a:ext>
            </a:extLst>
          </p:cNvPr>
          <p:cNvPicPr>
            <a:picLocks noChangeAspect="1"/>
          </p:cNvPicPr>
          <p:nvPr/>
        </p:nvPicPr>
        <p:blipFill>
          <a:blip r:embed="rId3" cstate="print">
            <a:extLst>
              <a:ext uri="{28A0092B-C50C-407E-A947-70E740481C1C}">
                <a14:useLocalDpi xmlns:a14="http://schemas.microsoft.com/office/drawing/2010/main" val="0"/>
              </a:ext>
            </a:extLst>
          </a:blip>
          <a:srcRect l="13860" r="13860"/>
          <a:stretch>
            <a:fillRect/>
          </a:stretch>
        </p:blipFill>
        <p:spPr>
          <a:xfrm>
            <a:off x="1590758" y="537509"/>
            <a:ext cx="5962483" cy="4249566"/>
          </a:xfrm>
          <a:prstGeom prst="rect">
            <a:avLst/>
          </a:prstGeom>
        </p:spPr>
      </p:pic>
      <p:sp>
        <p:nvSpPr>
          <p:cNvPr id="9" name="Google Shape;106;p14">
            <a:extLst>
              <a:ext uri="{FF2B5EF4-FFF2-40B4-BE49-F238E27FC236}">
                <a16:creationId xmlns:a16="http://schemas.microsoft.com/office/drawing/2014/main" id="{56791881-3AFB-55F5-D90A-5DF98C5326BF}"/>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F8036404-E725-CCBA-948A-B3B4F8207D3A}"/>
              </a:ext>
            </a:extLst>
          </p:cNvPr>
          <p:cNvSpPr>
            <a:spLocks noGrp="1"/>
          </p:cNvSpPr>
          <p:nvPr>
            <p:ph type="sldNum" idx="12"/>
          </p:nvPr>
        </p:nvSpPr>
        <p:spPr>
          <a:xfrm>
            <a:off x="8460432" y="4590275"/>
            <a:ext cx="548700" cy="393600"/>
          </a:xfrm>
        </p:spPr>
        <p:txBody>
          <a:bodyPr/>
          <a:lstStyle/>
          <a:p>
            <a:pPr marL="0" lvl="0" indent="0" algn="r" rtl="0">
              <a:spcBef>
                <a:spcPts val="0"/>
              </a:spcBef>
              <a:spcAft>
                <a:spcPts val="0"/>
              </a:spcAft>
              <a:buNone/>
            </a:pPr>
            <a:r>
              <a:rPr lang="es-ES" dirty="0"/>
              <a:t>12</a:t>
            </a:r>
          </a:p>
        </p:txBody>
      </p:sp>
    </p:spTree>
    <p:extLst>
      <p:ext uri="{BB962C8B-B14F-4D97-AF65-F5344CB8AC3E}">
        <p14:creationId xmlns:p14="http://schemas.microsoft.com/office/powerpoint/2010/main" val="151726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A85DE8C5-A6E8-7733-3E12-83C5FBAEDFDE}"/>
            </a:ext>
          </a:extLst>
        </p:cNvPr>
        <p:cNvGrpSpPr/>
        <p:nvPr/>
      </p:nvGrpSpPr>
      <p:grpSpPr>
        <a:xfrm>
          <a:off x="0" y="0"/>
          <a:ext cx="0" cy="0"/>
          <a:chOff x="0" y="0"/>
          <a:chExt cx="0" cy="0"/>
        </a:xfrm>
      </p:grpSpPr>
      <p:sp>
        <p:nvSpPr>
          <p:cNvPr id="128" name="Google Shape;128;p17">
            <a:extLst>
              <a:ext uri="{FF2B5EF4-FFF2-40B4-BE49-F238E27FC236}">
                <a16:creationId xmlns:a16="http://schemas.microsoft.com/office/drawing/2014/main" id="{02EC2CF8-2016-4579-5ABC-DB93EEBB68C7}"/>
              </a:ext>
            </a:extLst>
          </p:cNvPr>
          <p:cNvSpPr txBox="1">
            <a:spLocks noGrp="1"/>
          </p:cNvSpPr>
          <p:nvPr>
            <p:ph type="title"/>
          </p:nvPr>
        </p:nvSpPr>
        <p:spPr>
          <a:xfrm>
            <a:off x="457198" y="577190"/>
            <a:ext cx="8229600" cy="342300"/>
          </a:xfrm>
          <a:prstGeom prst="rect">
            <a:avLst/>
          </a:prstGeom>
          <a:noFill/>
          <a:ln>
            <a:noFill/>
          </a:ln>
        </p:spPr>
        <p:txBody>
          <a:bodyPr spcFirstLastPara="1" wrap="square" lIns="91425" tIns="45700" rIns="91425" bIns="45700" anchor="ctr" anchorCtr="0">
            <a:noAutofit/>
          </a:bodyPr>
          <a:lstStyle/>
          <a:p>
            <a:pPr marL="0" lvl="0" indent="0" algn="ctr" rtl="0">
              <a:lnSpc>
                <a:spcPct val="118181"/>
              </a:lnSpc>
              <a:spcBef>
                <a:spcPts val="0"/>
              </a:spcBef>
              <a:spcAft>
                <a:spcPts val="0"/>
              </a:spcAft>
              <a:buClr>
                <a:schemeClr val="dk1"/>
              </a:buClr>
              <a:buSzPts val="2200"/>
              <a:buFont typeface="Gill Sans"/>
              <a:buNone/>
            </a:pPr>
            <a:r>
              <a:rPr lang="es-ES" b="1" dirty="0"/>
              <a:t>Estructura del trabajo </a:t>
            </a:r>
            <a:r>
              <a:rPr lang="es-ES" b="1" dirty="0" err="1"/>
              <a:t>recepcional</a:t>
            </a:r>
            <a:endParaRPr b="1" dirty="0"/>
          </a:p>
        </p:txBody>
      </p:sp>
      <p:pic>
        <p:nvPicPr>
          <p:cNvPr id="3" name="Imagen 2">
            <a:extLst>
              <a:ext uri="{FF2B5EF4-FFF2-40B4-BE49-F238E27FC236}">
                <a16:creationId xmlns:a16="http://schemas.microsoft.com/office/drawing/2014/main" id="{667E4B17-8C89-ADCB-99BC-A8037907BC68}"/>
              </a:ext>
            </a:extLst>
          </p:cNvPr>
          <p:cNvPicPr>
            <a:picLocks noChangeAspect="1"/>
          </p:cNvPicPr>
          <p:nvPr/>
        </p:nvPicPr>
        <p:blipFill>
          <a:blip r:embed="rId3">
            <a:extLst>
              <a:ext uri="{28A0092B-C50C-407E-A947-70E740481C1C}">
                <a14:useLocalDpi xmlns:a14="http://schemas.microsoft.com/office/drawing/2010/main" val="0"/>
              </a:ext>
            </a:extLst>
          </a:blip>
          <a:srcRect b="54726"/>
          <a:stretch>
            <a:fillRect/>
          </a:stretch>
        </p:blipFill>
        <p:spPr>
          <a:xfrm>
            <a:off x="1286792" y="1131599"/>
            <a:ext cx="3168352" cy="3441631"/>
          </a:xfrm>
          <a:prstGeom prst="rect">
            <a:avLst/>
          </a:prstGeom>
        </p:spPr>
      </p:pic>
      <p:pic>
        <p:nvPicPr>
          <p:cNvPr id="5" name="Imagen 4">
            <a:extLst>
              <a:ext uri="{FF2B5EF4-FFF2-40B4-BE49-F238E27FC236}">
                <a16:creationId xmlns:a16="http://schemas.microsoft.com/office/drawing/2014/main" id="{5FB93001-0229-4F9A-0A3C-93DF988BE301}"/>
              </a:ext>
            </a:extLst>
          </p:cNvPr>
          <p:cNvPicPr>
            <a:picLocks noChangeAspect="1"/>
          </p:cNvPicPr>
          <p:nvPr/>
        </p:nvPicPr>
        <p:blipFill>
          <a:blip r:embed="rId3">
            <a:extLst>
              <a:ext uri="{28A0092B-C50C-407E-A947-70E740481C1C}">
                <a14:useLocalDpi xmlns:a14="http://schemas.microsoft.com/office/drawing/2010/main" val="0"/>
              </a:ext>
            </a:extLst>
          </a:blip>
          <a:srcRect l="-369" t="44809" r="369" b="-177"/>
          <a:stretch>
            <a:fillRect/>
          </a:stretch>
        </p:blipFill>
        <p:spPr>
          <a:xfrm>
            <a:off x="4688858" y="1151881"/>
            <a:ext cx="2925168" cy="3434712"/>
          </a:xfrm>
          <a:prstGeom prst="rect">
            <a:avLst/>
          </a:prstGeom>
        </p:spPr>
      </p:pic>
      <p:sp>
        <p:nvSpPr>
          <p:cNvPr id="10" name="Google Shape;106;p14">
            <a:extLst>
              <a:ext uri="{FF2B5EF4-FFF2-40B4-BE49-F238E27FC236}">
                <a16:creationId xmlns:a16="http://schemas.microsoft.com/office/drawing/2014/main" id="{164FAEB1-6E8B-95C3-7832-2CDDC54649BD}"/>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1075547A-0F21-EEBC-DFC4-A6B82216B428}"/>
              </a:ext>
            </a:extLst>
          </p:cNvPr>
          <p:cNvSpPr>
            <a:spLocks noGrp="1"/>
          </p:cNvSpPr>
          <p:nvPr>
            <p:ph type="sldNum" idx="12"/>
          </p:nvPr>
        </p:nvSpPr>
        <p:spPr>
          <a:xfrm>
            <a:off x="8532440" y="4679206"/>
            <a:ext cx="548700" cy="393600"/>
          </a:xfrm>
        </p:spPr>
        <p:txBody>
          <a:bodyPr/>
          <a:lstStyle/>
          <a:p>
            <a:pPr marL="0" lvl="0" indent="0" algn="r" rtl="0">
              <a:spcBef>
                <a:spcPts val="0"/>
              </a:spcBef>
              <a:spcAft>
                <a:spcPts val="0"/>
              </a:spcAft>
              <a:buNone/>
            </a:pPr>
            <a:r>
              <a:rPr lang="es-ES" dirty="0"/>
              <a:t>13</a:t>
            </a:r>
          </a:p>
        </p:txBody>
      </p:sp>
    </p:spTree>
    <p:extLst>
      <p:ext uri="{BB962C8B-B14F-4D97-AF65-F5344CB8AC3E}">
        <p14:creationId xmlns:p14="http://schemas.microsoft.com/office/powerpoint/2010/main" val="3848494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r" rtl="0">
              <a:lnSpc>
                <a:spcPct val="118181"/>
              </a:lnSpc>
              <a:spcBef>
                <a:spcPts val="0"/>
              </a:spcBef>
              <a:spcAft>
                <a:spcPts val="0"/>
              </a:spcAft>
              <a:buClr>
                <a:schemeClr val="dk1"/>
              </a:buClr>
              <a:buSzPts val="2200"/>
              <a:buFont typeface="Gill Sans"/>
              <a:buNone/>
            </a:pPr>
            <a:r>
              <a:rPr lang="es-ES" b="1" dirty="0"/>
              <a:t>Cronograma</a:t>
            </a:r>
            <a:endParaRPr b="1" dirty="0"/>
          </a:p>
        </p:txBody>
      </p:sp>
      <p:pic>
        <p:nvPicPr>
          <p:cNvPr id="3" name="Imagen 2">
            <a:extLst>
              <a:ext uri="{FF2B5EF4-FFF2-40B4-BE49-F238E27FC236}">
                <a16:creationId xmlns:a16="http://schemas.microsoft.com/office/drawing/2014/main" id="{881F3109-23F5-ED48-7EE9-01A08276521E}"/>
              </a:ext>
            </a:extLst>
          </p:cNvPr>
          <p:cNvPicPr>
            <a:picLocks noChangeAspect="1"/>
          </p:cNvPicPr>
          <p:nvPr/>
        </p:nvPicPr>
        <p:blipFill>
          <a:blip r:embed="rId3"/>
          <a:stretch>
            <a:fillRect/>
          </a:stretch>
        </p:blipFill>
        <p:spPr>
          <a:xfrm>
            <a:off x="89756" y="1202771"/>
            <a:ext cx="8964488" cy="2737958"/>
          </a:xfrm>
          <a:prstGeom prst="rect">
            <a:avLst/>
          </a:prstGeom>
        </p:spPr>
      </p:pic>
      <p:sp>
        <p:nvSpPr>
          <p:cNvPr id="9" name="Google Shape;106;p14">
            <a:extLst>
              <a:ext uri="{FF2B5EF4-FFF2-40B4-BE49-F238E27FC236}">
                <a16:creationId xmlns:a16="http://schemas.microsoft.com/office/drawing/2014/main" id="{8C9AF571-D715-12C8-B9BA-B79DD71A0F37}"/>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DC9CED28-FF84-29F9-CB33-3245191598F9}"/>
              </a:ext>
            </a:extLst>
          </p:cNvPr>
          <p:cNvSpPr>
            <a:spLocks noGrp="1"/>
          </p:cNvSpPr>
          <p:nvPr>
            <p:ph type="sldNum" idx="12"/>
          </p:nvPr>
        </p:nvSpPr>
        <p:spPr>
          <a:xfrm>
            <a:off x="8512580" y="4637032"/>
            <a:ext cx="548700" cy="393600"/>
          </a:xfrm>
        </p:spPr>
        <p:txBody>
          <a:bodyPr/>
          <a:lstStyle/>
          <a:p>
            <a:pPr marL="0" lvl="0" indent="0" algn="r" rtl="0">
              <a:spcBef>
                <a:spcPts val="0"/>
              </a:spcBef>
              <a:spcAft>
                <a:spcPts val="0"/>
              </a:spcAft>
              <a:buNone/>
            </a:pPr>
            <a:r>
              <a:rPr lang="es-ES" dirty="0"/>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D589C32F-752C-D5A3-56EA-E4BDA7E497DC}"/>
            </a:ext>
          </a:extLst>
        </p:cNvPr>
        <p:cNvGrpSpPr/>
        <p:nvPr/>
      </p:nvGrpSpPr>
      <p:grpSpPr>
        <a:xfrm>
          <a:off x="0" y="0"/>
          <a:ext cx="0" cy="0"/>
          <a:chOff x="0" y="0"/>
          <a:chExt cx="0" cy="0"/>
        </a:xfrm>
      </p:grpSpPr>
      <p:sp>
        <p:nvSpPr>
          <p:cNvPr id="120" name="Google Shape;120;p16">
            <a:extLst>
              <a:ext uri="{FF2B5EF4-FFF2-40B4-BE49-F238E27FC236}">
                <a16:creationId xmlns:a16="http://schemas.microsoft.com/office/drawing/2014/main" id="{C31030A8-FFA8-AD4D-A420-41EE43A59A31}"/>
              </a:ext>
            </a:extLst>
          </p:cNvPr>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l" rtl="0">
              <a:lnSpc>
                <a:spcPct val="118181"/>
              </a:lnSpc>
              <a:spcBef>
                <a:spcPts val="0"/>
              </a:spcBef>
              <a:spcAft>
                <a:spcPts val="0"/>
              </a:spcAft>
              <a:buClr>
                <a:schemeClr val="dk1"/>
              </a:buClr>
              <a:buSzPts val="2200"/>
              <a:buFont typeface="Gill Sans"/>
              <a:buNone/>
            </a:pPr>
            <a:r>
              <a:rPr lang="es-ES" b="1" dirty="0"/>
              <a:t>Referencias</a:t>
            </a:r>
            <a:endParaRPr b="1" dirty="0"/>
          </a:p>
        </p:txBody>
      </p:sp>
      <p:sp>
        <p:nvSpPr>
          <p:cNvPr id="123" name="Google Shape;123;p16">
            <a:extLst>
              <a:ext uri="{FF2B5EF4-FFF2-40B4-BE49-F238E27FC236}">
                <a16:creationId xmlns:a16="http://schemas.microsoft.com/office/drawing/2014/main" id="{EED723C5-1285-4756-2430-0478250559CA}"/>
              </a:ext>
            </a:extLst>
          </p:cNvPr>
          <p:cNvSpPr txBox="1">
            <a:spLocks noGrp="1"/>
          </p:cNvSpPr>
          <p:nvPr>
            <p:ph type="body" idx="4294967295"/>
          </p:nvPr>
        </p:nvSpPr>
        <p:spPr>
          <a:xfrm>
            <a:off x="389400" y="1131590"/>
            <a:ext cx="8365200" cy="3456384"/>
          </a:xfrm>
          <a:prstGeom prst="rect">
            <a:avLst/>
          </a:prstGeom>
          <a:noFill/>
          <a:ln>
            <a:noFill/>
          </a:ln>
        </p:spPr>
        <p:txBody>
          <a:bodyPr spcFirstLastPara="1" wrap="square" lIns="91425" tIns="45700" rIns="91425" bIns="45700" anchor="t" anchorCtr="0">
            <a:noAutofit/>
          </a:bodyPr>
          <a:lstStyle/>
          <a:p>
            <a:pPr marL="171450" lvl="0" indent="-171450">
              <a:lnSpc>
                <a:spcPct val="100000"/>
              </a:lnSpc>
              <a:buFont typeface="Arial" panose="020B0604020202020204" pitchFamily="34" charset="0"/>
              <a:buChar char="•"/>
            </a:pPr>
            <a:r>
              <a:rPr lang="es-MX" sz="1100" dirty="0" err="1">
                <a:solidFill>
                  <a:schemeClr val="tx1"/>
                </a:solidFill>
              </a:rPr>
              <a:t>Damacena</a:t>
            </a:r>
            <a:r>
              <a:rPr lang="es-MX" sz="1100" dirty="0">
                <a:solidFill>
                  <a:schemeClr val="tx1"/>
                </a:solidFill>
              </a:rPr>
              <a:t> Duarte, J., Cândido, G. D., de Britto Filho, J. R. A., Souza Neto, J., da Costa, E. J., da Costa, J. P. J., &amp; </a:t>
            </a:r>
            <a:r>
              <a:rPr lang="es-MX" sz="1100" dirty="0" err="1">
                <a:solidFill>
                  <a:schemeClr val="tx1"/>
                </a:solidFill>
              </a:rPr>
              <a:t>Peotta</a:t>
            </a:r>
            <a:r>
              <a:rPr lang="es-MX" sz="1100" dirty="0">
                <a:solidFill>
                  <a:schemeClr val="tx1"/>
                </a:solidFill>
              </a:rPr>
              <a:t> De Melo, L. (2026). A </a:t>
            </a:r>
            <a:r>
              <a:rPr lang="es-MX" sz="1100" dirty="0" err="1">
                <a:solidFill>
                  <a:schemeClr val="tx1"/>
                </a:solidFill>
              </a:rPr>
              <a:t>Systematic</a:t>
            </a:r>
            <a:r>
              <a:rPr lang="es-MX" sz="1100" dirty="0">
                <a:solidFill>
                  <a:schemeClr val="tx1"/>
                </a:solidFill>
              </a:rPr>
              <a:t> </a:t>
            </a:r>
            <a:r>
              <a:rPr lang="es-MX" sz="1100" dirty="0" err="1">
                <a:solidFill>
                  <a:schemeClr val="tx1"/>
                </a:solidFill>
              </a:rPr>
              <a:t>Review</a:t>
            </a:r>
            <a:r>
              <a:rPr lang="es-MX" sz="1100" dirty="0">
                <a:solidFill>
                  <a:schemeClr val="tx1"/>
                </a:solidFill>
              </a:rPr>
              <a:t> </a:t>
            </a:r>
            <a:r>
              <a:rPr lang="es-MX" sz="1100" dirty="0" err="1">
                <a:solidFill>
                  <a:schemeClr val="tx1"/>
                </a:solidFill>
              </a:rPr>
              <a:t>of</a:t>
            </a:r>
            <a:r>
              <a:rPr lang="es-MX" sz="1100" dirty="0">
                <a:solidFill>
                  <a:schemeClr val="tx1"/>
                </a:solidFill>
              </a:rPr>
              <a:t>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Attacks</a:t>
            </a:r>
            <a:r>
              <a:rPr lang="es-MX" sz="1100" dirty="0">
                <a:solidFill>
                  <a:schemeClr val="tx1"/>
                </a:solidFill>
              </a:rPr>
              <a:t> on Large </a:t>
            </a:r>
            <a:r>
              <a:rPr lang="es-MX" sz="1100" dirty="0" err="1">
                <a:solidFill>
                  <a:schemeClr val="tx1"/>
                </a:solidFill>
              </a:rPr>
              <a:t>Language</a:t>
            </a:r>
            <a:r>
              <a:rPr lang="es-MX" sz="1100" dirty="0">
                <a:solidFill>
                  <a:schemeClr val="tx1"/>
                </a:solidFill>
              </a:rPr>
              <a:t> </a:t>
            </a:r>
            <a:r>
              <a:rPr lang="es-MX" sz="1100" dirty="0" err="1">
                <a:solidFill>
                  <a:schemeClr val="tx1"/>
                </a:solidFill>
              </a:rPr>
              <a:t>Models</a:t>
            </a:r>
            <a:r>
              <a:rPr lang="es-MX" sz="1100" dirty="0">
                <a:solidFill>
                  <a:schemeClr val="tx1"/>
                </a:solidFill>
              </a:rPr>
              <a:t>: </a:t>
            </a:r>
            <a:r>
              <a:rPr lang="es-MX" sz="1100" dirty="0" err="1">
                <a:solidFill>
                  <a:schemeClr val="tx1"/>
                </a:solidFill>
              </a:rPr>
              <a:t>Trends</a:t>
            </a:r>
            <a:r>
              <a:rPr lang="es-MX" sz="1100" dirty="0">
                <a:solidFill>
                  <a:schemeClr val="tx1"/>
                </a:solidFill>
              </a:rPr>
              <a:t>, </a:t>
            </a:r>
            <a:r>
              <a:rPr lang="es-MX" sz="1100" dirty="0" err="1">
                <a:solidFill>
                  <a:schemeClr val="tx1"/>
                </a:solidFill>
              </a:rPr>
              <a:t>Taxonomy</a:t>
            </a:r>
            <a:r>
              <a:rPr lang="es-MX" sz="1100" dirty="0">
                <a:solidFill>
                  <a:schemeClr val="tx1"/>
                </a:solidFill>
              </a:rPr>
              <a:t>, </a:t>
            </a:r>
            <a:r>
              <a:rPr lang="es-MX" sz="1100" dirty="0" err="1">
                <a:solidFill>
                  <a:schemeClr val="tx1"/>
                </a:solidFill>
              </a:rPr>
              <a:t>Evaluation</a:t>
            </a:r>
            <a:r>
              <a:rPr lang="es-MX" sz="1100" dirty="0">
                <a:solidFill>
                  <a:schemeClr val="tx1"/>
                </a:solidFill>
              </a:rPr>
              <a:t>, Defenses, and </a:t>
            </a:r>
            <a:r>
              <a:rPr lang="es-MX" sz="1100" dirty="0" err="1">
                <a:solidFill>
                  <a:schemeClr val="tx1"/>
                </a:solidFill>
              </a:rPr>
              <a:t>Opportunities</a:t>
            </a:r>
            <a:r>
              <a:rPr lang="es-MX" sz="1100" dirty="0">
                <a:solidFill>
                  <a:schemeClr val="tx1"/>
                </a:solidFill>
              </a:rPr>
              <a:t>. IEEE Access, 14, 12875–12899. </a:t>
            </a:r>
            <a:r>
              <a:rPr lang="es-MX" sz="1100" dirty="0">
                <a:solidFill>
                  <a:schemeClr val="tx1"/>
                </a:solidFill>
                <a:hlinkClick r:id="rId3"/>
              </a:rPr>
              <a:t>https://doi.org/10.1109/ACCESS.2026.3656849</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Geng, T., </a:t>
            </a:r>
            <a:r>
              <a:rPr lang="es-MX" sz="1100" dirty="0" err="1">
                <a:solidFill>
                  <a:schemeClr val="tx1"/>
                </a:solidFill>
              </a:rPr>
              <a:t>Xu</a:t>
            </a:r>
            <a:r>
              <a:rPr lang="es-MX" sz="1100" dirty="0">
                <a:solidFill>
                  <a:schemeClr val="tx1"/>
                </a:solidFill>
              </a:rPr>
              <a:t>, Z., Qu, Y., &amp; Wong, W. E. (2026).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Attacks</a:t>
            </a:r>
            <a:r>
              <a:rPr lang="es-MX" sz="1100" dirty="0">
                <a:solidFill>
                  <a:schemeClr val="tx1"/>
                </a:solidFill>
              </a:rPr>
              <a:t> on Large </a:t>
            </a:r>
            <a:r>
              <a:rPr lang="es-MX" sz="1100" dirty="0" err="1">
                <a:solidFill>
                  <a:schemeClr val="tx1"/>
                </a:solidFill>
              </a:rPr>
              <a:t>Language</a:t>
            </a:r>
            <a:r>
              <a:rPr lang="es-MX" sz="1100" dirty="0">
                <a:solidFill>
                  <a:schemeClr val="tx1"/>
                </a:solidFill>
              </a:rPr>
              <a:t> </a:t>
            </a:r>
            <a:r>
              <a:rPr lang="es-MX" sz="1100" dirty="0" err="1">
                <a:solidFill>
                  <a:schemeClr val="tx1"/>
                </a:solidFill>
              </a:rPr>
              <a:t>Models</a:t>
            </a:r>
            <a:r>
              <a:rPr lang="es-MX" sz="1100" dirty="0">
                <a:solidFill>
                  <a:schemeClr val="tx1"/>
                </a:solidFill>
              </a:rPr>
              <a:t>: A </a:t>
            </a:r>
            <a:r>
              <a:rPr lang="es-MX" sz="1100" dirty="0" err="1">
                <a:solidFill>
                  <a:schemeClr val="tx1"/>
                </a:solidFill>
              </a:rPr>
              <a:t>Survey</a:t>
            </a:r>
            <a:r>
              <a:rPr lang="es-MX" sz="1100" dirty="0">
                <a:solidFill>
                  <a:schemeClr val="tx1"/>
                </a:solidFill>
              </a:rPr>
              <a:t> </a:t>
            </a:r>
            <a:r>
              <a:rPr lang="es-MX" sz="1100" dirty="0" err="1">
                <a:solidFill>
                  <a:schemeClr val="tx1"/>
                </a:solidFill>
              </a:rPr>
              <a:t>of</a:t>
            </a:r>
            <a:r>
              <a:rPr lang="es-MX" sz="1100" dirty="0">
                <a:solidFill>
                  <a:schemeClr val="tx1"/>
                </a:solidFill>
              </a:rPr>
              <a:t> </a:t>
            </a:r>
            <a:r>
              <a:rPr lang="es-MX" sz="1100" dirty="0" err="1">
                <a:solidFill>
                  <a:schemeClr val="tx1"/>
                </a:solidFill>
              </a:rPr>
              <a:t>Attack</a:t>
            </a:r>
            <a:r>
              <a:rPr lang="es-MX" sz="1100" dirty="0">
                <a:solidFill>
                  <a:schemeClr val="tx1"/>
                </a:solidFill>
              </a:rPr>
              <a:t> </a:t>
            </a:r>
            <a:r>
              <a:rPr lang="es-MX" sz="1100" dirty="0" err="1">
                <a:solidFill>
                  <a:schemeClr val="tx1"/>
                </a:solidFill>
              </a:rPr>
              <a:t>Methods</a:t>
            </a:r>
            <a:r>
              <a:rPr lang="es-MX" sz="1100" dirty="0">
                <a:solidFill>
                  <a:schemeClr val="tx1"/>
                </a:solidFill>
              </a:rPr>
              <a:t>, Root Causes, and Defense </a:t>
            </a:r>
            <a:r>
              <a:rPr lang="es-MX" sz="1100" dirty="0" err="1">
                <a:solidFill>
                  <a:schemeClr val="tx1"/>
                </a:solidFill>
              </a:rPr>
              <a:t>Strategies</a:t>
            </a:r>
            <a:r>
              <a:rPr lang="es-MX" sz="1100" dirty="0">
                <a:solidFill>
                  <a:schemeClr val="tx1"/>
                </a:solidFill>
              </a:rPr>
              <a:t>. </a:t>
            </a:r>
            <a:r>
              <a:rPr lang="es-MX" sz="1100" dirty="0" err="1">
                <a:solidFill>
                  <a:schemeClr val="tx1"/>
                </a:solidFill>
              </a:rPr>
              <a:t>Computers</a:t>
            </a:r>
            <a:r>
              <a:rPr lang="es-MX" sz="1100" dirty="0">
                <a:solidFill>
                  <a:schemeClr val="tx1"/>
                </a:solidFill>
              </a:rPr>
              <a:t>, </a:t>
            </a:r>
            <a:r>
              <a:rPr lang="es-MX" sz="1100" dirty="0" err="1">
                <a:solidFill>
                  <a:schemeClr val="tx1"/>
                </a:solidFill>
              </a:rPr>
              <a:t>Materials</a:t>
            </a:r>
            <a:r>
              <a:rPr lang="es-MX" sz="1100" dirty="0">
                <a:solidFill>
                  <a:schemeClr val="tx1"/>
                </a:solidFill>
              </a:rPr>
              <a:t> and Continua, 87(1). </a:t>
            </a:r>
            <a:r>
              <a:rPr lang="es-MX" sz="1100" dirty="0">
                <a:solidFill>
                  <a:schemeClr val="tx1"/>
                </a:solidFill>
                <a:hlinkClick r:id="rId4"/>
              </a:rPr>
              <a:t>https://doi.org/10.32604/cmc.2025.074081</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Kitchenham, B. (2007). </a:t>
            </a:r>
            <a:r>
              <a:rPr lang="es-MX" sz="1100" dirty="0" err="1">
                <a:solidFill>
                  <a:schemeClr val="tx1"/>
                </a:solidFill>
              </a:rPr>
              <a:t>Guidelines</a:t>
            </a:r>
            <a:r>
              <a:rPr lang="es-MX" sz="1100" dirty="0">
                <a:solidFill>
                  <a:schemeClr val="tx1"/>
                </a:solidFill>
              </a:rPr>
              <a:t> for </a:t>
            </a:r>
            <a:r>
              <a:rPr lang="es-MX" sz="1100" dirty="0" err="1">
                <a:solidFill>
                  <a:schemeClr val="tx1"/>
                </a:solidFill>
              </a:rPr>
              <a:t>performing</a:t>
            </a:r>
            <a:r>
              <a:rPr lang="es-MX" sz="1100" dirty="0">
                <a:solidFill>
                  <a:schemeClr val="tx1"/>
                </a:solidFill>
              </a:rPr>
              <a:t> </a:t>
            </a:r>
            <a:r>
              <a:rPr lang="es-MX" sz="1100" dirty="0" err="1">
                <a:solidFill>
                  <a:schemeClr val="tx1"/>
                </a:solidFill>
              </a:rPr>
              <a:t>Systematic</a:t>
            </a:r>
            <a:r>
              <a:rPr lang="es-MX" sz="1100" dirty="0">
                <a:solidFill>
                  <a:schemeClr val="tx1"/>
                </a:solidFill>
              </a:rPr>
              <a:t> </a:t>
            </a:r>
            <a:r>
              <a:rPr lang="es-MX" sz="1100" dirty="0" err="1">
                <a:solidFill>
                  <a:schemeClr val="tx1"/>
                </a:solidFill>
              </a:rPr>
              <a:t>Literature</a:t>
            </a:r>
            <a:r>
              <a:rPr lang="es-MX" sz="1100" dirty="0">
                <a:solidFill>
                  <a:schemeClr val="tx1"/>
                </a:solidFill>
              </a:rPr>
              <a:t> </a:t>
            </a:r>
            <a:r>
              <a:rPr lang="es-MX" sz="1100" dirty="0" err="1">
                <a:solidFill>
                  <a:schemeClr val="tx1"/>
                </a:solidFill>
              </a:rPr>
              <a:t>Reviews</a:t>
            </a:r>
            <a:r>
              <a:rPr lang="es-MX" sz="1100" dirty="0">
                <a:solidFill>
                  <a:schemeClr val="tx1"/>
                </a:solidFill>
              </a:rPr>
              <a:t> in Software </a:t>
            </a:r>
            <a:r>
              <a:rPr lang="es-MX" sz="1100" dirty="0" err="1">
                <a:solidFill>
                  <a:schemeClr val="tx1"/>
                </a:solidFill>
              </a:rPr>
              <a:t>Engineering</a:t>
            </a:r>
            <a:r>
              <a:rPr lang="es-MX" sz="1100" dirty="0">
                <a:solidFill>
                  <a:schemeClr val="tx1"/>
                </a:solidFill>
              </a:rPr>
              <a:t>. </a:t>
            </a:r>
            <a:r>
              <a:rPr lang="es-MX" sz="1100" dirty="0">
                <a:solidFill>
                  <a:schemeClr val="tx1"/>
                </a:solidFill>
                <a:hlinkClick r:id="rId5"/>
              </a:rPr>
              <a:t>https://www.researchgate.net/publication/302924724</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Kumar, S. S., Cummings, M. L., &amp; Stimpson, A. (2024). </a:t>
            </a:r>
            <a:r>
              <a:rPr lang="es-MX" sz="1100" dirty="0" err="1">
                <a:solidFill>
                  <a:schemeClr val="tx1"/>
                </a:solidFill>
              </a:rPr>
              <a:t>Strengthening</a:t>
            </a:r>
            <a:r>
              <a:rPr lang="es-MX" sz="1100" dirty="0">
                <a:solidFill>
                  <a:schemeClr val="tx1"/>
                </a:solidFill>
              </a:rPr>
              <a:t> LLM Trust </a:t>
            </a:r>
            <a:r>
              <a:rPr lang="es-MX" sz="1100" dirty="0" err="1">
                <a:solidFill>
                  <a:schemeClr val="tx1"/>
                </a:solidFill>
              </a:rPr>
              <a:t>Boundaries</a:t>
            </a:r>
            <a:r>
              <a:rPr lang="es-MX" sz="1100" dirty="0">
                <a:solidFill>
                  <a:schemeClr val="tx1"/>
                </a:solidFill>
              </a:rPr>
              <a:t>: A </a:t>
            </a:r>
            <a:r>
              <a:rPr lang="es-MX" sz="1100" dirty="0" err="1">
                <a:solidFill>
                  <a:schemeClr val="tx1"/>
                </a:solidFill>
              </a:rPr>
              <a:t>Survey</a:t>
            </a:r>
            <a:r>
              <a:rPr lang="es-MX" sz="1100" dirty="0">
                <a:solidFill>
                  <a:schemeClr val="tx1"/>
                </a:solidFill>
              </a:rPr>
              <a:t> </a:t>
            </a:r>
            <a:r>
              <a:rPr lang="es-MX" sz="1100" dirty="0" err="1">
                <a:solidFill>
                  <a:schemeClr val="tx1"/>
                </a:solidFill>
              </a:rPr>
              <a:t>of</a:t>
            </a:r>
            <a:r>
              <a:rPr lang="es-MX" sz="1100" dirty="0">
                <a:solidFill>
                  <a:schemeClr val="tx1"/>
                </a:solidFill>
              </a:rPr>
              <a:t>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Attacks</a:t>
            </a:r>
            <a:r>
              <a:rPr lang="es-MX" sz="1100" dirty="0">
                <a:solidFill>
                  <a:schemeClr val="tx1"/>
                </a:solidFill>
              </a:rPr>
              <a:t>. 2024 IEEE 4th International </a:t>
            </a:r>
            <a:r>
              <a:rPr lang="es-MX" sz="1100" dirty="0" err="1">
                <a:solidFill>
                  <a:schemeClr val="tx1"/>
                </a:solidFill>
              </a:rPr>
              <a:t>Conference</a:t>
            </a:r>
            <a:r>
              <a:rPr lang="es-MX" sz="1100" dirty="0">
                <a:solidFill>
                  <a:schemeClr val="tx1"/>
                </a:solidFill>
              </a:rPr>
              <a:t> on Human-Machine </a:t>
            </a:r>
            <a:r>
              <a:rPr lang="es-MX" sz="1100" dirty="0" err="1">
                <a:solidFill>
                  <a:schemeClr val="tx1"/>
                </a:solidFill>
              </a:rPr>
              <a:t>Systems</a:t>
            </a:r>
            <a:r>
              <a:rPr lang="es-MX" sz="1100" dirty="0">
                <a:solidFill>
                  <a:schemeClr val="tx1"/>
                </a:solidFill>
              </a:rPr>
              <a:t> (ICHMS). </a:t>
            </a:r>
            <a:r>
              <a:rPr lang="es-MX" sz="1100" dirty="0">
                <a:solidFill>
                  <a:schemeClr val="tx1"/>
                </a:solidFill>
                <a:hlinkClick r:id="rId6"/>
              </a:rPr>
              <a:t>https://doi.org/10.1109/ICHMS59971.2024.10555871</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¿Qué es la ciberseguridad? Tipos, amenazas y mejores prácticas | Fortinet. (s.f.). Fortinet. </a:t>
            </a:r>
            <a:r>
              <a:rPr lang="es-MX" sz="1100" dirty="0">
                <a:solidFill>
                  <a:schemeClr val="tx1"/>
                </a:solidFill>
                <a:hlinkClick r:id="rId7"/>
              </a:rPr>
              <a:t>https://www.fortinet.com/lat/resources/cyberglossary/what-is-cybersecurity</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¿Qué son los LLM? | IBM. (s.f.). Recuperado el 20 de septiembre de 2026, de </a:t>
            </a:r>
            <a:r>
              <a:rPr lang="es-MX" sz="1100" dirty="0">
                <a:solidFill>
                  <a:schemeClr val="tx1"/>
                </a:solidFill>
                <a:hlinkClick r:id="rId8"/>
              </a:rPr>
              <a:t>https://www.ibm.com/mx-es/think/topics/large-language-models</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Vassilev, A., Oprea, A., Fordyce, A., Anderson, H., Davies, X., &amp; Hamin, M. (2025). Adversarial Machine </a:t>
            </a:r>
            <a:r>
              <a:rPr lang="es-MX" sz="1100" dirty="0" err="1">
                <a:solidFill>
                  <a:schemeClr val="tx1"/>
                </a:solidFill>
              </a:rPr>
              <a:t>Learning</a:t>
            </a:r>
            <a:r>
              <a:rPr lang="es-MX" sz="1100" dirty="0">
                <a:solidFill>
                  <a:schemeClr val="tx1"/>
                </a:solidFill>
              </a:rPr>
              <a:t>. </a:t>
            </a:r>
            <a:r>
              <a:rPr lang="es-MX" sz="1100" dirty="0">
                <a:solidFill>
                  <a:schemeClr val="tx1"/>
                </a:solidFill>
                <a:hlinkClick r:id="rId9"/>
              </a:rPr>
              <a:t>https://doi.org/10.6028/NIST.AI.100-2e2025</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What is a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a:t>
            </a:r>
            <a:r>
              <a:rPr lang="es-MX" sz="1100" dirty="0">
                <a:solidFill>
                  <a:schemeClr val="tx1"/>
                </a:solidFill>
              </a:rPr>
              <a:t>? [</a:t>
            </a:r>
            <a:r>
              <a:rPr lang="es-MX" sz="1100" dirty="0" err="1">
                <a:solidFill>
                  <a:schemeClr val="tx1"/>
                </a:solidFill>
              </a:rPr>
              <a:t>Examples</a:t>
            </a:r>
            <a:r>
              <a:rPr lang="es-MX" sz="1100" dirty="0">
                <a:solidFill>
                  <a:schemeClr val="tx1"/>
                </a:solidFill>
              </a:rPr>
              <a:t> &amp; </a:t>
            </a:r>
            <a:r>
              <a:rPr lang="es-MX" sz="1100" dirty="0" err="1">
                <a:solidFill>
                  <a:schemeClr val="tx1"/>
                </a:solidFill>
              </a:rPr>
              <a:t>Prevention</a:t>
            </a:r>
            <a:r>
              <a:rPr lang="es-MX" sz="1100" dirty="0">
                <a:solidFill>
                  <a:schemeClr val="tx1"/>
                </a:solidFill>
              </a:rPr>
              <a:t>]. (s.f.). Palo Alto Networks. </a:t>
            </a:r>
            <a:r>
              <a:rPr lang="es-MX" sz="1100" dirty="0">
                <a:solidFill>
                  <a:schemeClr val="tx1"/>
                </a:solidFill>
                <a:hlinkClick r:id="rId10"/>
              </a:rPr>
              <a:t>https://www.paloaltonetworks.com/cyberpedia/what-is-a-prompt-injection-attack</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err="1">
                <a:solidFill>
                  <a:schemeClr val="tx1"/>
                </a:solidFill>
              </a:rPr>
              <a:t>Woesle</a:t>
            </a:r>
            <a:r>
              <a:rPr lang="es-MX" sz="1100" dirty="0">
                <a:solidFill>
                  <a:schemeClr val="tx1"/>
                </a:solidFill>
              </a:rPr>
              <a:t>, C., &amp; Buettner, R. (2026). A </a:t>
            </a:r>
            <a:r>
              <a:rPr lang="es-MX" sz="1100" dirty="0" err="1">
                <a:solidFill>
                  <a:schemeClr val="tx1"/>
                </a:solidFill>
              </a:rPr>
              <a:t>Systematic</a:t>
            </a:r>
            <a:r>
              <a:rPr lang="es-MX" sz="1100" dirty="0">
                <a:solidFill>
                  <a:schemeClr val="tx1"/>
                </a:solidFill>
              </a:rPr>
              <a:t> </a:t>
            </a:r>
            <a:r>
              <a:rPr lang="es-MX" sz="1100" dirty="0" err="1">
                <a:solidFill>
                  <a:schemeClr val="tx1"/>
                </a:solidFill>
              </a:rPr>
              <a:t>Literature</a:t>
            </a:r>
            <a:r>
              <a:rPr lang="es-MX" sz="1100" dirty="0">
                <a:solidFill>
                  <a:schemeClr val="tx1"/>
                </a:solidFill>
              </a:rPr>
              <a:t> </a:t>
            </a:r>
            <a:r>
              <a:rPr lang="es-MX" sz="1100" dirty="0" err="1">
                <a:solidFill>
                  <a:schemeClr val="tx1"/>
                </a:solidFill>
              </a:rPr>
              <a:t>Review</a:t>
            </a:r>
            <a:r>
              <a:rPr lang="es-MX" sz="1100" dirty="0">
                <a:solidFill>
                  <a:schemeClr val="tx1"/>
                </a:solidFill>
              </a:rPr>
              <a:t> </a:t>
            </a:r>
            <a:r>
              <a:rPr lang="es-MX" sz="1100" dirty="0" err="1">
                <a:solidFill>
                  <a:schemeClr val="tx1"/>
                </a:solidFill>
              </a:rPr>
              <a:t>of</a:t>
            </a:r>
            <a:r>
              <a:rPr lang="es-MX" sz="1100" dirty="0">
                <a:solidFill>
                  <a:schemeClr val="tx1"/>
                </a:solidFill>
              </a:rPr>
              <a:t>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Attacks</a:t>
            </a:r>
            <a:r>
              <a:rPr lang="es-MX" sz="1100" dirty="0">
                <a:solidFill>
                  <a:schemeClr val="tx1"/>
                </a:solidFill>
              </a:rPr>
              <a:t> in LLM-</a:t>
            </a:r>
            <a:r>
              <a:rPr lang="es-MX" sz="1100" dirty="0" err="1">
                <a:solidFill>
                  <a:schemeClr val="tx1"/>
                </a:solidFill>
              </a:rPr>
              <a:t>Integrated</a:t>
            </a:r>
            <a:r>
              <a:rPr lang="es-MX" sz="1100" dirty="0">
                <a:solidFill>
                  <a:schemeClr val="tx1"/>
                </a:solidFill>
              </a:rPr>
              <a:t> </a:t>
            </a:r>
            <a:r>
              <a:rPr lang="es-MX" sz="1100" dirty="0" err="1">
                <a:solidFill>
                  <a:schemeClr val="tx1"/>
                </a:solidFill>
              </a:rPr>
              <a:t>Systems</a:t>
            </a:r>
            <a:r>
              <a:rPr lang="es-MX" sz="1100" dirty="0">
                <a:solidFill>
                  <a:schemeClr val="tx1"/>
                </a:solidFill>
              </a:rPr>
              <a:t>. IEEE Access, 14, 86797–86818. </a:t>
            </a:r>
            <a:r>
              <a:rPr lang="es-MX" sz="1100" dirty="0">
                <a:solidFill>
                  <a:schemeClr val="tx1"/>
                </a:solidFill>
                <a:hlinkClick r:id="rId11"/>
              </a:rPr>
              <a:t>https://doi.org/10.1109/ACCESS.2026.3700492</a:t>
            </a:r>
            <a:r>
              <a:rPr lang="es-MX" sz="1100" dirty="0">
                <a:solidFill>
                  <a:schemeClr val="tx1"/>
                </a:solidFill>
              </a:rPr>
              <a:t> </a:t>
            </a:r>
            <a:endParaRPr lang="en-US" sz="1100" dirty="0"/>
          </a:p>
        </p:txBody>
      </p:sp>
      <p:sp>
        <p:nvSpPr>
          <p:cNvPr id="8" name="Google Shape;106;p14">
            <a:extLst>
              <a:ext uri="{FF2B5EF4-FFF2-40B4-BE49-F238E27FC236}">
                <a16:creationId xmlns:a16="http://schemas.microsoft.com/office/drawing/2014/main" id="{7AF87245-48FC-F83A-7BE9-738653A01881}"/>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678CAE23-794B-99A3-85A2-4283E1A0A800}"/>
              </a:ext>
            </a:extLst>
          </p:cNvPr>
          <p:cNvSpPr>
            <a:spLocks noGrp="1"/>
          </p:cNvSpPr>
          <p:nvPr>
            <p:ph type="sldNum" idx="12"/>
          </p:nvPr>
        </p:nvSpPr>
        <p:spPr>
          <a:xfrm>
            <a:off x="8100392" y="4594963"/>
            <a:ext cx="933084" cy="451406"/>
          </a:xfrm>
        </p:spPr>
        <p:txBody>
          <a:bodyPr/>
          <a:lstStyle/>
          <a:p>
            <a:pPr marL="0" lvl="0" indent="0" algn="r" rtl="0">
              <a:spcBef>
                <a:spcPts val="0"/>
              </a:spcBef>
              <a:spcAft>
                <a:spcPts val="0"/>
              </a:spcAft>
              <a:buNone/>
            </a:pPr>
            <a:r>
              <a:rPr lang="es-ES" dirty="0"/>
              <a:t>15</a:t>
            </a:r>
          </a:p>
        </p:txBody>
      </p:sp>
    </p:spTree>
    <p:extLst>
      <p:ext uri="{BB962C8B-B14F-4D97-AF65-F5344CB8AC3E}">
        <p14:creationId xmlns:p14="http://schemas.microsoft.com/office/powerpoint/2010/main" val="2775609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759B4-4D66-C0CE-571E-C4B0E0ABA1E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EC7760-8BF5-2EE1-2C07-9D592E6B8144}"/>
              </a:ext>
            </a:extLst>
          </p:cNvPr>
          <p:cNvSpPr>
            <a:spLocks noGrp="1"/>
          </p:cNvSpPr>
          <p:nvPr>
            <p:ph type="title"/>
          </p:nvPr>
        </p:nvSpPr>
        <p:spPr/>
        <p:txBody>
          <a:bodyPr/>
          <a:lstStyle/>
          <a:p>
            <a:r>
              <a:rPr lang="es-MX" noProof="0" dirty="0"/>
              <a:t>Facultad de Estadística e Informática</a:t>
            </a:r>
          </a:p>
        </p:txBody>
      </p:sp>
      <p:sp>
        <p:nvSpPr>
          <p:cNvPr id="4" name="Marcador de texto 3">
            <a:extLst>
              <a:ext uri="{FF2B5EF4-FFF2-40B4-BE49-F238E27FC236}">
                <a16:creationId xmlns:a16="http://schemas.microsoft.com/office/drawing/2014/main" id="{252AC7C0-F4D0-984F-612E-AA87CC1E436C}"/>
              </a:ext>
            </a:extLst>
          </p:cNvPr>
          <p:cNvSpPr>
            <a:spLocks noGrp="1"/>
          </p:cNvSpPr>
          <p:nvPr>
            <p:ph type="body" sz="half" idx="2"/>
          </p:nvPr>
        </p:nvSpPr>
        <p:spPr/>
        <p:txBody>
          <a:bodyPr/>
          <a:lstStyle/>
          <a:p>
            <a:r>
              <a:rPr lang="es-MX" noProof="0" dirty="0"/>
              <a:t>Región: Xalapa</a:t>
            </a:r>
          </a:p>
        </p:txBody>
      </p:sp>
      <p:sp>
        <p:nvSpPr>
          <p:cNvPr id="5" name="CuadroTexto 4">
            <a:extLst>
              <a:ext uri="{FF2B5EF4-FFF2-40B4-BE49-F238E27FC236}">
                <a16:creationId xmlns:a16="http://schemas.microsoft.com/office/drawing/2014/main" id="{564858B1-8C1D-0E9E-DC5C-AE93ADC0B898}"/>
              </a:ext>
            </a:extLst>
          </p:cNvPr>
          <p:cNvSpPr txBox="1"/>
          <p:nvPr/>
        </p:nvSpPr>
        <p:spPr>
          <a:xfrm>
            <a:off x="2699792" y="2198292"/>
            <a:ext cx="5307626" cy="2775696"/>
          </a:xfrm>
          <a:prstGeom prst="rect">
            <a:avLst/>
          </a:prstGeom>
          <a:noFill/>
        </p:spPr>
        <p:txBody>
          <a:bodyPr wrap="square" rtlCol="0">
            <a:spAutoFit/>
          </a:bodyPr>
          <a:lstStyle/>
          <a:p>
            <a:pPr algn="r">
              <a:lnSpc>
                <a:spcPts val="1100"/>
              </a:lnSpc>
            </a:pPr>
            <a:r>
              <a:rPr lang="es-MX" sz="900" noProof="0" dirty="0">
                <a:latin typeface="Gill Sans MT" panose="020B0502020104020203" pitchFamily="34" charset="0"/>
              </a:rPr>
              <a:t>Licenciatura en Ingeniería en Ciberseguridad e Infraestructura de Computo</a:t>
            </a:r>
          </a:p>
          <a:p>
            <a:pPr algn="r">
              <a:lnSpc>
                <a:spcPts val="1100"/>
              </a:lnSpc>
            </a:pPr>
            <a:endParaRPr lang="es-MX" sz="794" noProof="0" dirty="0">
              <a:latin typeface="Gill Sans MT" panose="020B0502020104020203" pitchFamily="34" charset="0"/>
            </a:endParaRPr>
          </a:p>
          <a:p>
            <a:pPr algn="r">
              <a:lnSpc>
                <a:spcPts val="1400"/>
              </a:lnSpc>
            </a:pPr>
            <a:r>
              <a:rPr lang="es-MX" sz="1200" noProof="0" dirty="0">
                <a:latin typeface="Gill Sans MT" panose="020B0502020104020203" pitchFamily="34" charset="0"/>
              </a:rPr>
              <a:t>Estado del arte de las medidas de seguridad a nivel de aplicación en el contexto de ataques de inyección de </a:t>
            </a:r>
            <a:r>
              <a:rPr lang="es-MX" sz="1200" i="1" noProof="0" dirty="0" err="1">
                <a:latin typeface="Gill Sans MT" panose="020B0502020104020203" pitchFamily="34" charset="0"/>
              </a:rPr>
              <a:t>prompt</a:t>
            </a:r>
            <a:r>
              <a:rPr lang="es-MX" sz="1200" noProof="0" dirty="0">
                <a:latin typeface="Gill Sans MT" panose="020B0502020104020203" pitchFamily="34" charset="0"/>
              </a:rPr>
              <a:t> dirigidos a sistemas basados en LLM</a:t>
            </a:r>
            <a:endParaRPr lang="es-MX" sz="926" noProof="0" dirty="0">
              <a:latin typeface="Gill Sans MT" panose="020B0502020104020203" pitchFamily="34" charset="0"/>
            </a:endParaRP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Presentación de avances para la EE Proyecto Guiado</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a:t>
            </a:r>
          </a:p>
          <a:p>
            <a:pPr marL="900430" algn="r">
              <a:lnSpc>
                <a:spcPct val="90909"/>
              </a:lnSpc>
              <a:spcAft>
                <a:spcPts val="1000"/>
              </a:spcAft>
              <a:buNone/>
            </a:pPr>
            <a:r>
              <a:rPr lang="es-MX" sz="900" b="1" noProof="0" dirty="0">
                <a:effectLst/>
                <a:latin typeface="Gill Sans MT" panose="020B0502020104020203" pitchFamily="34" charset="0"/>
                <a:ea typeface="Times New Roman" panose="02020603050405020304" pitchFamily="18" charset="0"/>
                <a:cs typeface="Times New Roman" panose="02020603050405020304" pitchFamily="18" charset="0"/>
              </a:rPr>
              <a:t>Abraham Núñez Sánchez</a:t>
            </a:r>
          </a:p>
          <a:p>
            <a:pPr algn="r">
              <a:lnSpc>
                <a:spcPts val="1100"/>
              </a:lnSpc>
            </a:pPr>
            <a:r>
              <a:rPr lang="es-MX" sz="900" noProof="0" dirty="0">
                <a:latin typeface="Gill Sans MT" panose="020B0502020104020203" pitchFamily="34" charset="0"/>
              </a:rPr>
              <a:t>Director:</a:t>
            </a:r>
          </a:p>
          <a:p>
            <a:pPr marL="900430" algn="r">
              <a:lnSpc>
                <a:spcPct val="90909"/>
              </a:lnSpc>
              <a:spcAft>
                <a:spcPts val="1000"/>
              </a:spcAft>
              <a:buNone/>
            </a:pPr>
            <a:r>
              <a:rPr lang="es-MX" sz="900" b="1" noProof="0" dirty="0">
                <a:latin typeface="Gill Sans MT" panose="020B0502020104020203" pitchFamily="34" charset="0"/>
                <a:ea typeface="Times New Roman" panose="02020603050405020304" pitchFamily="18" charset="0"/>
                <a:cs typeface="Times New Roman" panose="02020603050405020304" pitchFamily="18" charset="0"/>
              </a:rPr>
              <a:t>Héctor Xavier Limón Riaño</a:t>
            </a:r>
          </a:p>
          <a:p>
            <a:pPr algn="r">
              <a:lnSpc>
                <a:spcPts val="1100"/>
              </a:lnSpc>
            </a:pPr>
            <a:r>
              <a:rPr lang="es-MX" sz="900" noProof="0" dirty="0">
                <a:latin typeface="Gill Sans MT" panose="020B0502020104020203" pitchFamily="34" charset="0"/>
              </a:rPr>
              <a:t>Septiembre 2026</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“Lis de Veracruz: Arte, Ciencia, Luz</a:t>
            </a:r>
            <a:r>
              <a:rPr lang="es-MX" sz="794" noProof="0" dirty="0">
                <a:latin typeface="Gill Sans MT" panose="020B0502020104020203" pitchFamily="34" charset="0"/>
              </a:rPr>
              <a:t>”</a:t>
            </a:r>
          </a:p>
          <a:p>
            <a:pPr algn="r"/>
            <a:endParaRPr lang="es-MX" sz="794" b="1" noProof="0" dirty="0">
              <a:latin typeface="Gill Sans MT" panose="020B0502020104020203" pitchFamily="34" charset="0"/>
            </a:endParaRPr>
          </a:p>
          <a:p>
            <a:pPr algn="r"/>
            <a:endParaRPr lang="es-MX" sz="1838" noProof="0" dirty="0">
              <a:latin typeface="Gill Sans MT" panose="020B0502020104020203" pitchFamily="34" charset="0"/>
            </a:endParaRPr>
          </a:p>
        </p:txBody>
      </p:sp>
    </p:spTree>
    <p:extLst>
      <p:ext uri="{BB962C8B-B14F-4D97-AF65-F5344CB8AC3E}">
        <p14:creationId xmlns:p14="http://schemas.microsoft.com/office/powerpoint/2010/main" val="2946905072"/>
      </p:ext>
    </p:extLst>
  </p:cSld>
  <p:clrMapOvr>
    <a:masterClrMapping/>
  </p:clrMapOvr>
</p:sld>
</file>

<file path=ppt/theme/theme1.xml><?xml version="1.0" encoding="utf-8"?>
<a:theme xmlns:a="http://schemas.openxmlformats.org/drawingml/2006/main" name="3234 Portada facebook con fotografia_RGB">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ción1" id="{EA541A49-8E3F-42EC-BDEC-1E4DDBAD5F1A}" vid="{C711CBF6-4D2A-42B7-842F-7ED3AFEA8AC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3923 Presentacion PPT_16 a 9</Template>
  <TotalTime>2134</TotalTime>
  <Words>2225</Words>
  <Application>Microsoft Office PowerPoint</Application>
  <PresentationFormat>Presentación en pantalla (16:9)</PresentationFormat>
  <Paragraphs>136</Paragraphs>
  <Slides>17</Slides>
  <Notes>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Aptos</vt:lpstr>
      <vt:lpstr>Arial</vt:lpstr>
      <vt:lpstr>Calibri</vt:lpstr>
      <vt:lpstr>Gill Sans</vt:lpstr>
      <vt:lpstr>Gill Sans MT</vt:lpstr>
      <vt:lpstr>3234 Portada facebook con fotografia_RGB</vt:lpstr>
      <vt:lpstr>Facultad de Estadística e Informática</vt:lpstr>
      <vt:lpstr>Antecedentes (1/3) - Contexto</vt:lpstr>
      <vt:lpstr>Antecedentes (2/3) – Sistemas basados en LLM y la inyección de prompt</vt:lpstr>
      <vt:lpstr>Antecedentes (3/3) – Trabajos previos</vt:lpstr>
      <vt:lpstr>Problemática</vt:lpstr>
      <vt:lpstr>Presentación de PowerPoint</vt:lpstr>
      <vt:lpstr>Presentación de PowerPoint</vt:lpstr>
      <vt:lpstr>Presentación de PowerPoint</vt:lpstr>
      <vt:lpstr>Presentación de PowerPoint</vt:lpstr>
      <vt:lpstr>Presentación de PowerPoint</vt:lpstr>
      <vt:lpstr>Delimitación del trabajo</vt:lpstr>
      <vt:lpstr>Presentación de PowerPoint</vt:lpstr>
      <vt:lpstr>Método de investigación – Kitchenham</vt:lpstr>
      <vt:lpstr>Estructura del trabajo recepcional</vt:lpstr>
      <vt:lpstr>Cronograma</vt:lpstr>
      <vt:lpstr>Referencias</vt:lpstr>
      <vt:lpstr>Facultad de Estadística e Informática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abraham nuñez</dc:creator>
  <cp:lastModifiedBy>abraham nuñez</cp:lastModifiedBy>
  <cp:revision>14</cp:revision>
  <dcterms:created xsi:type="dcterms:W3CDTF">2026-09-19T18:18:39Z</dcterms:created>
  <dcterms:modified xsi:type="dcterms:W3CDTF">2026-09-21T07:23:50Z</dcterms:modified>
</cp:coreProperties>
</file>