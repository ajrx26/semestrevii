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274" r:id="rId2"/>
    <p:sldId id="275" r:id="rId3"/>
    <p:sldId id="285" r:id="rId4"/>
    <p:sldId id="289" r:id="rId5"/>
    <p:sldId id="288" r:id="rId6"/>
    <p:sldId id="258" r:id="rId7"/>
    <p:sldId id="286" r:id="rId8"/>
    <p:sldId id="259" r:id="rId9"/>
    <p:sldId id="282" r:id="rId10"/>
    <p:sldId id="283" r:id="rId11"/>
    <p:sldId id="277" r:id="rId12"/>
    <p:sldId id="278" r:id="rId13"/>
    <p:sldId id="284" r:id="rId14"/>
    <p:sldId id="261" r:id="rId15"/>
    <p:sldId id="287" r:id="rId16"/>
    <p:sldId id="262" r:id="rId17"/>
    <p:sldId id="263" r:id="rId18"/>
    <p:sldId id="264" r:id="rId19"/>
    <p:sldId id="279" r:id="rId20"/>
    <p:sldId id="280" r:id="rId21"/>
    <p:sldId id="266" r:id="rId22"/>
  </p:sldIdLst>
  <p:sldSz cx="9144000" cy="5143500" type="screen16x9"/>
  <p:notesSz cx="9144000" cy="6858000"/>
  <p:defaultTex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userDrawn="1">
          <p15:clr>
            <a:srgbClr val="A4A3A4"/>
          </p15:clr>
        </p15:guide>
        <p15:guide id="2" pos="288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28AD56"/>
    <a:srgbClr val="185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109" d="100"/>
          <a:sy n="109" d="100"/>
        </p:scale>
        <p:origin x="691" y="62"/>
      </p:cViewPr>
      <p:guideLst>
        <p:guide orient="horz" pos="1621"/>
        <p:guide pos="2881"/>
      </p:guideLst>
    </p:cSldViewPr>
  </p:slideViewPr>
  <p:notesTextViewPr>
    <p:cViewPr>
      <p:scale>
        <a:sx n="1" d="1"/>
        <a:sy n="1" d="1"/>
      </p:scale>
      <p:origin x="0" y="0"/>
    </p:cViewPr>
  </p:notesTextViewPr>
  <p:notesViewPr>
    <p:cSldViewPr showGuides="1">
      <p:cViewPr varScale="1">
        <p:scale>
          <a:sx n="117" d="100"/>
          <a:sy n="117" d="100"/>
        </p:scale>
        <p:origin x="235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E5E176A-4B59-5ECB-70D6-AED1657BAAA2}"/>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s-MX"/>
          </a:p>
        </p:txBody>
      </p:sp>
      <p:sp>
        <p:nvSpPr>
          <p:cNvPr id="3" name="Marcador de fecha 2">
            <a:extLst>
              <a:ext uri="{FF2B5EF4-FFF2-40B4-BE49-F238E27FC236}">
                <a16:creationId xmlns:a16="http://schemas.microsoft.com/office/drawing/2014/main" id="{8D7F7D82-3357-0EDE-7206-11B51E53925D}"/>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E97EE0EA-D68F-4DB7-A706-3E86C567C34E}" type="datetimeFigureOut">
              <a:rPr lang="es-MX" smtClean="0"/>
              <a:t>19/09/2026</a:t>
            </a:fld>
            <a:endParaRPr lang="es-MX"/>
          </a:p>
        </p:txBody>
      </p:sp>
      <p:sp>
        <p:nvSpPr>
          <p:cNvPr id="4" name="Marcador de pie de página 3">
            <a:extLst>
              <a:ext uri="{FF2B5EF4-FFF2-40B4-BE49-F238E27FC236}">
                <a16:creationId xmlns:a16="http://schemas.microsoft.com/office/drawing/2014/main" id="{51E07DF5-E02B-CE4F-4BE0-7A5A6B0C4546}"/>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a:extLst>
              <a:ext uri="{FF2B5EF4-FFF2-40B4-BE49-F238E27FC236}">
                <a16:creationId xmlns:a16="http://schemas.microsoft.com/office/drawing/2014/main" id="{8513B6C7-F7CA-FFDD-1AE2-27EBA688D8B6}"/>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CB2E2948-777C-45DE-ABAA-4C7DEF93A8B7}" type="slidenum">
              <a:rPr lang="es-MX" smtClean="0"/>
              <a:t>‹Nº›</a:t>
            </a:fld>
            <a:endParaRPr lang="es-MX"/>
          </a:p>
        </p:txBody>
      </p:sp>
    </p:spTree>
    <p:extLst>
      <p:ext uri="{BB962C8B-B14F-4D97-AF65-F5344CB8AC3E}">
        <p14:creationId xmlns:p14="http://schemas.microsoft.com/office/powerpoint/2010/main" val="230523626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649DCB8-392E-40F3-82B8-A61CDD22F42E}" type="datetimeFigureOut">
              <a:rPr lang="es-MX" smtClean="0"/>
              <a:t>19/09/2026</a:t>
            </a:fld>
            <a:endParaRPr lang="es-MX"/>
          </a:p>
        </p:txBody>
      </p:sp>
      <p:sp>
        <p:nvSpPr>
          <p:cNvPr id="4" name="Marcador de imagen de diapositiva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D7AC556-5F5F-4A49-B74B-479FE9160B00}" type="slidenum">
              <a:rPr lang="es-MX" smtClean="0"/>
              <a:t>‹Nº›</a:t>
            </a:fld>
            <a:endParaRPr lang="es-MX"/>
          </a:p>
        </p:txBody>
      </p:sp>
    </p:spTree>
    <p:extLst>
      <p:ext uri="{BB962C8B-B14F-4D97-AF65-F5344CB8AC3E}">
        <p14:creationId xmlns:p14="http://schemas.microsoft.com/office/powerpoint/2010/main" val="203240568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fb8bfecde3_0_18: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3fb8bfecde3_0_1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85E27570-93D9-41CE-BCAA-C36421E4613B}"/>
            </a:ext>
          </a:extLst>
        </p:cNvPr>
        <p:cNvGrpSpPr/>
        <p:nvPr/>
      </p:nvGrpSpPr>
      <p:grpSpPr>
        <a:xfrm>
          <a:off x="0" y="0"/>
          <a:ext cx="0" cy="0"/>
          <a:chOff x="0" y="0"/>
          <a:chExt cx="0" cy="0"/>
        </a:xfrm>
      </p:grpSpPr>
      <p:sp>
        <p:nvSpPr>
          <p:cNvPr id="68" name="Google Shape;68;g3fb8bfecde3_0_18:notes">
            <a:extLst>
              <a:ext uri="{FF2B5EF4-FFF2-40B4-BE49-F238E27FC236}">
                <a16:creationId xmlns:a16="http://schemas.microsoft.com/office/drawing/2014/main" id="{F40A2298-8D5C-F4A7-EE1C-D7A2AAB9254F}"/>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3fb8bfecde3_0_18:notes">
            <a:extLst>
              <a:ext uri="{FF2B5EF4-FFF2-40B4-BE49-F238E27FC236}">
                <a16:creationId xmlns:a16="http://schemas.microsoft.com/office/drawing/2014/main" id="{5AF337FB-C078-6C00-FB44-86EA60DFCD66}"/>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902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fb8bfecde3_0_34: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g3fb8bfecde3_0_3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410E1D33-E12D-A163-7927-59CF4C02FD6A}"/>
            </a:ext>
          </a:extLst>
        </p:cNvPr>
        <p:cNvGrpSpPr/>
        <p:nvPr/>
      </p:nvGrpSpPr>
      <p:grpSpPr>
        <a:xfrm>
          <a:off x="0" y="0"/>
          <a:ext cx="0" cy="0"/>
          <a:chOff x="0" y="0"/>
          <a:chExt cx="0" cy="0"/>
        </a:xfrm>
      </p:grpSpPr>
      <p:sp>
        <p:nvSpPr>
          <p:cNvPr id="94" name="Google Shape;94;p5:notes">
            <a:extLst>
              <a:ext uri="{FF2B5EF4-FFF2-40B4-BE49-F238E27FC236}">
                <a16:creationId xmlns:a16="http://schemas.microsoft.com/office/drawing/2014/main" id="{E81DE2E5-A549-8C42-A976-CBCF7EA1FC07}"/>
              </a:ext>
            </a:extLst>
          </p:cNvPr>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a:extLst>
              <a:ext uri="{FF2B5EF4-FFF2-40B4-BE49-F238E27FC236}">
                <a16:creationId xmlns:a16="http://schemas.microsoft.com/office/drawing/2014/main" id="{2FBE8FE0-44C8-7D7D-334C-FEA0ADD0B8FB}"/>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4634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fb8bfecde3_0_25: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g3fb8bfecde3_0_2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fb8bfecde3_0_43: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g3fb8bfecde3_0_4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C55A4A98-E1CE-FDF2-B8E3-9AF0D4F72477}"/>
            </a:ext>
          </a:extLst>
        </p:cNvPr>
        <p:cNvGrpSpPr/>
        <p:nvPr/>
      </p:nvGrpSpPr>
      <p:grpSpPr>
        <a:xfrm>
          <a:off x="0" y="0"/>
          <a:ext cx="0" cy="0"/>
          <a:chOff x="0" y="0"/>
          <a:chExt cx="0" cy="0"/>
        </a:xfrm>
      </p:grpSpPr>
      <p:sp>
        <p:nvSpPr>
          <p:cNvPr id="117" name="Google Shape;117;g3fb8bfecde3_0_43:notes">
            <a:extLst>
              <a:ext uri="{FF2B5EF4-FFF2-40B4-BE49-F238E27FC236}">
                <a16:creationId xmlns:a16="http://schemas.microsoft.com/office/drawing/2014/main" id="{50A54AB9-D85A-569F-DBD8-37D10F6A1E9B}"/>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g3fb8bfecde3_0_43:notes">
            <a:extLst>
              <a:ext uri="{FF2B5EF4-FFF2-40B4-BE49-F238E27FC236}">
                <a16:creationId xmlns:a16="http://schemas.microsoft.com/office/drawing/2014/main" id="{0376BC0F-43F2-B53F-503C-645596699022}"/>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88504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1847EFAD-1240-0CA5-3B71-B395ECE2AF04}"/>
            </a:ext>
          </a:extLst>
        </p:cNvPr>
        <p:cNvGrpSpPr/>
        <p:nvPr/>
      </p:nvGrpSpPr>
      <p:grpSpPr>
        <a:xfrm>
          <a:off x="0" y="0"/>
          <a:ext cx="0" cy="0"/>
          <a:chOff x="0" y="0"/>
          <a:chExt cx="0" cy="0"/>
        </a:xfrm>
      </p:grpSpPr>
      <p:sp>
        <p:nvSpPr>
          <p:cNvPr id="125" name="Google Shape;125;g3fb8bfecde3_0_51:notes">
            <a:extLst>
              <a:ext uri="{FF2B5EF4-FFF2-40B4-BE49-F238E27FC236}">
                <a16:creationId xmlns:a16="http://schemas.microsoft.com/office/drawing/2014/main" id="{E054ED64-FE6C-2D68-6F7D-ED36BD598B3D}"/>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fb8bfecde3_0_51:notes">
            <a:extLst>
              <a:ext uri="{FF2B5EF4-FFF2-40B4-BE49-F238E27FC236}">
                <a16:creationId xmlns:a16="http://schemas.microsoft.com/office/drawing/2014/main" id="{90714A51-B75E-EB9B-2756-E47A2FBB4314}"/>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5404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fb8bfecde3_0_58: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fb8bfecde3_0_5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11" name="4 Rectángulo"/>
          <p:cNvSpPr/>
          <p:nvPr userDrawn="1"/>
        </p:nvSpPr>
        <p:spPr>
          <a:xfrm>
            <a:off x="0" y="6694"/>
            <a:ext cx="9144000" cy="514455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74066" fontAlgn="auto">
              <a:spcBef>
                <a:spcPts val="0"/>
              </a:spcBef>
              <a:spcAft>
                <a:spcPts val="0"/>
              </a:spcAft>
              <a:defRPr/>
            </a:pPr>
            <a:endParaRPr lang="es-MX" sz="1323"/>
          </a:p>
        </p:txBody>
      </p:sp>
      <p:sp>
        <p:nvSpPr>
          <p:cNvPr id="2" name="1 Título"/>
          <p:cNvSpPr>
            <a:spLocks noGrp="1"/>
          </p:cNvSpPr>
          <p:nvPr>
            <p:ph type="title" hasCustomPrompt="1"/>
          </p:nvPr>
        </p:nvSpPr>
        <p:spPr>
          <a:xfrm>
            <a:off x="3523128" y="1609836"/>
            <a:ext cx="4484290" cy="142692"/>
          </a:xfrm>
        </p:spPr>
        <p:txBody>
          <a:bodyPr lIns="36000" tIns="0" anchor="t" anchorCtr="0">
            <a:noAutofit/>
          </a:bodyPr>
          <a:lstStyle>
            <a:lvl1pPr algn="r">
              <a:lnSpc>
                <a:spcPts val="800"/>
              </a:lnSpc>
              <a:defRPr sz="700" b="1" baseline="0">
                <a:solidFill>
                  <a:schemeClr val="tx1"/>
                </a:solidFill>
                <a:latin typeface="Gill Sans MT" panose="020B0502020104020203" pitchFamily="34" charset="0"/>
              </a:defRPr>
            </a:lvl1pPr>
          </a:lstStyle>
          <a:p>
            <a:r>
              <a:rPr lang="es-ES" dirty="0"/>
              <a:t>Haga clic aquí para escribir el nombre de la entidad académica</a:t>
            </a:r>
            <a:endParaRPr lang="es-MX" dirty="0"/>
          </a:p>
        </p:txBody>
      </p:sp>
      <p:sp>
        <p:nvSpPr>
          <p:cNvPr id="4" name="3 Marcador de texto"/>
          <p:cNvSpPr>
            <a:spLocks noGrp="1"/>
          </p:cNvSpPr>
          <p:nvPr>
            <p:ph type="body" sz="half" idx="2" hasCustomPrompt="1"/>
          </p:nvPr>
        </p:nvSpPr>
        <p:spPr>
          <a:xfrm>
            <a:off x="3529049" y="1877162"/>
            <a:ext cx="4484290" cy="190532"/>
          </a:xfrm>
        </p:spPr>
        <p:txBody>
          <a:bodyPr lIns="54000">
            <a:noAutofit/>
          </a:bodyPr>
          <a:lstStyle>
            <a:lvl1pPr marL="0" indent="0" algn="r">
              <a:lnSpc>
                <a:spcPts val="800"/>
              </a:lnSpc>
              <a:spcBef>
                <a:spcPts val="0"/>
              </a:spcBef>
              <a:buNone/>
              <a:defRPr sz="700" b="1" baseline="0">
                <a:solidFill>
                  <a:schemeClr val="tx1"/>
                </a:solidFill>
                <a:latin typeface="Gill Sans MT" panose="020B0502020104020203" pitchFamily="34" charset="0"/>
              </a:defRPr>
            </a:lvl1pPr>
            <a:lvl2pPr marL="149113" indent="0">
              <a:buNone/>
              <a:defRPr sz="392"/>
            </a:lvl2pPr>
            <a:lvl3pPr marL="298227" indent="0">
              <a:buNone/>
              <a:defRPr sz="326"/>
            </a:lvl3pPr>
            <a:lvl4pPr marL="447341" indent="0">
              <a:buNone/>
              <a:defRPr sz="294"/>
            </a:lvl4pPr>
            <a:lvl5pPr marL="596453" indent="0">
              <a:buNone/>
              <a:defRPr sz="294"/>
            </a:lvl5pPr>
            <a:lvl6pPr marL="745567" indent="0">
              <a:buNone/>
              <a:defRPr sz="294"/>
            </a:lvl6pPr>
            <a:lvl7pPr marL="894681" indent="0">
              <a:buNone/>
              <a:defRPr sz="294"/>
            </a:lvl7pPr>
            <a:lvl8pPr marL="1043795" indent="0">
              <a:buNone/>
              <a:defRPr sz="294"/>
            </a:lvl8pPr>
            <a:lvl9pPr marL="1192908" indent="0">
              <a:buNone/>
              <a:defRPr sz="294"/>
            </a:lvl9pPr>
          </a:lstStyle>
          <a:p>
            <a:pPr lvl="0"/>
            <a:r>
              <a:rPr lang="es-ES" dirty="0"/>
              <a:t>Haga clic aquí para escribir el nombre de la región</a:t>
            </a:r>
          </a:p>
        </p:txBody>
      </p:sp>
      <p:sp>
        <p:nvSpPr>
          <p:cNvPr id="14" name="Rectángulo 13"/>
          <p:cNvSpPr/>
          <p:nvPr userDrawn="1"/>
        </p:nvSpPr>
        <p:spPr>
          <a:xfrm>
            <a:off x="442039" y="-2"/>
            <a:ext cx="2425533" cy="3387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15" name="Rectángulo 14"/>
          <p:cNvSpPr/>
          <p:nvPr userDrawn="1"/>
        </p:nvSpPr>
        <p:spPr>
          <a:xfrm>
            <a:off x="343706" y="1290714"/>
            <a:ext cx="2425533" cy="518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18" name="Rectángulo 17"/>
          <p:cNvSpPr/>
          <p:nvPr userDrawn="1"/>
        </p:nvSpPr>
        <p:spPr>
          <a:xfrm rot="5400000">
            <a:off x="-552684" y="552692"/>
            <a:ext cx="1809624" cy="7042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20" name="Rectángulo 19"/>
          <p:cNvSpPr/>
          <p:nvPr userDrawn="1"/>
        </p:nvSpPr>
        <p:spPr>
          <a:xfrm rot="5400000">
            <a:off x="1872849" y="552691"/>
            <a:ext cx="1809624" cy="7042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pic>
        <p:nvPicPr>
          <p:cNvPr id="17" name="3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87862" y="298800"/>
            <a:ext cx="1482702" cy="1277372"/>
          </a:xfrm>
          <a:prstGeom prst="rect">
            <a:avLst/>
          </a:prstGeom>
        </p:spPr>
      </p:pic>
      <p:pic>
        <p:nvPicPr>
          <p:cNvPr id="19" name="1 Imagen"/>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859782"/>
            <a:ext cx="2789022" cy="2283717"/>
          </a:xfrm>
          <a:prstGeom prst="rect">
            <a:avLst/>
          </a:prstGeom>
        </p:spPr>
      </p:pic>
    </p:spTree>
    <p:extLst>
      <p:ext uri="{BB962C8B-B14F-4D97-AF65-F5344CB8AC3E}">
        <p14:creationId xmlns:p14="http://schemas.microsoft.com/office/powerpoint/2010/main" val="289928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3" name="1 Marcador de título"/>
          <p:cNvSpPr>
            <a:spLocks noGrp="1"/>
          </p:cNvSpPr>
          <p:nvPr>
            <p:ph type="title"/>
          </p:nvPr>
        </p:nvSpPr>
        <p:spPr>
          <a:xfrm>
            <a:off x="457202" y="685219"/>
            <a:ext cx="8229600" cy="342307"/>
          </a:xfrm>
          <a:prstGeom prst="rect">
            <a:avLst/>
          </a:prstGeom>
        </p:spPr>
        <p:txBody>
          <a:bodyPr vert="horz" lIns="91440" tIns="45720" rIns="91440" bIns="45720" rtlCol="0" anchor="ctr">
            <a:noAutofit/>
          </a:bodyPr>
          <a:lstStyle>
            <a:lvl1pPr>
              <a:lnSpc>
                <a:spcPts val="2600"/>
              </a:lnSpc>
              <a:defRPr sz="2200"/>
            </a:lvl1pPr>
          </a:lstStyle>
          <a:p>
            <a:r>
              <a:rPr lang="es-ES"/>
              <a:t>Haga clic para modificar el estilo de título del patrón</a:t>
            </a:r>
            <a:endParaRPr lang="es-MX" dirty="0"/>
          </a:p>
        </p:txBody>
      </p:sp>
      <p:sp>
        <p:nvSpPr>
          <p:cNvPr id="8" name="Marcador de texto 7"/>
          <p:cNvSpPr>
            <a:spLocks noGrp="1"/>
          </p:cNvSpPr>
          <p:nvPr>
            <p:ph type="body" sz="quarter" idx="10"/>
          </p:nvPr>
        </p:nvSpPr>
        <p:spPr>
          <a:xfrm>
            <a:off x="1228698" y="1190396"/>
            <a:ext cx="7458104" cy="3394472"/>
          </a:xfrm>
        </p:spPr>
        <p:txBody>
          <a:bodyPr/>
          <a:lstStyle/>
          <a:p>
            <a:pPr lvl="0"/>
            <a:r>
              <a:rPr lang="es-ES"/>
              <a:t>Haga clic para modificar los estilos de texto del patrón</a:t>
            </a:r>
          </a:p>
        </p:txBody>
      </p:sp>
    </p:spTree>
    <p:extLst>
      <p:ext uri="{BB962C8B-B14F-4D97-AF65-F5344CB8AC3E}">
        <p14:creationId xmlns:p14="http://schemas.microsoft.com/office/powerpoint/2010/main" val="952393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sp>
        <p:nvSpPr>
          <p:cNvPr id="3" name="1 Marcador de título"/>
          <p:cNvSpPr>
            <a:spLocks noGrp="1"/>
          </p:cNvSpPr>
          <p:nvPr>
            <p:ph type="title" hasCustomPrompt="1"/>
          </p:nvPr>
        </p:nvSpPr>
        <p:spPr>
          <a:xfrm>
            <a:off x="1202211" y="2070727"/>
            <a:ext cx="7458104" cy="429015"/>
          </a:xfrm>
          <a:prstGeom prst="rect">
            <a:avLst/>
          </a:prstGeom>
        </p:spPr>
        <p:txBody>
          <a:bodyPr vert="horz" lIns="91440" tIns="45720" rIns="91440" bIns="45720" rtlCol="0" anchor="ctr">
            <a:normAutofit/>
          </a:bodyPr>
          <a:lstStyle>
            <a:lvl1pPr algn="r">
              <a:lnSpc>
                <a:spcPts val="2300"/>
              </a:lnSpc>
              <a:defRPr sz="1900" baseline="0">
                <a:solidFill>
                  <a:schemeClr val="tx1">
                    <a:lumMod val="50000"/>
                    <a:lumOff val="50000"/>
                  </a:schemeClr>
                </a:solidFill>
              </a:defRPr>
            </a:lvl1pPr>
          </a:lstStyle>
          <a:p>
            <a:r>
              <a:rPr lang="es-ES" dirty="0"/>
              <a:t>Haga clic aquí para agregar el título</a:t>
            </a:r>
            <a:endParaRPr lang="es-MX" dirty="0"/>
          </a:p>
        </p:txBody>
      </p:sp>
      <p:sp>
        <p:nvSpPr>
          <p:cNvPr id="9" name="Marcador de texto 8"/>
          <p:cNvSpPr>
            <a:spLocks noGrp="1"/>
          </p:cNvSpPr>
          <p:nvPr>
            <p:ph type="body" sz="quarter" idx="10" hasCustomPrompt="1"/>
          </p:nvPr>
        </p:nvSpPr>
        <p:spPr>
          <a:xfrm>
            <a:off x="1202210" y="2464294"/>
            <a:ext cx="7457411" cy="821959"/>
          </a:xfrm>
        </p:spPr>
        <p:txBody>
          <a:bodyPr>
            <a:normAutofit/>
          </a:bodyPr>
          <a:lstStyle>
            <a:lvl1pPr algn="r">
              <a:lnSpc>
                <a:spcPts val="2600"/>
              </a:lnSpc>
              <a:defRPr sz="2200">
                <a:solidFill>
                  <a:schemeClr val="tx1"/>
                </a:solidFill>
              </a:defRPr>
            </a:lvl1pPr>
          </a:lstStyle>
          <a:p>
            <a:pPr lvl="0"/>
            <a:r>
              <a:rPr lang="es-ES" dirty="0"/>
              <a:t>Haga clic para agregar el subtítulo</a:t>
            </a:r>
          </a:p>
        </p:txBody>
      </p:sp>
      <p:pic>
        <p:nvPicPr>
          <p:cNvPr id="5" name="3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291830"/>
            <a:ext cx="2261378" cy="1851670"/>
          </a:xfrm>
          <a:prstGeom prst="rect">
            <a:avLst/>
          </a:prstGeom>
        </p:spPr>
      </p:pic>
    </p:spTree>
    <p:extLst>
      <p:ext uri="{BB962C8B-B14F-4D97-AF65-F5344CB8AC3E}">
        <p14:creationId xmlns:p14="http://schemas.microsoft.com/office/powerpoint/2010/main" val="1433037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11" name="Marcador de contenido 10"/>
          <p:cNvSpPr>
            <a:spLocks noGrp="1"/>
          </p:cNvSpPr>
          <p:nvPr>
            <p:ph sz="quarter" idx="14"/>
          </p:nvPr>
        </p:nvSpPr>
        <p:spPr>
          <a:xfrm>
            <a:off x="442762" y="1714367"/>
            <a:ext cx="4029604" cy="2865951"/>
          </a:xfrm>
        </p:spPr>
        <p:txBody>
          <a:bodyPr/>
          <a:lstStyle/>
          <a:p>
            <a:pPr lvl="0"/>
            <a:r>
              <a:rPr lang="es-ES"/>
              <a:t>Haga clic para modificar los estilos de texto del patrón</a:t>
            </a:r>
          </a:p>
        </p:txBody>
      </p:sp>
      <p:sp>
        <p:nvSpPr>
          <p:cNvPr id="13" name="Marcador de contenido 12"/>
          <p:cNvSpPr>
            <a:spLocks noGrp="1"/>
          </p:cNvSpPr>
          <p:nvPr>
            <p:ph sz="quarter" idx="15"/>
          </p:nvPr>
        </p:nvSpPr>
        <p:spPr>
          <a:xfrm>
            <a:off x="4703109" y="1714366"/>
            <a:ext cx="3866296" cy="2865951"/>
          </a:xfrm>
        </p:spPr>
        <p:txBody>
          <a:bodyPr/>
          <a:lstStyle/>
          <a:p>
            <a:pPr lvl="0"/>
            <a:r>
              <a:rPr lang="es-ES"/>
              <a:t>Haga clic para modificar los estilos de texto del patrón</a:t>
            </a:r>
          </a:p>
        </p:txBody>
      </p:sp>
      <p:sp>
        <p:nvSpPr>
          <p:cNvPr id="19" name="Marcador de texto 18"/>
          <p:cNvSpPr>
            <a:spLocks noGrp="1"/>
          </p:cNvSpPr>
          <p:nvPr>
            <p:ph type="body" sz="quarter" idx="16" hasCustomPrompt="1"/>
          </p:nvPr>
        </p:nvSpPr>
        <p:spPr>
          <a:xfrm>
            <a:off x="4703109" y="971007"/>
            <a:ext cx="3866297" cy="743359"/>
          </a:xfrm>
        </p:spPr>
        <p:txBody>
          <a:bodyPr/>
          <a:lstStyle>
            <a:lvl1pPr>
              <a:defRPr>
                <a:solidFill>
                  <a:schemeClr val="tx1"/>
                </a:solidFill>
              </a:defRPr>
            </a:lvl1pPr>
          </a:lstStyle>
          <a:p>
            <a:pPr lvl="0"/>
            <a:r>
              <a:rPr lang="es-ES" dirty="0"/>
              <a:t>Haga clic para modificar el estilo de título del patrón</a:t>
            </a:r>
          </a:p>
        </p:txBody>
      </p:sp>
      <p:sp>
        <p:nvSpPr>
          <p:cNvPr id="23" name="Marcador de texto 18"/>
          <p:cNvSpPr>
            <a:spLocks noGrp="1"/>
          </p:cNvSpPr>
          <p:nvPr>
            <p:ph type="body" sz="quarter" idx="17" hasCustomPrompt="1"/>
          </p:nvPr>
        </p:nvSpPr>
        <p:spPr>
          <a:xfrm>
            <a:off x="451207" y="971007"/>
            <a:ext cx="4021159" cy="743359"/>
          </a:xfrm>
        </p:spPr>
        <p:txBody>
          <a:bodyPr/>
          <a:lstStyle>
            <a:lvl1pPr>
              <a:defRPr>
                <a:solidFill>
                  <a:schemeClr val="tx1"/>
                </a:solidFill>
              </a:defRPr>
            </a:lvl1pPr>
          </a:lstStyle>
          <a:p>
            <a:pPr lvl="0"/>
            <a:r>
              <a:rPr lang="es-ES" dirty="0"/>
              <a:t>Haga clic para modificar el estilo de título del patrón</a:t>
            </a:r>
          </a:p>
        </p:txBody>
      </p:sp>
    </p:spTree>
    <p:extLst>
      <p:ext uri="{BB962C8B-B14F-4D97-AF65-F5344CB8AC3E}">
        <p14:creationId xmlns:p14="http://schemas.microsoft.com/office/powerpoint/2010/main" val="2726363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sp>
        <p:nvSpPr>
          <p:cNvPr id="4" name="Marcador de contenido 3"/>
          <p:cNvSpPr>
            <a:spLocks noGrp="1"/>
          </p:cNvSpPr>
          <p:nvPr>
            <p:ph sz="quarter" idx="10"/>
          </p:nvPr>
        </p:nvSpPr>
        <p:spPr>
          <a:xfrm>
            <a:off x="3719785" y="1476202"/>
            <a:ext cx="4851065" cy="3096664"/>
          </a:xfrm>
        </p:spPr>
        <p:txBody>
          <a:bodyPr/>
          <a:lstStyle>
            <a:lvl1pPr>
              <a:defRPr lang="es-ES" dirty="0" smtClean="0"/>
            </a:lvl1pPr>
          </a:lstStyle>
          <a:p>
            <a:pPr lvl="0"/>
            <a:r>
              <a:rPr lang="es-ES"/>
              <a:t>Haga clic para modificar los estilos de texto del patrón</a:t>
            </a:r>
          </a:p>
        </p:txBody>
      </p:sp>
      <p:sp>
        <p:nvSpPr>
          <p:cNvPr id="6" name="Marcador de texto 5"/>
          <p:cNvSpPr>
            <a:spLocks noGrp="1"/>
          </p:cNvSpPr>
          <p:nvPr>
            <p:ph type="body" sz="quarter" idx="11" hasCustomPrompt="1"/>
          </p:nvPr>
        </p:nvSpPr>
        <p:spPr>
          <a:xfrm>
            <a:off x="442769" y="904598"/>
            <a:ext cx="6425513" cy="571604"/>
          </a:xfrm>
        </p:spPr>
        <p:txBody>
          <a:bodyPr/>
          <a:lstStyle>
            <a:lvl1pPr>
              <a:defRPr b="0">
                <a:solidFill>
                  <a:schemeClr val="tx1"/>
                </a:solidFill>
              </a:defRPr>
            </a:lvl1pPr>
          </a:lstStyle>
          <a:p>
            <a:pPr lvl="0"/>
            <a:r>
              <a:rPr lang="es-ES" dirty="0"/>
              <a:t>Haga clic para modificar el estilo de título del patrón</a:t>
            </a:r>
          </a:p>
        </p:txBody>
      </p:sp>
      <p:sp>
        <p:nvSpPr>
          <p:cNvPr id="8" name="Marcador de texto 7"/>
          <p:cNvSpPr>
            <a:spLocks noGrp="1"/>
          </p:cNvSpPr>
          <p:nvPr>
            <p:ph type="body" sz="quarter" idx="12"/>
          </p:nvPr>
        </p:nvSpPr>
        <p:spPr>
          <a:xfrm>
            <a:off x="442039" y="1476203"/>
            <a:ext cx="3015844" cy="3096795"/>
          </a:xfrm>
        </p:spPr>
        <p:txBody>
          <a:bodyPr/>
          <a:lstStyle/>
          <a:p>
            <a:pPr lvl="0"/>
            <a:r>
              <a:rPr lang="es-ES"/>
              <a:t>Haga clic para modificar los estilos de texto del patrón</a:t>
            </a:r>
          </a:p>
        </p:txBody>
      </p:sp>
    </p:spTree>
    <p:extLst>
      <p:ext uri="{BB962C8B-B14F-4D97-AF65-F5344CB8AC3E}">
        <p14:creationId xmlns:p14="http://schemas.microsoft.com/office/powerpoint/2010/main" val="578621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17102" y="3917735"/>
            <a:ext cx="7920880" cy="288032"/>
          </a:xfrm>
        </p:spPr>
        <p:txBody>
          <a:bodyPr anchor="b" anchorCtr="0">
            <a:normAutofit/>
          </a:bodyPr>
          <a:lstStyle>
            <a:lvl1pPr algn="ctr">
              <a:lnSpc>
                <a:spcPts val="2100"/>
              </a:lnSpc>
              <a:defRPr sz="1900">
                <a:solidFill>
                  <a:schemeClr val="tx1"/>
                </a:solidFill>
              </a:defRPr>
            </a:lvl1pPr>
          </a:lstStyle>
          <a:p>
            <a:r>
              <a:rPr lang="es-ES" dirty="0"/>
              <a:t>Haga clic para agregar título</a:t>
            </a:r>
            <a:endParaRPr lang="es-MX" dirty="0"/>
          </a:p>
        </p:txBody>
      </p:sp>
      <p:sp>
        <p:nvSpPr>
          <p:cNvPr id="7" name="Marcador de posición de imagen 6"/>
          <p:cNvSpPr>
            <a:spLocks noGrp="1"/>
          </p:cNvSpPr>
          <p:nvPr>
            <p:ph type="pic" sz="quarter" idx="13"/>
          </p:nvPr>
        </p:nvSpPr>
        <p:spPr>
          <a:xfrm>
            <a:off x="1603047" y="932192"/>
            <a:ext cx="5939368" cy="2919372"/>
          </a:xfrm>
        </p:spPr>
        <p:txBody>
          <a:bodyPr/>
          <a:lstStyle>
            <a:lvl1pPr>
              <a:defRPr baseline="0"/>
            </a:lvl1pPr>
          </a:lstStyle>
          <a:p>
            <a:r>
              <a:rPr lang="es-ES"/>
              <a:t>Haga clic en el icono para agregar una imagen</a:t>
            </a:r>
            <a:endParaRPr lang="es-MX" dirty="0"/>
          </a:p>
        </p:txBody>
      </p:sp>
      <p:sp>
        <p:nvSpPr>
          <p:cNvPr id="9" name="Marcador de texto 8"/>
          <p:cNvSpPr>
            <a:spLocks noGrp="1"/>
          </p:cNvSpPr>
          <p:nvPr>
            <p:ph type="body" sz="quarter" idx="14" hasCustomPrompt="1"/>
          </p:nvPr>
        </p:nvSpPr>
        <p:spPr>
          <a:xfrm>
            <a:off x="611560" y="4299942"/>
            <a:ext cx="7920880" cy="277600"/>
          </a:xfrm>
        </p:spPr>
        <p:txBody>
          <a:bodyPr anchor="b" anchorCtr="0">
            <a:noAutofit/>
          </a:bodyPr>
          <a:lstStyle>
            <a:lvl1pPr algn="ctr">
              <a:lnSpc>
                <a:spcPts val="2200"/>
              </a:lnSpc>
              <a:defRPr/>
            </a:lvl1pPr>
          </a:lstStyle>
          <a:p>
            <a:pPr lvl="0"/>
            <a:r>
              <a:rPr lang="es-ES" dirty="0"/>
              <a:t>Haga clic para agregar texto</a:t>
            </a:r>
          </a:p>
        </p:txBody>
      </p:sp>
    </p:spTree>
    <p:extLst>
      <p:ext uri="{BB962C8B-B14F-4D97-AF65-F5344CB8AC3E}">
        <p14:creationId xmlns:p14="http://schemas.microsoft.com/office/powerpoint/2010/main" val="2660494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Diseño personalizado">
  <p:cSld name="5_Diseño personalizado">
    <p:spTree>
      <p:nvGrpSpPr>
        <p:cNvPr id="1" name="Shape 26"/>
        <p:cNvGrpSpPr/>
        <p:nvPr/>
      </p:nvGrpSpPr>
      <p:grpSpPr>
        <a:xfrm>
          <a:off x="0" y="0"/>
          <a:ext cx="0" cy="0"/>
          <a:chOff x="0" y="0"/>
          <a:chExt cx="0" cy="0"/>
        </a:xfrm>
      </p:grpSpPr>
      <p:sp>
        <p:nvSpPr>
          <p:cNvPr id="27" name="Google Shape;27;p3"/>
          <p:cNvSpPr txBox="1">
            <a:spLocks noGrp="1"/>
          </p:cNvSpPr>
          <p:nvPr>
            <p:ph type="title"/>
          </p:nvPr>
        </p:nvSpPr>
        <p:spPr>
          <a:xfrm>
            <a:off x="457202" y="685219"/>
            <a:ext cx="8229600" cy="342307"/>
          </a:xfrm>
          <a:prstGeom prst="rect">
            <a:avLst/>
          </a:prstGeom>
          <a:noFill/>
          <a:ln>
            <a:noFill/>
          </a:ln>
        </p:spPr>
        <p:txBody>
          <a:bodyPr spcFirstLastPara="1" wrap="square" lIns="91425" tIns="45700" rIns="91425" bIns="45700" anchor="ctr" anchorCtr="0">
            <a:noAutofit/>
          </a:bodyPr>
          <a:lstStyle>
            <a:lvl1pPr lvl="0" algn="l">
              <a:lnSpc>
                <a:spcPct val="118181"/>
              </a:lnSpc>
              <a:spcBef>
                <a:spcPts val="0"/>
              </a:spcBef>
              <a:spcAft>
                <a:spcPts val="0"/>
              </a:spcAft>
              <a:buClr>
                <a:schemeClr val="dk1"/>
              </a:buClr>
              <a:buSzPts val="2200"/>
              <a:buFont typeface="Gill Sans"/>
              <a:buNone/>
              <a:defRPr sz="2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
          <p:cNvSpPr txBox="1">
            <a:spLocks noGrp="1"/>
          </p:cNvSpPr>
          <p:nvPr>
            <p:ph type="body" idx="1"/>
          </p:nvPr>
        </p:nvSpPr>
        <p:spPr>
          <a:xfrm>
            <a:off x="1228698" y="1190396"/>
            <a:ext cx="7458104" cy="3394472"/>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713292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Diseño personalizado">
  <p:cSld name="6_Diseño personalizado">
    <p:spTree>
      <p:nvGrpSpPr>
        <p:cNvPr id="1" name="Shape 35"/>
        <p:cNvGrpSpPr/>
        <p:nvPr/>
      </p:nvGrpSpPr>
      <p:grpSpPr>
        <a:xfrm>
          <a:off x="0" y="0"/>
          <a:ext cx="0" cy="0"/>
          <a:chOff x="0" y="0"/>
          <a:chExt cx="0" cy="0"/>
        </a:xfrm>
      </p:grpSpPr>
      <p:sp>
        <p:nvSpPr>
          <p:cNvPr id="36" name="Google Shape;36;p5"/>
          <p:cNvSpPr txBox="1">
            <a:spLocks noGrp="1"/>
          </p:cNvSpPr>
          <p:nvPr>
            <p:ph type="body" idx="1"/>
          </p:nvPr>
        </p:nvSpPr>
        <p:spPr>
          <a:xfrm>
            <a:off x="442762" y="1714367"/>
            <a:ext cx="4029604" cy="2865951"/>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 name="Google Shape;37;p5"/>
          <p:cNvSpPr txBox="1">
            <a:spLocks noGrp="1"/>
          </p:cNvSpPr>
          <p:nvPr>
            <p:ph type="body" idx="2"/>
          </p:nvPr>
        </p:nvSpPr>
        <p:spPr>
          <a:xfrm>
            <a:off x="4703109" y="1714366"/>
            <a:ext cx="3866296" cy="2865951"/>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 name="Google Shape;38;p5"/>
          <p:cNvSpPr txBox="1">
            <a:spLocks noGrp="1"/>
          </p:cNvSpPr>
          <p:nvPr>
            <p:ph type="body" idx="3"/>
          </p:nvPr>
        </p:nvSpPr>
        <p:spPr>
          <a:xfrm>
            <a:off x="4703109" y="971007"/>
            <a:ext cx="3866297" cy="743359"/>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chemeClr val="dk1"/>
              </a:buClr>
              <a:buSzPts val="1900"/>
              <a:buNone/>
              <a:defRPr>
                <a:solidFill>
                  <a:schemeClr val="dk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 name="Google Shape;39;p5"/>
          <p:cNvSpPr txBox="1">
            <a:spLocks noGrp="1"/>
          </p:cNvSpPr>
          <p:nvPr>
            <p:ph type="body" idx="4"/>
          </p:nvPr>
        </p:nvSpPr>
        <p:spPr>
          <a:xfrm>
            <a:off x="451207" y="971007"/>
            <a:ext cx="4021159" cy="743359"/>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chemeClr val="dk1"/>
              </a:buClr>
              <a:buSzPts val="1900"/>
              <a:buNone/>
              <a:defRPr>
                <a:solidFill>
                  <a:schemeClr val="dk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 name="Google Shape;40;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931521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_Diseño personalizado">
  <p:cSld name="7_Diseño personalizado">
    <p:spTree>
      <p:nvGrpSpPr>
        <p:cNvPr id="1" name="Shape 41"/>
        <p:cNvGrpSpPr/>
        <p:nvPr/>
      </p:nvGrpSpPr>
      <p:grpSpPr>
        <a:xfrm>
          <a:off x="0" y="0"/>
          <a:ext cx="0" cy="0"/>
          <a:chOff x="0" y="0"/>
          <a:chExt cx="0" cy="0"/>
        </a:xfrm>
      </p:grpSpPr>
      <p:sp>
        <p:nvSpPr>
          <p:cNvPr id="42" name="Google Shape;42;p6"/>
          <p:cNvSpPr txBox="1">
            <a:spLocks noGrp="1"/>
          </p:cNvSpPr>
          <p:nvPr>
            <p:ph type="body" idx="1"/>
          </p:nvPr>
        </p:nvSpPr>
        <p:spPr>
          <a:xfrm>
            <a:off x="3719785" y="1476202"/>
            <a:ext cx="4851065" cy="3096664"/>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rgbClr val="7F7F7F"/>
              </a:buClr>
              <a:buSzPts val="19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3" name="Google Shape;43;p6"/>
          <p:cNvSpPr txBox="1">
            <a:spLocks noGrp="1"/>
          </p:cNvSpPr>
          <p:nvPr>
            <p:ph type="body" idx="2"/>
          </p:nvPr>
        </p:nvSpPr>
        <p:spPr>
          <a:xfrm>
            <a:off x="442769" y="904598"/>
            <a:ext cx="6425513" cy="571604"/>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chemeClr val="dk1"/>
              </a:buClr>
              <a:buSzPts val="1900"/>
              <a:buNone/>
              <a:defRPr b="0">
                <a:solidFill>
                  <a:schemeClr val="dk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442039" y="1476203"/>
            <a:ext cx="3015844" cy="3096795"/>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5" name="Google Shape;45;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5311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seño personalizado">
  <p:cSld name="8_Diseño personalizado">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617102" y="3917735"/>
            <a:ext cx="7920880" cy="288032"/>
          </a:xfrm>
          <a:prstGeom prst="rect">
            <a:avLst/>
          </a:prstGeom>
          <a:noFill/>
          <a:ln>
            <a:noFill/>
          </a:ln>
        </p:spPr>
        <p:txBody>
          <a:bodyPr spcFirstLastPara="1" wrap="square" lIns="91425" tIns="45700" rIns="91425" bIns="45700" anchor="b" anchorCtr="0">
            <a:normAutofit/>
          </a:bodyPr>
          <a:lstStyle>
            <a:lvl1pPr lvl="0" algn="ctr">
              <a:lnSpc>
                <a:spcPct val="110526"/>
              </a:lnSpc>
              <a:spcBef>
                <a:spcPts val="0"/>
              </a:spcBef>
              <a:spcAft>
                <a:spcPts val="0"/>
              </a:spcAft>
              <a:buClr>
                <a:schemeClr val="dk1"/>
              </a:buClr>
              <a:buSzPts val="1900"/>
              <a:buFont typeface="Gill Sans"/>
              <a:buNone/>
              <a:defRPr sz="19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7"/>
          <p:cNvSpPr>
            <a:spLocks noGrp="1"/>
          </p:cNvSpPr>
          <p:nvPr>
            <p:ph type="pic" idx="2"/>
          </p:nvPr>
        </p:nvSpPr>
        <p:spPr>
          <a:xfrm>
            <a:off x="1603047" y="932192"/>
            <a:ext cx="5939368" cy="2919372"/>
          </a:xfrm>
          <a:prstGeom prst="rect">
            <a:avLst/>
          </a:prstGeom>
          <a:noFill/>
          <a:ln>
            <a:noFill/>
          </a:ln>
        </p:spPr>
      </p:sp>
      <p:sp>
        <p:nvSpPr>
          <p:cNvPr id="49" name="Google Shape;49;p7"/>
          <p:cNvSpPr txBox="1">
            <a:spLocks noGrp="1"/>
          </p:cNvSpPr>
          <p:nvPr>
            <p:ph type="body" idx="1"/>
          </p:nvPr>
        </p:nvSpPr>
        <p:spPr>
          <a:xfrm>
            <a:off x="611560" y="4299942"/>
            <a:ext cx="7920880" cy="277600"/>
          </a:xfrm>
          <a:prstGeom prst="rect">
            <a:avLst/>
          </a:prstGeom>
          <a:noFill/>
          <a:ln>
            <a:noFill/>
          </a:ln>
        </p:spPr>
        <p:txBody>
          <a:bodyPr spcFirstLastPara="1" wrap="square" lIns="91425" tIns="45700" rIns="91425" bIns="45700" anchor="b" anchorCtr="0">
            <a:noAutofit/>
          </a:bodyPr>
          <a:lstStyle>
            <a:lvl1pPr marL="457200" lvl="0" indent="-228600" algn="ctr">
              <a:lnSpc>
                <a:spcPct val="115789"/>
              </a:lnSpc>
              <a:spcBef>
                <a:spcPts val="380"/>
              </a:spcBef>
              <a:spcAft>
                <a:spcPts val="0"/>
              </a:spcAft>
              <a:buClr>
                <a:srgbClr val="7F7F7F"/>
              </a:buClr>
              <a:buSzPts val="19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0" name="Google Shape;50;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489595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2" y="685219"/>
            <a:ext cx="8229600" cy="342307"/>
          </a:xfrm>
          <a:prstGeom prst="rect">
            <a:avLst/>
          </a:prstGeom>
        </p:spPr>
        <p:txBody>
          <a:bodyPr vert="horz" lIns="91440" tIns="45720" rIns="91440" bIns="45720" rtlCol="0" anchor="ctr">
            <a:noAutofit/>
          </a:bodyPr>
          <a:lstStyle/>
          <a:p>
            <a:r>
              <a:rPr lang="es-ES" dirty="0"/>
              <a:t>Haga clic para modificar el estilo de título del patrón</a:t>
            </a:r>
            <a:endParaRPr lang="es-MX" dirty="0"/>
          </a:p>
        </p:txBody>
      </p:sp>
      <p:sp>
        <p:nvSpPr>
          <p:cNvPr id="3" name="2 Marcador de texto"/>
          <p:cNvSpPr>
            <a:spLocks noGrp="1"/>
          </p:cNvSpPr>
          <p:nvPr>
            <p:ph type="body" idx="1"/>
          </p:nvPr>
        </p:nvSpPr>
        <p:spPr>
          <a:xfrm>
            <a:off x="1228698" y="1200154"/>
            <a:ext cx="7458104" cy="3394472"/>
          </a:xfrm>
          <a:prstGeom prst="rect">
            <a:avLst/>
          </a:prstGeom>
        </p:spPr>
        <p:txBody>
          <a:bodyPr vert="horz" lIns="91440" tIns="45720" rIns="91440" bIns="45720" rtlCol="0">
            <a:normAutofit/>
          </a:bodyPr>
          <a:lstStyle/>
          <a:p>
            <a:pPr lvl="0"/>
            <a:r>
              <a:rPr lang="es-ES" dirty="0"/>
              <a:t>Haga clic para modificar el estilo de texto del patrón</a:t>
            </a:r>
          </a:p>
        </p:txBody>
      </p:sp>
      <p:cxnSp>
        <p:nvCxnSpPr>
          <p:cNvPr id="6" name="3 Conector recto"/>
          <p:cNvCxnSpPr/>
          <p:nvPr userDrawn="1"/>
        </p:nvCxnSpPr>
        <p:spPr>
          <a:xfrm>
            <a:off x="508238" y="483518"/>
            <a:ext cx="812752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1 Imagen"/>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6940273" y="275506"/>
            <a:ext cx="1664175" cy="108000"/>
          </a:xfrm>
          <a:prstGeom prst="rect">
            <a:avLst/>
          </a:prstGeom>
        </p:spPr>
      </p:pic>
    </p:spTree>
    <p:extLst>
      <p:ext uri="{BB962C8B-B14F-4D97-AF65-F5344CB8AC3E}">
        <p14:creationId xmlns:p14="http://schemas.microsoft.com/office/powerpoint/2010/main" val="18977673"/>
      </p:ext>
    </p:extLst>
  </p:cSld>
  <p:clrMap bg1="lt1" tx1="dk1" bg2="lt2" tx2="dk2" accent1="accent1" accent2="accent2" accent3="accent3" accent4="accent4" accent5="accent5" accent6="accent6" hlink="hlink" folHlink="folHlink"/>
  <p:sldLayoutIdLst>
    <p:sldLayoutId id="2147483657" r:id="rId1"/>
    <p:sldLayoutId id="2147483662" r:id="rId2"/>
    <p:sldLayoutId id="2147483661" r:id="rId3"/>
    <p:sldLayoutId id="2147483659" r:id="rId4"/>
    <p:sldLayoutId id="2147483663" r:id="rId5"/>
    <p:sldLayoutId id="2147483658" r:id="rId6"/>
    <p:sldLayoutId id="2147483664" r:id="rId7"/>
    <p:sldLayoutId id="2147483665" r:id="rId8"/>
    <p:sldLayoutId id="2147483666" r:id="rId9"/>
    <p:sldLayoutId id="2147483667" r:id="rId10"/>
  </p:sldLayoutIdLst>
  <p:hf hdr="0" ftr="0" dt="0"/>
  <p:txStyles>
    <p:title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p:titleStyle>
    <p:body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p:bodyStyle>
    <p:otherStyle>
      <a:defPPr>
        <a:defRPr lang="es-MX"/>
      </a:defPPr>
      <a:lvl1pPr marL="0" algn="l" defTabSz="298227" rtl="0" eaLnBrk="1" latinLnBrk="0" hangingPunct="1">
        <a:defRPr sz="587" kern="1200">
          <a:solidFill>
            <a:schemeClr val="tx1"/>
          </a:solidFill>
          <a:latin typeface="+mn-lt"/>
          <a:ea typeface="+mn-ea"/>
          <a:cs typeface="+mn-cs"/>
        </a:defRPr>
      </a:lvl1pPr>
      <a:lvl2pPr marL="149113" algn="l" defTabSz="298227" rtl="0" eaLnBrk="1" latinLnBrk="0" hangingPunct="1">
        <a:defRPr sz="587" kern="1200">
          <a:solidFill>
            <a:schemeClr val="tx1"/>
          </a:solidFill>
          <a:latin typeface="+mn-lt"/>
          <a:ea typeface="+mn-ea"/>
          <a:cs typeface="+mn-cs"/>
        </a:defRPr>
      </a:lvl2pPr>
      <a:lvl3pPr marL="298227" algn="l" defTabSz="298227" rtl="0" eaLnBrk="1" latinLnBrk="0" hangingPunct="1">
        <a:defRPr sz="587" kern="1200">
          <a:solidFill>
            <a:schemeClr val="tx1"/>
          </a:solidFill>
          <a:latin typeface="+mn-lt"/>
          <a:ea typeface="+mn-ea"/>
          <a:cs typeface="+mn-cs"/>
        </a:defRPr>
      </a:lvl3pPr>
      <a:lvl4pPr marL="447341" algn="l" defTabSz="298227" rtl="0" eaLnBrk="1" latinLnBrk="0" hangingPunct="1">
        <a:defRPr sz="587" kern="1200">
          <a:solidFill>
            <a:schemeClr val="tx1"/>
          </a:solidFill>
          <a:latin typeface="+mn-lt"/>
          <a:ea typeface="+mn-ea"/>
          <a:cs typeface="+mn-cs"/>
        </a:defRPr>
      </a:lvl4pPr>
      <a:lvl5pPr marL="596453" algn="l" defTabSz="298227" rtl="0" eaLnBrk="1" latinLnBrk="0" hangingPunct="1">
        <a:defRPr sz="587" kern="1200">
          <a:solidFill>
            <a:schemeClr val="tx1"/>
          </a:solidFill>
          <a:latin typeface="+mn-lt"/>
          <a:ea typeface="+mn-ea"/>
          <a:cs typeface="+mn-cs"/>
        </a:defRPr>
      </a:lvl5pPr>
      <a:lvl6pPr marL="745567" algn="l" defTabSz="298227" rtl="0" eaLnBrk="1" latinLnBrk="0" hangingPunct="1">
        <a:defRPr sz="587" kern="1200">
          <a:solidFill>
            <a:schemeClr val="tx1"/>
          </a:solidFill>
          <a:latin typeface="+mn-lt"/>
          <a:ea typeface="+mn-ea"/>
          <a:cs typeface="+mn-cs"/>
        </a:defRPr>
      </a:lvl6pPr>
      <a:lvl7pPr marL="894681" algn="l" defTabSz="298227" rtl="0" eaLnBrk="1" latinLnBrk="0" hangingPunct="1">
        <a:defRPr sz="587" kern="1200">
          <a:solidFill>
            <a:schemeClr val="tx1"/>
          </a:solidFill>
          <a:latin typeface="+mn-lt"/>
          <a:ea typeface="+mn-ea"/>
          <a:cs typeface="+mn-cs"/>
        </a:defRPr>
      </a:lvl7pPr>
      <a:lvl8pPr marL="1043795" algn="l" defTabSz="298227" rtl="0" eaLnBrk="1" latinLnBrk="0" hangingPunct="1">
        <a:defRPr sz="587" kern="1200">
          <a:solidFill>
            <a:schemeClr val="tx1"/>
          </a:solidFill>
          <a:latin typeface="+mn-lt"/>
          <a:ea typeface="+mn-ea"/>
          <a:cs typeface="+mn-cs"/>
        </a:defRPr>
      </a:lvl8pPr>
      <a:lvl9pPr marL="1192908" algn="l" defTabSz="298227" rtl="0" eaLnBrk="1" latinLnBrk="0" hangingPunct="1">
        <a:defRPr sz="58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noProof="0" dirty="0"/>
              <a:t>Facultad de Estadística e Informática</a:t>
            </a:r>
          </a:p>
        </p:txBody>
      </p:sp>
      <p:sp>
        <p:nvSpPr>
          <p:cNvPr id="4" name="Marcador de texto 3"/>
          <p:cNvSpPr>
            <a:spLocks noGrp="1"/>
          </p:cNvSpPr>
          <p:nvPr>
            <p:ph type="body" sz="half" idx="2"/>
          </p:nvPr>
        </p:nvSpPr>
        <p:spPr/>
        <p:txBody>
          <a:bodyPr/>
          <a:lstStyle/>
          <a:p>
            <a:r>
              <a:rPr lang="es-MX" noProof="0" dirty="0"/>
              <a:t>Región: Xalapa</a:t>
            </a:r>
          </a:p>
        </p:txBody>
      </p:sp>
      <p:sp>
        <p:nvSpPr>
          <p:cNvPr id="5" name="CuadroTexto 4"/>
          <p:cNvSpPr txBox="1"/>
          <p:nvPr/>
        </p:nvSpPr>
        <p:spPr>
          <a:xfrm>
            <a:off x="2699792" y="2198292"/>
            <a:ext cx="5307626" cy="2775696"/>
          </a:xfrm>
          <a:prstGeom prst="rect">
            <a:avLst/>
          </a:prstGeom>
          <a:noFill/>
        </p:spPr>
        <p:txBody>
          <a:bodyPr wrap="square" rtlCol="0">
            <a:spAutoFit/>
          </a:bodyPr>
          <a:lstStyle/>
          <a:p>
            <a:pPr algn="r">
              <a:lnSpc>
                <a:spcPts val="1100"/>
              </a:lnSpc>
            </a:pPr>
            <a:r>
              <a:rPr lang="es-MX" sz="900" noProof="0" dirty="0">
                <a:latin typeface="Gill Sans MT" panose="020B0502020104020203" pitchFamily="34" charset="0"/>
              </a:rPr>
              <a:t>Licenciatura en Ingeniería en Ciberseguridad e Infraestructura de Computo</a:t>
            </a:r>
          </a:p>
          <a:p>
            <a:pPr algn="r">
              <a:lnSpc>
                <a:spcPts val="1100"/>
              </a:lnSpc>
            </a:pPr>
            <a:endParaRPr lang="es-MX" sz="794" noProof="0" dirty="0">
              <a:latin typeface="Gill Sans MT" panose="020B0502020104020203" pitchFamily="34" charset="0"/>
            </a:endParaRPr>
          </a:p>
          <a:p>
            <a:pPr algn="r">
              <a:lnSpc>
                <a:spcPts val="1400"/>
              </a:lnSpc>
            </a:pPr>
            <a:r>
              <a:rPr lang="es-MX" sz="1200" noProof="0" dirty="0">
                <a:latin typeface="Gill Sans MT" panose="020B0502020104020203" pitchFamily="34" charset="0"/>
              </a:rPr>
              <a:t>Estado del arte de las medidas de seguridad a nivel de aplicación en el contexto de ataques de inyección de </a:t>
            </a:r>
            <a:r>
              <a:rPr lang="es-MX" sz="1200" i="1" noProof="0" dirty="0" err="1">
                <a:latin typeface="Gill Sans MT" panose="020B0502020104020203" pitchFamily="34" charset="0"/>
              </a:rPr>
              <a:t>prompt</a:t>
            </a:r>
            <a:r>
              <a:rPr lang="es-MX" sz="1200" noProof="0" dirty="0">
                <a:latin typeface="Gill Sans MT" panose="020B0502020104020203" pitchFamily="34" charset="0"/>
              </a:rPr>
              <a:t> dirigidos a sistemas basados en LLM</a:t>
            </a:r>
            <a:endParaRPr lang="es-MX" sz="926" noProof="0" dirty="0">
              <a:latin typeface="Gill Sans MT" panose="020B0502020104020203" pitchFamily="34" charset="0"/>
            </a:endParaRP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Presentación de avances para la EE Proyecto Guiado</a:t>
            </a: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Presenta:</a:t>
            </a:r>
          </a:p>
          <a:p>
            <a:pPr marL="900430" algn="r">
              <a:lnSpc>
                <a:spcPct val="90909"/>
              </a:lnSpc>
              <a:spcAft>
                <a:spcPts val="1000"/>
              </a:spcAft>
              <a:buNone/>
            </a:pPr>
            <a:r>
              <a:rPr lang="es-MX" sz="900" b="1" noProof="0" dirty="0">
                <a:effectLst/>
                <a:latin typeface="Gill Sans MT" panose="020B0502020104020203" pitchFamily="34" charset="0"/>
                <a:ea typeface="Times New Roman" panose="02020603050405020304" pitchFamily="18" charset="0"/>
                <a:cs typeface="Times New Roman" panose="02020603050405020304" pitchFamily="18" charset="0"/>
              </a:rPr>
              <a:t>Abraham Núñez Sánchez</a:t>
            </a:r>
          </a:p>
          <a:p>
            <a:pPr algn="r">
              <a:lnSpc>
                <a:spcPts val="1100"/>
              </a:lnSpc>
            </a:pPr>
            <a:r>
              <a:rPr lang="es-MX" sz="900" noProof="0" dirty="0">
                <a:latin typeface="Gill Sans MT" panose="020B0502020104020203" pitchFamily="34" charset="0"/>
              </a:rPr>
              <a:t>Presenta:</a:t>
            </a:r>
          </a:p>
          <a:p>
            <a:pPr marL="900430" algn="r">
              <a:lnSpc>
                <a:spcPct val="90909"/>
              </a:lnSpc>
              <a:spcAft>
                <a:spcPts val="1000"/>
              </a:spcAft>
              <a:buNone/>
            </a:pPr>
            <a:r>
              <a:rPr lang="es-MX" sz="900" b="1" noProof="0" dirty="0">
                <a:latin typeface="Gill Sans MT" panose="020B0502020104020203" pitchFamily="34" charset="0"/>
                <a:ea typeface="Times New Roman" panose="02020603050405020304" pitchFamily="18" charset="0"/>
                <a:cs typeface="Times New Roman" panose="02020603050405020304" pitchFamily="18" charset="0"/>
              </a:rPr>
              <a:t>Héctor Xavier Limón Riaño</a:t>
            </a:r>
          </a:p>
          <a:p>
            <a:pPr algn="r">
              <a:lnSpc>
                <a:spcPts val="1100"/>
              </a:lnSpc>
            </a:pPr>
            <a:r>
              <a:rPr lang="es-MX" sz="900" noProof="0" dirty="0">
                <a:latin typeface="Gill Sans MT" panose="020B0502020104020203" pitchFamily="34" charset="0"/>
              </a:rPr>
              <a:t>Septiembre 2026</a:t>
            </a: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“Lis de Veracruz: Arte, Ciencia, Luz</a:t>
            </a:r>
            <a:r>
              <a:rPr lang="es-MX" sz="794" noProof="0" dirty="0">
                <a:latin typeface="Gill Sans MT" panose="020B0502020104020203" pitchFamily="34" charset="0"/>
              </a:rPr>
              <a:t>”</a:t>
            </a:r>
          </a:p>
          <a:p>
            <a:pPr algn="r"/>
            <a:endParaRPr lang="es-MX" sz="794" b="1" noProof="0" dirty="0">
              <a:latin typeface="Gill Sans MT" panose="020B0502020104020203" pitchFamily="34" charset="0"/>
            </a:endParaRPr>
          </a:p>
          <a:p>
            <a:pPr algn="r"/>
            <a:endParaRPr lang="es-MX" sz="1838" noProof="0" dirty="0">
              <a:latin typeface="Gill Sans MT" panose="020B0502020104020203" pitchFamily="34" charset="0"/>
            </a:endParaRPr>
          </a:p>
        </p:txBody>
      </p:sp>
    </p:spTree>
    <p:extLst>
      <p:ext uri="{BB962C8B-B14F-4D97-AF65-F5344CB8AC3E}">
        <p14:creationId xmlns:p14="http://schemas.microsoft.com/office/powerpoint/2010/main" val="4101506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noProof="0" dirty="0"/>
              <a:t>Antecedentes (1/4) - Contexto</a:t>
            </a:r>
          </a:p>
        </p:txBody>
      </p:sp>
      <p:sp>
        <p:nvSpPr>
          <p:cNvPr id="3" name="Marcador de texto 2"/>
          <p:cNvSpPr>
            <a:spLocks noGrp="1"/>
          </p:cNvSpPr>
          <p:nvPr>
            <p:ph type="body" sz="quarter" idx="10"/>
          </p:nvPr>
        </p:nvSpPr>
        <p:spPr>
          <a:xfrm>
            <a:off x="457202" y="1190396"/>
            <a:ext cx="8229600" cy="3394472"/>
          </a:xfrm>
        </p:spPr>
        <p:txBody>
          <a:bodyPr>
            <a:normAutofit lnSpcReduction="10000"/>
          </a:bodyPr>
          <a:lstStyle/>
          <a:p>
            <a:pPr lvl="0">
              <a:lnSpc>
                <a:spcPct val="150000"/>
              </a:lnSpc>
            </a:pPr>
            <a:r>
              <a:rPr lang="es-MX" sz="1400" dirty="0">
                <a:solidFill>
                  <a:schemeClr val="tx1"/>
                </a:solidFill>
              </a:rPr>
              <a:t>- La ciberseguridad busca proteger la información y los sistemas frente a amenazas y ataques. </a:t>
            </a:r>
          </a:p>
          <a:p>
            <a:pPr lvl="0">
              <a:lnSpc>
                <a:spcPct val="150000"/>
              </a:lnSpc>
            </a:pPr>
            <a:r>
              <a:rPr lang="es-MX" sz="1400" dirty="0">
                <a:solidFill>
                  <a:schemeClr val="tx1"/>
                </a:solidFill>
              </a:rPr>
              <a:t>- La IA generativa, particularmente los modelos grandes de lenguaje (LLM), se ha incorporado en aplicaciones y servicios digitales. </a:t>
            </a:r>
          </a:p>
          <a:p>
            <a:pPr lvl="0">
              <a:lnSpc>
                <a:spcPct val="150000"/>
              </a:lnSpc>
            </a:pPr>
            <a:r>
              <a:rPr lang="es-MX" sz="1400" dirty="0">
                <a:solidFill>
                  <a:schemeClr val="tx1"/>
                </a:solidFill>
              </a:rPr>
              <a:t>- Los sistemas basados en LLM pueden integrar: </a:t>
            </a:r>
          </a:p>
          <a:p>
            <a:pPr marL="413759" lvl="1" indent="-171450">
              <a:lnSpc>
                <a:spcPct val="150000"/>
              </a:lnSpc>
              <a:buFont typeface="Arial" panose="020B0604020202020204" pitchFamily="34" charset="0"/>
              <a:buChar char="•"/>
            </a:pPr>
            <a:r>
              <a:rPr lang="es-MX" sz="1400" i="1" dirty="0" err="1">
                <a:solidFill>
                  <a:schemeClr val="tx1"/>
                </a:solidFill>
                <a:latin typeface="Gill Sans MT" panose="020B0502020104020203" pitchFamily="34" charset="0"/>
              </a:rPr>
              <a:t>Prompts</a:t>
            </a:r>
            <a:r>
              <a:rPr lang="es-MX" sz="1400" dirty="0">
                <a:solidFill>
                  <a:schemeClr val="tx1"/>
                </a:solidFill>
                <a:latin typeface="Gill Sans MT" panose="020B0502020104020203" pitchFamily="34" charset="0"/>
              </a:rPr>
              <a:t> e instrucciones. </a:t>
            </a:r>
          </a:p>
          <a:p>
            <a:pPr marL="413759" lvl="1" indent="-171450">
              <a:lnSpc>
                <a:spcPct val="150000"/>
              </a:lnSpc>
              <a:buFont typeface="Arial" panose="020B0604020202020204" pitchFamily="34" charset="0"/>
              <a:buChar char="•"/>
            </a:pPr>
            <a:r>
              <a:rPr lang="es-MX" sz="1400" dirty="0">
                <a:solidFill>
                  <a:schemeClr val="tx1"/>
                </a:solidFill>
                <a:latin typeface="Gill Sans MT" panose="020B0502020104020203" pitchFamily="34" charset="0"/>
              </a:rPr>
              <a:t>Entradas de usuarios. </a:t>
            </a:r>
          </a:p>
          <a:p>
            <a:pPr marL="413759" lvl="1" indent="-171450">
              <a:lnSpc>
                <a:spcPct val="150000"/>
              </a:lnSpc>
              <a:buFont typeface="Arial" panose="020B0604020202020204" pitchFamily="34" charset="0"/>
              <a:buChar char="•"/>
            </a:pPr>
            <a:r>
              <a:rPr lang="es-MX" sz="1400" dirty="0">
                <a:solidFill>
                  <a:schemeClr val="tx1"/>
                </a:solidFill>
                <a:latin typeface="Gill Sans MT" panose="020B0502020104020203" pitchFamily="34" charset="0"/>
              </a:rPr>
              <a:t>Documentos y fuentes externas. </a:t>
            </a:r>
          </a:p>
          <a:p>
            <a:pPr marL="413759" lvl="1" indent="-171450">
              <a:lnSpc>
                <a:spcPct val="150000"/>
              </a:lnSpc>
              <a:buFont typeface="Arial" panose="020B0604020202020204" pitchFamily="34" charset="0"/>
              <a:buChar char="•"/>
            </a:pPr>
            <a:r>
              <a:rPr lang="es-MX" sz="1400" dirty="0">
                <a:solidFill>
                  <a:schemeClr val="tx1"/>
                </a:solidFill>
                <a:latin typeface="Gill Sans MT" panose="020B0502020104020203" pitchFamily="34" charset="0"/>
              </a:rPr>
              <a:t>Herramientas y </a:t>
            </a:r>
            <a:r>
              <a:rPr lang="es-MX" sz="1400" dirty="0" err="1">
                <a:solidFill>
                  <a:schemeClr val="tx1"/>
                </a:solidFill>
                <a:latin typeface="Gill Sans MT" panose="020B0502020104020203" pitchFamily="34" charset="0"/>
              </a:rPr>
              <a:t>APIs</a:t>
            </a:r>
            <a:r>
              <a:rPr lang="es-MX" sz="1400" dirty="0">
                <a:solidFill>
                  <a:schemeClr val="tx1"/>
                </a:solidFill>
                <a:latin typeface="Gill Sans MT" panose="020B0502020104020203" pitchFamily="34" charset="0"/>
              </a:rPr>
              <a:t>. </a:t>
            </a:r>
          </a:p>
          <a:p>
            <a:pPr lvl="0">
              <a:lnSpc>
                <a:spcPct val="150000"/>
              </a:lnSpc>
            </a:pPr>
            <a:r>
              <a:rPr lang="es-MX" sz="1400" dirty="0">
                <a:solidFill>
                  <a:schemeClr val="tx1"/>
                </a:solidFill>
              </a:rPr>
              <a:t>Su uso se extiende a generación de contenido, análisis de información, programación, automatización y ciberseguridad. </a:t>
            </a:r>
          </a:p>
        </p:txBody>
      </p:sp>
      <p:sp>
        <p:nvSpPr>
          <p:cNvPr id="4" name="Google Shape;106;p14">
            <a:extLst>
              <a:ext uri="{FF2B5EF4-FFF2-40B4-BE49-F238E27FC236}">
                <a16:creationId xmlns:a16="http://schemas.microsoft.com/office/drawing/2014/main" id="{034923F8-E691-DF13-A1E0-4CC1BBE8BED6}"/>
              </a:ext>
            </a:extLst>
          </p:cNvPr>
          <p:cNvSpPr txBox="1">
            <a:spLocks/>
          </p:cNvSpPr>
          <p:nvPr/>
        </p:nvSpPr>
        <p:spPr>
          <a:xfrm>
            <a:off x="457197" y="4747750"/>
            <a:ext cx="8229600" cy="142800"/>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gn="r">
              <a:lnSpc>
                <a:spcPct val="116666"/>
              </a:lnSpc>
              <a:spcBef>
                <a:spcPts val="0"/>
              </a:spcBef>
              <a:buClr>
                <a:schemeClr val="dk1"/>
              </a:buClr>
              <a:buFont typeface="Arial"/>
              <a:buNone/>
            </a:pPr>
            <a:r>
              <a:rPr lang="es-MX" sz="1000"/>
              <a:t>​​Estado del arte de las medidas de seguridad a nivel de aplicación en el contexto de ataques de inyección de </a:t>
            </a:r>
            <a:r>
              <a:rPr lang="es-MX" sz="1000" i="1"/>
              <a:t>prompt</a:t>
            </a:r>
            <a:r>
              <a:rPr lang="es-MX" sz="1000"/>
              <a:t> dirigidos a sistemas basados en LLM​</a:t>
            </a:r>
          </a:p>
          <a:p>
            <a:pPr>
              <a:lnSpc>
                <a:spcPct val="114285"/>
              </a:lnSpc>
              <a:spcBef>
                <a:spcPts val="0"/>
              </a:spcBef>
              <a:buClr>
                <a:schemeClr val="dk1"/>
              </a:buClr>
              <a:buSzPts val="700"/>
              <a:buFont typeface="Gill Sans"/>
              <a:buNone/>
            </a:pPr>
            <a:endParaRPr lang="es-MX" sz="1000" dirty="0">
              <a:latin typeface="Arial"/>
              <a:ea typeface="Arial"/>
              <a:cs typeface="Arial"/>
              <a:sym typeface="Arial"/>
            </a:endParaRPr>
          </a:p>
        </p:txBody>
      </p:sp>
    </p:spTree>
    <p:extLst>
      <p:ext uri="{BB962C8B-B14F-4D97-AF65-F5344CB8AC3E}">
        <p14:creationId xmlns:p14="http://schemas.microsoft.com/office/powerpoint/2010/main" val="1353462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04B1B-6663-F415-83AF-CF4AEC14ED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327AE5-D6E1-A803-2173-04251AC94511}"/>
              </a:ext>
            </a:extLst>
          </p:cNvPr>
          <p:cNvSpPr>
            <a:spLocks noGrp="1"/>
          </p:cNvSpPr>
          <p:nvPr>
            <p:ph type="title"/>
          </p:nvPr>
        </p:nvSpPr>
        <p:spPr/>
        <p:txBody>
          <a:bodyPr/>
          <a:lstStyle/>
          <a:p>
            <a:r>
              <a:rPr lang="es-MX" b="1" noProof="0" dirty="0"/>
              <a:t>Antecedentes (2/4) – </a:t>
            </a:r>
            <a:r>
              <a:rPr lang="es-MX" b="1" i="1" noProof="0" dirty="0" err="1"/>
              <a:t>Prompt</a:t>
            </a:r>
            <a:r>
              <a:rPr lang="es-MX" b="1" i="1" noProof="0" dirty="0"/>
              <a:t> </a:t>
            </a:r>
            <a:r>
              <a:rPr lang="es-MX" b="1" i="1" noProof="0" dirty="0" err="1"/>
              <a:t>Injection</a:t>
            </a:r>
            <a:endParaRPr lang="es-MX" b="1" i="1" noProof="0" dirty="0"/>
          </a:p>
        </p:txBody>
      </p:sp>
      <p:sp>
        <p:nvSpPr>
          <p:cNvPr id="3" name="Marcador de texto 2">
            <a:extLst>
              <a:ext uri="{FF2B5EF4-FFF2-40B4-BE49-F238E27FC236}">
                <a16:creationId xmlns:a16="http://schemas.microsoft.com/office/drawing/2014/main" id="{DD440F4D-EDF2-8796-B49E-8C634C91D011}"/>
              </a:ext>
            </a:extLst>
          </p:cNvPr>
          <p:cNvSpPr>
            <a:spLocks noGrp="1"/>
          </p:cNvSpPr>
          <p:nvPr>
            <p:ph type="body" sz="quarter" idx="10"/>
          </p:nvPr>
        </p:nvSpPr>
        <p:spPr>
          <a:xfrm>
            <a:off x="457202" y="1190396"/>
            <a:ext cx="8229600" cy="3394472"/>
          </a:xfrm>
        </p:spPr>
        <p:txBody>
          <a:bodyPr>
            <a:normAutofit/>
          </a:bodyPr>
          <a:lstStyle/>
          <a:p>
            <a:pPr lvl="0"/>
            <a:r>
              <a:rPr lang="es-MX" sz="1400" dirty="0">
                <a:solidFill>
                  <a:schemeClr val="tx1"/>
                </a:solidFill>
              </a:rPr>
              <a:t>- Los ataques de </a:t>
            </a:r>
            <a:r>
              <a:rPr lang="es-MX" sz="1400" i="1" dirty="0" err="1">
                <a:solidFill>
                  <a:schemeClr val="tx1"/>
                </a:solidFill>
              </a:rPr>
              <a:t>prompt</a:t>
            </a:r>
            <a:r>
              <a:rPr lang="es-MX" sz="1400" i="1" dirty="0">
                <a:solidFill>
                  <a:schemeClr val="tx1"/>
                </a:solidFill>
              </a:rPr>
              <a:t> </a:t>
            </a:r>
            <a:r>
              <a:rPr lang="es-MX" sz="1400" i="1" dirty="0" err="1">
                <a:solidFill>
                  <a:schemeClr val="tx1"/>
                </a:solidFill>
              </a:rPr>
              <a:t>injection</a:t>
            </a:r>
            <a:r>
              <a:rPr lang="es-MX" sz="1400" i="1" dirty="0">
                <a:solidFill>
                  <a:schemeClr val="tx1"/>
                </a:solidFill>
              </a:rPr>
              <a:t> </a:t>
            </a:r>
            <a:r>
              <a:rPr lang="es-MX" sz="1400" dirty="0">
                <a:solidFill>
                  <a:schemeClr val="tx1"/>
                </a:solidFill>
              </a:rPr>
              <a:t>explotan la forma en que los sistemas procesan instrucciones y datos dentro de un mismo contexto.</a:t>
            </a:r>
          </a:p>
          <a:p>
            <a:pPr lvl="0"/>
            <a:endParaRPr lang="es-MX" sz="1400" dirty="0">
              <a:solidFill>
                <a:schemeClr val="tx1"/>
              </a:solidFill>
            </a:endParaRPr>
          </a:p>
          <a:p>
            <a:pPr lvl="0"/>
            <a:r>
              <a:rPr lang="es-MX" sz="1400" dirty="0">
                <a:solidFill>
                  <a:schemeClr val="tx1"/>
                </a:solidFill>
              </a:rPr>
              <a:t>- Se distinguen principalmente: </a:t>
            </a:r>
          </a:p>
          <a:p>
            <a:pPr marL="528059" lvl="1" indent="-285750">
              <a:lnSpc>
                <a:spcPct val="150000"/>
              </a:lnSpc>
              <a:buFont typeface="Arial" panose="020B0604020202020204" pitchFamily="34" charset="0"/>
              <a:buChar char="•"/>
            </a:pPr>
            <a:r>
              <a:rPr lang="es-MX" sz="1400" dirty="0">
                <a:solidFill>
                  <a:schemeClr val="tx1"/>
                </a:solidFill>
                <a:latin typeface="Gill Sans MT" panose="020B0502020104020203" pitchFamily="34" charset="0"/>
              </a:rPr>
              <a:t>Inyección directa: el atacante introduce directamente instrucciones maliciosas mediante la entrada al sistema. </a:t>
            </a:r>
          </a:p>
          <a:p>
            <a:pPr marL="528059" lvl="1" indent="-285750">
              <a:lnSpc>
                <a:spcPct val="150000"/>
              </a:lnSpc>
              <a:buFont typeface="Arial" panose="020B0604020202020204" pitchFamily="34" charset="0"/>
              <a:buChar char="•"/>
            </a:pPr>
            <a:r>
              <a:rPr lang="es-MX" sz="1400" dirty="0">
                <a:solidFill>
                  <a:schemeClr val="tx1"/>
                </a:solidFill>
                <a:latin typeface="Gill Sans MT" panose="020B0502020104020203" pitchFamily="34" charset="0"/>
              </a:rPr>
              <a:t>Inyección indirecta: las instrucciones maliciosas provienen de recursos externos, como documentos o páginas web. </a:t>
            </a:r>
          </a:p>
        </p:txBody>
      </p:sp>
      <p:sp>
        <p:nvSpPr>
          <p:cNvPr id="4" name="Google Shape;106;p14">
            <a:extLst>
              <a:ext uri="{FF2B5EF4-FFF2-40B4-BE49-F238E27FC236}">
                <a16:creationId xmlns:a16="http://schemas.microsoft.com/office/drawing/2014/main" id="{084A2B68-3C7B-3995-5B45-D56CC906717D}"/>
              </a:ext>
            </a:extLst>
          </p:cNvPr>
          <p:cNvSpPr txBox="1">
            <a:spLocks/>
          </p:cNvSpPr>
          <p:nvPr/>
        </p:nvSpPr>
        <p:spPr>
          <a:xfrm>
            <a:off x="683568" y="4803998"/>
            <a:ext cx="8229600" cy="142800"/>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gn="r">
              <a:lnSpc>
                <a:spcPct val="116666"/>
              </a:lnSpc>
              <a:spcBef>
                <a:spcPts val="0"/>
              </a:spcBef>
              <a:buClr>
                <a:schemeClr val="dk1"/>
              </a:buClr>
              <a:buFont typeface="Arial"/>
              <a:buNone/>
            </a:pPr>
            <a:r>
              <a:rPr lang="es-MX" sz="1000" dirty="0"/>
              <a:t>​​Estado del arte de las medidas de seguridad a nivel de aplicación en el contexto de ataques de inyección de </a:t>
            </a:r>
            <a:r>
              <a:rPr lang="es-MX" sz="1000" i="1" dirty="0" err="1"/>
              <a:t>prompt</a:t>
            </a:r>
            <a:r>
              <a:rPr lang="es-MX" sz="1000" dirty="0"/>
              <a:t> dirigidos a sistemas basados en LLM​</a:t>
            </a:r>
          </a:p>
          <a:p>
            <a:pPr>
              <a:lnSpc>
                <a:spcPct val="114285"/>
              </a:lnSpc>
              <a:spcBef>
                <a:spcPts val="0"/>
              </a:spcBef>
              <a:buClr>
                <a:schemeClr val="dk1"/>
              </a:buClr>
              <a:buSzPts val="700"/>
              <a:buFont typeface="Gill Sans"/>
              <a:buNone/>
            </a:pPr>
            <a:endParaRPr lang="es-MX" sz="1000" dirty="0">
              <a:latin typeface="Arial"/>
              <a:ea typeface="Arial"/>
              <a:cs typeface="Arial"/>
              <a:sym typeface="Arial"/>
            </a:endParaRPr>
          </a:p>
        </p:txBody>
      </p:sp>
    </p:spTree>
    <p:extLst>
      <p:ext uri="{BB962C8B-B14F-4D97-AF65-F5344CB8AC3E}">
        <p14:creationId xmlns:p14="http://schemas.microsoft.com/office/powerpoint/2010/main" val="3156132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75B52-E624-264F-5FB3-01D9C9FFCCD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B83AE8-3A25-67F7-7DD1-388C1718EA0A}"/>
              </a:ext>
            </a:extLst>
          </p:cNvPr>
          <p:cNvSpPr>
            <a:spLocks noGrp="1"/>
          </p:cNvSpPr>
          <p:nvPr>
            <p:ph type="title"/>
          </p:nvPr>
        </p:nvSpPr>
        <p:spPr/>
        <p:txBody>
          <a:bodyPr/>
          <a:lstStyle/>
          <a:p>
            <a:r>
              <a:rPr lang="es-MX" b="1" noProof="0" dirty="0"/>
              <a:t>Antecedentes (3/4) – </a:t>
            </a:r>
            <a:r>
              <a:rPr lang="es-MX" b="1" i="1" noProof="0" dirty="0" err="1"/>
              <a:t>Prompt</a:t>
            </a:r>
            <a:r>
              <a:rPr lang="es-MX" b="1" i="1" noProof="0" dirty="0"/>
              <a:t> </a:t>
            </a:r>
            <a:r>
              <a:rPr lang="es-MX" b="1" i="1" noProof="0" dirty="0" err="1"/>
              <a:t>Injection</a:t>
            </a:r>
            <a:endParaRPr lang="es-MX" b="1" i="1" noProof="0" dirty="0"/>
          </a:p>
        </p:txBody>
      </p:sp>
      <p:sp>
        <p:nvSpPr>
          <p:cNvPr id="3" name="Marcador de texto 2">
            <a:extLst>
              <a:ext uri="{FF2B5EF4-FFF2-40B4-BE49-F238E27FC236}">
                <a16:creationId xmlns:a16="http://schemas.microsoft.com/office/drawing/2014/main" id="{0162FE2F-D4EA-C118-C31B-FC12D9C9A228}"/>
              </a:ext>
            </a:extLst>
          </p:cNvPr>
          <p:cNvSpPr>
            <a:spLocks noGrp="1"/>
          </p:cNvSpPr>
          <p:nvPr>
            <p:ph type="body" sz="quarter" idx="10"/>
          </p:nvPr>
        </p:nvSpPr>
        <p:spPr>
          <a:xfrm>
            <a:off x="457202" y="1190396"/>
            <a:ext cx="8229600" cy="2461474"/>
          </a:xfrm>
        </p:spPr>
        <p:txBody>
          <a:bodyPr>
            <a:normAutofit/>
          </a:bodyPr>
          <a:lstStyle/>
          <a:p>
            <a:pPr lvl="0">
              <a:lnSpc>
                <a:spcPct val="200000"/>
              </a:lnSpc>
            </a:pPr>
            <a:r>
              <a:rPr lang="es-MX" sz="1400" dirty="0">
                <a:solidFill>
                  <a:schemeClr val="tx1"/>
                </a:solidFill>
              </a:rPr>
              <a:t>- Una inyección puede provocar: </a:t>
            </a:r>
          </a:p>
          <a:p>
            <a:pPr marL="528059" lvl="1" indent="-285750">
              <a:lnSpc>
                <a:spcPct val="200000"/>
              </a:lnSpc>
              <a:buFont typeface="Arial" panose="020B0604020202020204" pitchFamily="34" charset="0"/>
              <a:buChar char="•"/>
            </a:pPr>
            <a:r>
              <a:rPr lang="es-MX" sz="1400" dirty="0">
                <a:solidFill>
                  <a:schemeClr val="tx1"/>
                </a:solidFill>
              </a:rPr>
              <a:t>Alteración del comportamiento del sistema. </a:t>
            </a:r>
          </a:p>
          <a:p>
            <a:pPr marL="528059" lvl="1" indent="-285750">
              <a:lnSpc>
                <a:spcPct val="200000"/>
              </a:lnSpc>
              <a:buFont typeface="Arial" panose="020B0604020202020204" pitchFamily="34" charset="0"/>
              <a:buChar char="•"/>
            </a:pPr>
            <a:r>
              <a:rPr lang="es-MX" sz="1400" dirty="0">
                <a:solidFill>
                  <a:schemeClr val="tx1"/>
                </a:solidFill>
              </a:rPr>
              <a:t>Revelación de información. </a:t>
            </a:r>
          </a:p>
          <a:p>
            <a:pPr marL="528059" lvl="1" indent="-285750">
              <a:lnSpc>
                <a:spcPct val="200000"/>
              </a:lnSpc>
              <a:buFont typeface="Arial" panose="020B0604020202020204" pitchFamily="34" charset="0"/>
              <a:buChar char="•"/>
            </a:pPr>
            <a:r>
              <a:rPr lang="es-MX" sz="1400" dirty="0">
                <a:solidFill>
                  <a:schemeClr val="tx1"/>
                </a:solidFill>
              </a:rPr>
              <a:t>Incumplimiento de instrucciones. </a:t>
            </a:r>
          </a:p>
          <a:p>
            <a:pPr marL="528059" lvl="1" indent="-285750">
              <a:lnSpc>
                <a:spcPct val="200000"/>
              </a:lnSpc>
              <a:buFont typeface="Arial" panose="020B0604020202020204" pitchFamily="34" charset="0"/>
              <a:buChar char="•"/>
            </a:pPr>
            <a:r>
              <a:rPr lang="es-MX" sz="1400" dirty="0">
                <a:solidFill>
                  <a:schemeClr val="tx1"/>
                </a:solidFill>
              </a:rPr>
              <a:t>Ejecución de acciones no previstas.</a:t>
            </a:r>
          </a:p>
        </p:txBody>
      </p:sp>
      <p:sp>
        <p:nvSpPr>
          <p:cNvPr id="4" name="Google Shape;106;p14">
            <a:extLst>
              <a:ext uri="{FF2B5EF4-FFF2-40B4-BE49-F238E27FC236}">
                <a16:creationId xmlns:a16="http://schemas.microsoft.com/office/drawing/2014/main" id="{6080DC54-1A13-421E-13CA-82CF33339821}"/>
              </a:ext>
            </a:extLst>
          </p:cNvPr>
          <p:cNvSpPr txBox="1">
            <a:spLocks/>
          </p:cNvSpPr>
          <p:nvPr/>
        </p:nvSpPr>
        <p:spPr>
          <a:xfrm>
            <a:off x="485339" y="4747738"/>
            <a:ext cx="8229600" cy="142800"/>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gn="r">
              <a:lnSpc>
                <a:spcPct val="116666"/>
              </a:lnSpc>
              <a:spcBef>
                <a:spcPts val="0"/>
              </a:spcBef>
              <a:buClr>
                <a:schemeClr val="dk1"/>
              </a:buClr>
              <a:buFont typeface="Arial"/>
              <a:buNone/>
            </a:pPr>
            <a:r>
              <a:rPr lang="es-MX" sz="1000" dirty="0"/>
              <a:t>​​Estado del arte de las medidas de seguridad a nivel de aplicación en el contexto de ataques de inyección de </a:t>
            </a:r>
            <a:r>
              <a:rPr lang="es-MX" sz="1000" i="1" dirty="0" err="1"/>
              <a:t>prompt</a:t>
            </a:r>
            <a:r>
              <a:rPr lang="es-MX" sz="1000" dirty="0"/>
              <a:t> dirigidos a sistemas basados en LLM​</a:t>
            </a:r>
          </a:p>
          <a:p>
            <a:pPr>
              <a:lnSpc>
                <a:spcPct val="114285"/>
              </a:lnSpc>
              <a:spcBef>
                <a:spcPts val="0"/>
              </a:spcBef>
              <a:buClr>
                <a:schemeClr val="dk1"/>
              </a:buClr>
              <a:buSzPts val="700"/>
              <a:buFont typeface="Gill Sans"/>
              <a:buNone/>
            </a:pPr>
            <a:endParaRPr lang="es-MX" sz="1000" dirty="0">
              <a:latin typeface="Arial"/>
              <a:ea typeface="Arial"/>
              <a:cs typeface="Arial"/>
              <a:sym typeface="Arial"/>
            </a:endParaRPr>
          </a:p>
        </p:txBody>
      </p:sp>
    </p:spTree>
    <p:extLst>
      <p:ext uri="{BB962C8B-B14F-4D97-AF65-F5344CB8AC3E}">
        <p14:creationId xmlns:p14="http://schemas.microsoft.com/office/powerpoint/2010/main" val="290177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A176C-0D7D-A5BB-7D79-94B1A1A188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A06524-9828-2ADD-5D32-25EE3A9B632A}"/>
              </a:ext>
            </a:extLst>
          </p:cNvPr>
          <p:cNvSpPr>
            <a:spLocks noGrp="1"/>
          </p:cNvSpPr>
          <p:nvPr>
            <p:ph type="title"/>
          </p:nvPr>
        </p:nvSpPr>
        <p:spPr/>
        <p:txBody>
          <a:bodyPr/>
          <a:lstStyle/>
          <a:p>
            <a:r>
              <a:rPr lang="es-MX" b="1" noProof="0" dirty="0"/>
              <a:t>Antecedentes (4/4) – Medidas a nivel de aplicación</a:t>
            </a:r>
          </a:p>
        </p:txBody>
      </p:sp>
      <p:sp>
        <p:nvSpPr>
          <p:cNvPr id="3" name="Marcador de texto 2">
            <a:extLst>
              <a:ext uri="{FF2B5EF4-FFF2-40B4-BE49-F238E27FC236}">
                <a16:creationId xmlns:a16="http://schemas.microsoft.com/office/drawing/2014/main" id="{063DAAC4-B7FD-C2B1-C764-F9AE51147718}"/>
              </a:ext>
            </a:extLst>
          </p:cNvPr>
          <p:cNvSpPr>
            <a:spLocks noGrp="1"/>
          </p:cNvSpPr>
          <p:nvPr>
            <p:ph type="body" sz="quarter" idx="10"/>
          </p:nvPr>
        </p:nvSpPr>
        <p:spPr>
          <a:xfrm>
            <a:off x="457202" y="1190396"/>
            <a:ext cx="8229600" cy="3109546"/>
          </a:xfrm>
        </p:spPr>
        <p:txBody>
          <a:bodyPr>
            <a:normAutofit fontScale="92500"/>
          </a:bodyPr>
          <a:lstStyle/>
          <a:p>
            <a:pPr lvl="0">
              <a:lnSpc>
                <a:spcPct val="150000"/>
              </a:lnSpc>
            </a:pPr>
            <a:r>
              <a:rPr lang="es-MX" sz="1400" dirty="0">
                <a:solidFill>
                  <a:schemeClr val="tx1"/>
                </a:solidFill>
              </a:rPr>
              <a:t>Las medidas de seguridad a nivel de aplicación:</a:t>
            </a:r>
          </a:p>
          <a:p>
            <a:pPr marL="285750" lvl="0" indent="-285750">
              <a:lnSpc>
                <a:spcPct val="150000"/>
              </a:lnSpc>
              <a:buFont typeface="Arial" panose="020B0604020202020204" pitchFamily="34" charset="0"/>
              <a:buChar char="•"/>
            </a:pPr>
            <a:r>
              <a:rPr lang="es-MX" sz="1400" dirty="0">
                <a:solidFill>
                  <a:schemeClr val="tx1"/>
                </a:solidFill>
              </a:rPr>
              <a:t>Actúan sobre la aplicación o plataforma que integra al LLM. </a:t>
            </a:r>
          </a:p>
          <a:p>
            <a:pPr marL="285750" lvl="0" indent="-285750">
              <a:lnSpc>
                <a:spcPct val="150000"/>
              </a:lnSpc>
              <a:buFont typeface="Arial" panose="020B0604020202020204" pitchFamily="34" charset="0"/>
              <a:buChar char="•"/>
            </a:pPr>
            <a:r>
              <a:rPr lang="es-MX" sz="1400" dirty="0">
                <a:solidFill>
                  <a:schemeClr val="tx1"/>
                </a:solidFill>
              </a:rPr>
              <a:t>No requieren modificar el entrenamiento ni la arquitectura interna del modelo.</a:t>
            </a:r>
          </a:p>
          <a:p>
            <a:pPr marL="285750" lvl="0" indent="-285750">
              <a:lnSpc>
                <a:spcPct val="150000"/>
              </a:lnSpc>
              <a:buFont typeface="Arial" panose="020B0604020202020204" pitchFamily="34" charset="0"/>
              <a:buChar char="•"/>
            </a:pPr>
            <a:endParaRPr lang="es-MX" sz="1400" dirty="0">
              <a:solidFill>
                <a:schemeClr val="tx1"/>
              </a:solidFill>
            </a:endParaRPr>
          </a:p>
          <a:p>
            <a:pPr lvl="0">
              <a:lnSpc>
                <a:spcPct val="150000"/>
              </a:lnSpc>
            </a:pPr>
            <a:r>
              <a:rPr lang="es-MX" sz="1400" dirty="0">
                <a:solidFill>
                  <a:schemeClr val="tx1"/>
                </a:solidFill>
              </a:rPr>
              <a:t>Ejemplos:</a:t>
            </a:r>
          </a:p>
          <a:p>
            <a:pPr marL="285750" lvl="0" indent="-285750">
              <a:lnSpc>
                <a:spcPct val="150000"/>
              </a:lnSpc>
              <a:buFont typeface="Arial" panose="020B0604020202020204" pitchFamily="34" charset="0"/>
              <a:buChar char="•"/>
            </a:pPr>
            <a:r>
              <a:rPr lang="es-MX" sz="1400" dirty="0">
                <a:solidFill>
                  <a:schemeClr val="tx1"/>
                </a:solidFill>
              </a:rPr>
              <a:t>Procesamiento y filtrado de entradas. </a:t>
            </a:r>
          </a:p>
          <a:p>
            <a:pPr marL="285750" lvl="0" indent="-285750">
              <a:lnSpc>
                <a:spcPct val="150000"/>
              </a:lnSpc>
              <a:buFont typeface="Arial" panose="020B0604020202020204" pitchFamily="34" charset="0"/>
              <a:buChar char="•"/>
            </a:pPr>
            <a:r>
              <a:rPr lang="es-MX" sz="1400" dirty="0">
                <a:solidFill>
                  <a:schemeClr val="tx1"/>
                </a:solidFill>
              </a:rPr>
              <a:t>Detección de contenido malicioso. </a:t>
            </a:r>
          </a:p>
          <a:p>
            <a:pPr marL="285750" lvl="0" indent="-285750">
              <a:lnSpc>
                <a:spcPct val="150000"/>
              </a:lnSpc>
              <a:buFont typeface="Arial" panose="020B0604020202020204" pitchFamily="34" charset="0"/>
              <a:buChar char="•"/>
            </a:pPr>
            <a:r>
              <a:rPr lang="es-MX" sz="1400" dirty="0">
                <a:solidFill>
                  <a:schemeClr val="tx1"/>
                </a:solidFill>
              </a:rPr>
              <a:t>Validación de salidas. </a:t>
            </a:r>
          </a:p>
          <a:p>
            <a:pPr marL="285750" lvl="0" indent="-285750">
              <a:lnSpc>
                <a:spcPct val="150000"/>
              </a:lnSpc>
              <a:buFont typeface="Arial" panose="020B0604020202020204" pitchFamily="34" charset="0"/>
              <a:buChar char="•"/>
            </a:pPr>
            <a:r>
              <a:rPr lang="es-MX" sz="1400" dirty="0">
                <a:solidFill>
                  <a:schemeClr val="tx1"/>
                </a:solidFill>
              </a:rPr>
              <a:t>Monitoreo y registro. </a:t>
            </a:r>
          </a:p>
          <a:p>
            <a:pPr lvl="0"/>
            <a:endParaRPr lang="es-MX" sz="1400" dirty="0">
              <a:solidFill>
                <a:schemeClr val="tx1"/>
              </a:solidFill>
            </a:endParaRPr>
          </a:p>
        </p:txBody>
      </p:sp>
      <p:sp>
        <p:nvSpPr>
          <p:cNvPr id="4" name="Google Shape;106;p14">
            <a:extLst>
              <a:ext uri="{FF2B5EF4-FFF2-40B4-BE49-F238E27FC236}">
                <a16:creationId xmlns:a16="http://schemas.microsoft.com/office/drawing/2014/main" id="{74708853-41FC-96D5-94F5-5B1BF11687F3}"/>
              </a:ext>
            </a:extLst>
          </p:cNvPr>
          <p:cNvSpPr txBox="1">
            <a:spLocks/>
          </p:cNvSpPr>
          <p:nvPr/>
        </p:nvSpPr>
        <p:spPr>
          <a:xfrm>
            <a:off x="457197" y="4747750"/>
            <a:ext cx="8229600" cy="142800"/>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gn="r">
              <a:lnSpc>
                <a:spcPct val="116666"/>
              </a:lnSpc>
              <a:spcBef>
                <a:spcPts val="0"/>
              </a:spcBef>
              <a:buClr>
                <a:schemeClr val="dk1"/>
              </a:buClr>
              <a:buFont typeface="Arial"/>
              <a:buNone/>
            </a:pPr>
            <a:r>
              <a:rPr lang="es-MX" sz="1000"/>
              <a:t>​​Estado del arte de las medidas de seguridad a nivel de aplicación en el contexto de ataques de inyección de </a:t>
            </a:r>
            <a:r>
              <a:rPr lang="es-MX" sz="1000" i="1"/>
              <a:t>prompt</a:t>
            </a:r>
            <a:r>
              <a:rPr lang="es-MX" sz="1000"/>
              <a:t> dirigidos a sistemas basados en LLM​</a:t>
            </a:r>
          </a:p>
          <a:p>
            <a:pPr>
              <a:lnSpc>
                <a:spcPct val="114285"/>
              </a:lnSpc>
              <a:spcBef>
                <a:spcPts val="0"/>
              </a:spcBef>
              <a:buClr>
                <a:schemeClr val="dk1"/>
              </a:buClr>
              <a:buSzPts val="700"/>
              <a:buFont typeface="Gill Sans"/>
              <a:buNone/>
            </a:pPr>
            <a:endParaRPr lang="es-MX" sz="1000" dirty="0">
              <a:latin typeface="Arial"/>
              <a:ea typeface="Arial"/>
              <a:cs typeface="Arial"/>
              <a:sym typeface="Arial"/>
            </a:endParaRPr>
          </a:p>
        </p:txBody>
      </p:sp>
    </p:spTree>
    <p:extLst>
      <p:ext uri="{BB962C8B-B14F-4D97-AF65-F5344CB8AC3E}">
        <p14:creationId xmlns:p14="http://schemas.microsoft.com/office/powerpoint/2010/main" val="632886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0"/>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r" rtl="0">
              <a:lnSpc>
                <a:spcPct val="118181"/>
              </a:lnSpc>
              <a:spcBef>
                <a:spcPts val="0"/>
              </a:spcBef>
              <a:spcAft>
                <a:spcPts val="0"/>
              </a:spcAft>
              <a:buClr>
                <a:schemeClr val="dk1"/>
              </a:buClr>
              <a:buSzPts val="2200"/>
              <a:buFont typeface="Gill Sans"/>
              <a:buNone/>
            </a:pPr>
            <a:r>
              <a:rPr lang="es-ES" b="1" dirty="0"/>
              <a:t>Problemática (1/2)</a:t>
            </a:r>
            <a:endParaRPr b="1" dirty="0"/>
          </a:p>
        </p:txBody>
      </p:sp>
      <p:sp>
        <p:nvSpPr>
          <p:cNvPr id="72" name="Google Shape;72;p10"/>
          <p:cNvSpPr txBox="1">
            <a:spLocks noGrp="1"/>
          </p:cNvSpPr>
          <p:nvPr>
            <p:ph type="body" idx="1"/>
          </p:nvPr>
        </p:nvSpPr>
        <p:spPr>
          <a:xfrm>
            <a:off x="457200" y="1190400"/>
            <a:ext cx="8229600" cy="33945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None/>
            </a:pPr>
            <a:r>
              <a:rPr lang="es-MX" sz="1300" dirty="0">
                <a:solidFill>
                  <a:schemeClr val="dk1"/>
                </a:solidFill>
              </a:rPr>
              <a:t>Los sistemas basados en LLM pueden combinar instrucciones confiables y entradas no confiables dentro de un mismo contexto. </a:t>
            </a:r>
          </a:p>
          <a:p>
            <a:pPr marL="0" lvl="0" indent="0" algn="just" rtl="0">
              <a:lnSpc>
                <a:spcPct val="150000"/>
              </a:lnSpc>
              <a:spcBef>
                <a:spcPts val="0"/>
              </a:spcBef>
              <a:spcAft>
                <a:spcPts val="0"/>
              </a:spcAft>
              <a:buNone/>
            </a:pPr>
            <a:endParaRPr lang="es-MX" sz="1300" dirty="0">
              <a:solidFill>
                <a:schemeClr val="dk1"/>
              </a:solidFill>
            </a:endParaRPr>
          </a:p>
          <a:p>
            <a:pPr marL="0" lvl="0" indent="0" algn="just" rtl="0">
              <a:lnSpc>
                <a:spcPct val="150000"/>
              </a:lnSpc>
              <a:spcBef>
                <a:spcPts val="0"/>
              </a:spcBef>
              <a:spcAft>
                <a:spcPts val="0"/>
              </a:spcAft>
            </a:pPr>
            <a:r>
              <a:rPr lang="es-MX" sz="1300" dirty="0">
                <a:solidFill>
                  <a:schemeClr val="dk1"/>
                </a:solidFill>
              </a:rPr>
              <a:t>Esto permite que contenido manipulado por un atacante influya en el comportamiento del sistema. </a:t>
            </a:r>
          </a:p>
          <a:p>
            <a:pPr marL="0" lvl="0" indent="0" algn="just" rtl="0">
              <a:lnSpc>
                <a:spcPct val="150000"/>
              </a:lnSpc>
              <a:spcBef>
                <a:spcPts val="0"/>
              </a:spcBef>
              <a:spcAft>
                <a:spcPts val="0"/>
              </a:spcAft>
            </a:pPr>
            <a:endParaRPr lang="es-MX" sz="1300" dirty="0">
              <a:solidFill>
                <a:schemeClr val="dk1"/>
              </a:solidFill>
            </a:endParaRPr>
          </a:p>
          <a:p>
            <a:pPr marL="0" lvl="0" indent="0" algn="just" rtl="0">
              <a:lnSpc>
                <a:spcPct val="150000"/>
              </a:lnSpc>
              <a:spcBef>
                <a:spcPts val="0"/>
              </a:spcBef>
              <a:spcAft>
                <a:spcPts val="0"/>
              </a:spcAft>
            </a:pPr>
            <a:r>
              <a:rPr lang="es-MX" sz="1300" dirty="0">
                <a:solidFill>
                  <a:schemeClr val="dk1"/>
                </a:solidFill>
              </a:rPr>
              <a:t>Se han propuesto diversas medidas de defensa, pero: </a:t>
            </a:r>
          </a:p>
          <a:p>
            <a:pPr marL="285750" lvl="0" indent="-285750" algn="just" rtl="0">
              <a:lnSpc>
                <a:spcPct val="150000"/>
              </a:lnSpc>
              <a:spcBef>
                <a:spcPts val="0"/>
              </a:spcBef>
              <a:spcAft>
                <a:spcPts val="0"/>
              </a:spcAft>
              <a:buFont typeface="Arial" panose="020B0604020202020204" pitchFamily="34" charset="0"/>
              <a:buChar char="•"/>
            </a:pPr>
            <a:r>
              <a:rPr lang="es-MX" sz="1300" dirty="0">
                <a:solidFill>
                  <a:schemeClr val="dk1"/>
                </a:solidFill>
              </a:rPr>
              <a:t>Actúan en diferentes componentes y etapas. </a:t>
            </a:r>
          </a:p>
          <a:p>
            <a:pPr marL="285750" lvl="0" indent="-285750" algn="just" rtl="0">
              <a:lnSpc>
                <a:spcPct val="150000"/>
              </a:lnSpc>
              <a:spcBef>
                <a:spcPts val="0"/>
              </a:spcBef>
              <a:spcAft>
                <a:spcPts val="0"/>
              </a:spcAft>
              <a:buFont typeface="Arial" panose="020B0604020202020204" pitchFamily="34" charset="0"/>
              <a:buChar char="•"/>
            </a:pPr>
            <a:r>
              <a:rPr lang="es-MX" sz="1300" dirty="0">
                <a:solidFill>
                  <a:schemeClr val="dk1"/>
                </a:solidFill>
              </a:rPr>
              <a:t>Utilizan mecanismos distintos. </a:t>
            </a:r>
          </a:p>
          <a:p>
            <a:pPr marL="285750" lvl="0" indent="-285750" algn="just" rtl="0">
              <a:lnSpc>
                <a:spcPct val="150000"/>
              </a:lnSpc>
              <a:spcBef>
                <a:spcPts val="0"/>
              </a:spcBef>
              <a:spcAft>
                <a:spcPts val="0"/>
              </a:spcAft>
              <a:buFont typeface="Arial" panose="020B0604020202020204" pitchFamily="34" charset="0"/>
              <a:buChar char="•"/>
            </a:pPr>
            <a:r>
              <a:rPr lang="es-MX" sz="1300" dirty="0">
                <a:solidFill>
                  <a:schemeClr val="dk1"/>
                </a:solidFill>
              </a:rPr>
              <a:t>Son evaluadas bajo diferentes escenarios y criterios. </a:t>
            </a:r>
          </a:p>
        </p:txBody>
      </p:sp>
      <p:sp>
        <p:nvSpPr>
          <p:cNvPr id="73" name="Google Shape;73;p10"/>
          <p:cNvSpPr txBox="1">
            <a:spLocks noGrp="1"/>
          </p:cNvSpPr>
          <p:nvPr>
            <p:ph type="title"/>
          </p:nvPr>
        </p:nvSpPr>
        <p:spPr>
          <a:xfrm>
            <a:off x="457197" y="4747750"/>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a:t>​​Estado del arte de las medidas de seguridad a nivel de aplicación en el contexto de ataques de inyección de prompt dirigidos a sistemas basados en LLM​</a:t>
            </a:r>
            <a:endParaRPr sz="1000"/>
          </a:p>
          <a:p>
            <a:pPr marL="0" lvl="0" indent="0" algn="l" rtl="0">
              <a:lnSpc>
                <a:spcPct val="114285"/>
              </a:lnSpc>
              <a:spcBef>
                <a:spcPts val="0"/>
              </a:spcBef>
              <a:spcAft>
                <a:spcPts val="0"/>
              </a:spcAft>
              <a:buClr>
                <a:schemeClr val="dk1"/>
              </a:buClr>
              <a:buSzPts val="700"/>
              <a:buFont typeface="Gill Sans"/>
              <a:buNone/>
            </a:pPr>
            <a:endParaRPr sz="1000">
              <a:latin typeface="Arial"/>
              <a:ea typeface="Arial"/>
              <a:cs typeface="Arial"/>
              <a:sym typeface="Arial"/>
            </a:endParaRPr>
          </a:p>
        </p:txBody>
      </p:sp>
      <p:sp>
        <p:nvSpPr>
          <p:cNvPr id="2" name="Marcador de número de diapositiva 1">
            <a:extLst>
              <a:ext uri="{FF2B5EF4-FFF2-40B4-BE49-F238E27FC236}">
                <a16:creationId xmlns:a16="http://schemas.microsoft.com/office/drawing/2014/main" id="{217B1C14-8A6C-02B9-3ABF-7819CEBCBD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6</a:t>
            </a:fld>
            <a:endParaRPr lang="es-E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00437E06-6470-21ED-67DC-492F18847C17}"/>
            </a:ext>
          </a:extLst>
        </p:cNvPr>
        <p:cNvGrpSpPr/>
        <p:nvPr/>
      </p:nvGrpSpPr>
      <p:grpSpPr>
        <a:xfrm>
          <a:off x="0" y="0"/>
          <a:ext cx="0" cy="0"/>
          <a:chOff x="0" y="0"/>
          <a:chExt cx="0" cy="0"/>
        </a:xfrm>
      </p:grpSpPr>
      <p:sp>
        <p:nvSpPr>
          <p:cNvPr id="71" name="Google Shape;71;p10">
            <a:extLst>
              <a:ext uri="{FF2B5EF4-FFF2-40B4-BE49-F238E27FC236}">
                <a16:creationId xmlns:a16="http://schemas.microsoft.com/office/drawing/2014/main" id="{8FDE9970-F24F-05A0-0B5D-CC9BB7382490}"/>
              </a:ext>
            </a:extLst>
          </p:cNvPr>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r" rtl="0">
              <a:lnSpc>
                <a:spcPct val="118181"/>
              </a:lnSpc>
              <a:spcBef>
                <a:spcPts val="0"/>
              </a:spcBef>
              <a:spcAft>
                <a:spcPts val="0"/>
              </a:spcAft>
              <a:buClr>
                <a:schemeClr val="dk1"/>
              </a:buClr>
              <a:buSzPts val="2200"/>
              <a:buFont typeface="Gill Sans"/>
              <a:buNone/>
            </a:pPr>
            <a:r>
              <a:rPr lang="es-ES" b="1" dirty="0"/>
              <a:t>Problemática (1/2)</a:t>
            </a:r>
            <a:endParaRPr b="1" dirty="0"/>
          </a:p>
        </p:txBody>
      </p:sp>
      <p:sp>
        <p:nvSpPr>
          <p:cNvPr id="72" name="Google Shape;72;p10">
            <a:extLst>
              <a:ext uri="{FF2B5EF4-FFF2-40B4-BE49-F238E27FC236}">
                <a16:creationId xmlns:a16="http://schemas.microsoft.com/office/drawing/2014/main" id="{706EBD6F-8D5F-C43A-4424-E45EAE312955}"/>
              </a:ext>
            </a:extLst>
          </p:cNvPr>
          <p:cNvSpPr txBox="1">
            <a:spLocks noGrp="1"/>
          </p:cNvSpPr>
          <p:nvPr>
            <p:ph type="body" idx="1"/>
          </p:nvPr>
        </p:nvSpPr>
        <p:spPr>
          <a:xfrm>
            <a:off x="457200" y="1190400"/>
            <a:ext cx="8229600" cy="3394500"/>
          </a:xfrm>
          <a:prstGeom prst="rect">
            <a:avLst/>
          </a:prstGeom>
          <a:noFill/>
          <a:ln>
            <a:noFill/>
          </a:ln>
        </p:spPr>
        <p:txBody>
          <a:bodyPr spcFirstLastPara="1" wrap="square" lIns="91425" tIns="45700" rIns="91425" bIns="45700" anchor="t" anchorCtr="0">
            <a:normAutofit/>
          </a:bodyPr>
          <a:lstStyle/>
          <a:p>
            <a:pPr marL="0" lvl="0" indent="0" algn="just">
              <a:lnSpc>
                <a:spcPct val="150000"/>
              </a:lnSpc>
              <a:spcBef>
                <a:spcPts val="0"/>
              </a:spcBef>
            </a:pPr>
            <a:r>
              <a:rPr lang="es-MX" sz="1400" dirty="0">
                <a:solidFill>
                  <a:schemeClr val="tx1"/>
                </a:solidFill>
              </a:rPr>
              <a:t>Las defensas pueden presentar compromisos entre: </a:t>
            </a:r>
          </a:p>
          <a:p>
            <a:pPr marL="285750" lvl="0" indent="-285750" algn="just">
              <a:lnSpc>
                <a:spcPct val="150000"/>
              </a:lnSpc>
              <a:spcBef>
                <a:spcPts val="0"/>
              </a:spcBef>
              <a:buFont typeface="Arial" panose="020B0604020202020204" pitchFamily="34" charset="0"/>
              <a:buChar char="•"/>
            </a:pPr>
            <a:r>
              <a:rPr lang="es-MX" sz="1400" dirty="0">
                <a:solidFill>
                  <a:schemeClr val="tx1"/>
                </a:solidFill>
              </a:rPr>
              <a:t>Seguridad. </a:t>
            </a:r>
          </a:p>
          <a:p>
            <a:pPr marL="285750" lvl="0" indent="-285750" algn="just">
              <a:lnSpc>
                <a:spcPct val="150000"/>
              </a:lnSpc>
              <a:spcBef>
                <a:spcPts val="0"/>
              </a:spcBef>
              <a:buFont typeface="Arial" panose="020B0604020202020204" pitchFamily="34" charset="0"/>
              <a:buChar char="•"/>
            </a:pPr>
            <a:r>
              <a:rPr lang="es-MX" sz="1400" dirty="0">
                <a:solidFill>
                  <a:schemeClr val="tx1"/>
                </a:solidFill>
              </a:rPr>
              <a:t>Utilidad.</a:t>
            </a:r>
          </a:p>
          <a:p>
            <a:pPr marL="285750" lvl="0" indent="-285750" algn="just">
              <a:lnSpc>
                <a:spcPct val="150000"/>
              </a:lnSpc>
              <a:spcBef>
                <a:spcPts val="0"/>
              </a:spcBef>
              <a:buFont typeface="Arial" panose="020B0604020202020204" pitchFamily="34" charset="0"/>
              <a:buChar char="•"/>
            </a:pPr>
            <a:r>
              <a:rPr lang="es-MX" sz="1400" dirty="0">
                <a:solidFill>
                  <a:schemeClr val="tx1"/>
                </a:solidFill>
              </a:rPr>
              <a:t>Rendimiento. </a:t>
            </a:r>
          </a:p>
          <a:p>
            <a:pPr marL="285750" lvl="0" indent="-285750" algn="just">
              <a:lnSpc>
                <a:spcPct val="150000"/>
              </a:lnSpc>
              <a:spcBef>
                <a:spcPts val="0"/>
              </a:spcBef>
              <a:buFont typeface="Arial" panose="020B0604020202020204" pitchFamily="34" charset="0"/>
              <a:buChar char="•"/>
            </a:pPr>
            <a:r>
              <a:rPr lang="es-MX" sz="1400" dirty="0">
                <a:solidFill>
                  <a:schemeClr val="tx1"/>
                </a:solidFill>
              </a:rPr>
              <a:t>Costo.</a:t>
            </a:r>
          </a:p>
          <a:p>
            <a:pPr marL="285750" lvl="0" indent="-285750" algn="just">
              <a:lnSpc>
                <a:spcPct val="150000"/>
              </a:lnSpc>
              <a:spcBef>
                <a:spcPts val="0"/>
              </a:spcBef>
              <a:buFont typeface="Arial" panose="020B0604020202020204" pitchFamily="34" charset="0"/>
              <a:buChar char="•"/>
            </a:pPr>
            <a:r>
              <a:rPr lang="es-MX" sz="1400" dirty="0">
                <a:solidFill>
                  <a:schemeClr val="tx1"/>
                </a:solidFill>
              </a:rPr>
              <a:t>Latencia.</a:t>
            </a:r>
          </a:p>
          <a:p>
            <a:pPr marL="0" lvl="0" indent="0" algn="just">
              <a:lnSpc>
                <a:spcPct val="150000"/>
              </a:lnSpc>
              <a:spcBef>
                <a:spcPts val="0"/>
              </a:spcBef>
            </a:pPr>
            <a:endParaRPr lang="es-MX" sz="1400" dirty="0">
              <a:solidFill>
                <a:schemeClr val="tx1"/>
              </a:solidFill>
            </a:endParaRPr>
          </a:p>
          <a:p>
            <a:pPr marL="0" lvl="0" indent="0" algn="just">
              <a:lnSpc>
                <a:spcPct val="150000"/>
              </a:lnSpc>
              <a:spcBef>
                <a:spcPts val="0"/>
              </a:spcBef>
            </a:pPr>
            <a:r>
              <a:rPr lang="es-MX" sz="1400" b="1" dirty="0">
                <a:solidFill>
                  <a:schemeClr val="tx1"/>
                </a:solidFill>
              </a:rPr>
              <a:t>El conocimiento sobre las medidas de seguridad frente a </a:t>
            </a:r>
            <a:r>
              <a:rPr lang="es-MX" sz="1400" b="1" i="1" dirty="0" err="1">
                <a:solidFill>
                  <a:schemeClr val="tx1"/>
                </a:solidFill>
              </a:rPr>
              <a:t>prompt</a:t>
            </a:r>
            <a:r>
              <a:rPr lang="es-MX" sz="1400" b="1" i="1" dirty="0">
                <a:solidFill>
                  <a:schemeClr val="tx1"/>
                </a:solidFill>
              </a:rPr>
              <a:t> </a:t>
            </a:r>
            <a:r>
              <a:rPr lang="es-MX" sz="1400" b="1" i="1" dirty="0" err="1">
                <a:solidFill>
                  <a:schemeClr val="tx1"/>
                </a:solidFill>
              </a:rPr>
              <a:t>injection</a:t>
            </a:r>
            <a:r>
              <a:rPr lang="es-MX" sz="1400" b="1" i="1" dirty="0">
                <a:solidFill>
                  <a:schemeClr val="tx1"/>
                </a:solidFill>
              </a:rPr>
              <a:t> </a:t>
            </a:r>
            <a:r>
              <a:rPr lang="es-MX" sz="1400" b="1" dirty="0">
                <a:solidFill>
                  <a:schemeClr val="tx1"/>
                </a:solidFill>
              </a:rPr>
              <a:t>se encuentra disperso, particularmente en aquellas que pueden implementarse a nivel de aplicación. </a:t>
            </a:r>
            <a:endParaRPr lang="es-MX" sz="1300" b="1" dirty="0">
              <a:solidFill>
                <a:schemeClr val="tx1"/>
              </a:solidFill>
            </a:endParaRPr>
          </a:p>
        </p:txBody>
      </p:sp>
      <p:sp>
        <p:nvSpPr>
          <p:cNvPr id="73" name="Google Shape;73;p10">
            <a:extLst>
              <a:ext uri="{FF2B5EF4-FFF2-40B4-BE49-F238E27FC236}">
                <a16:creationId xmlns:a16="http://schemas.microsoft.com/office/drawing/2014/main" id="{E14FC076-FC3E-0B4A-1D84-E2EBE3AE72B7}"/>
              </a:ext>
            </a:extLst>
          </p:cNvPr>
          <p:cNvSpPr txBox="1">
            <a:spLocks noGrp="1"/>
          </p:cNvSpPr>
          <p:nvPr>
            <p:ph type="title"/>
          </p:nvPr>
        </p:nvSpPr>
        <p:spPr>
          <a:xfrm>
            <a:off x="457197" y="4747750"/>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a:t>​​Estado del arte de las medidas de seguridad a nivel de aplicación en el contexto de ataques de inyección de prompt dirigidos a sistemas basados en LLM​</a:t>
            </a:r>
            <a:endParaRPr sz="1000"/>
          </a:p>
          <a:p>
            <a:pPr marL="0" lvl="0" indent="0" algn="l" rtl="0">
              <a:lnSpc>
                <a:spcPct val="114285"/>
              </a:lnSpc>
              <a:spcBef>
                <a:spcPts val="0"/>
              </a:spcBef>
              <a:spcAft>
                <a:spcPts val="0"/>
              </a:spcAft>
              <a:buClr>
                <a:schemeClr val="dk1"/>
              </a:buClr>
              <a:buSzPts val="700"/>
              <a:buFont typeface="Gill Sans"/>
              <a:buNone/>
            </a:pPr>
            <a:endParaRPr sz="1000">
              <a:latin typeface="Arial"/>
              <a:ea typeface="Arial"/>
              <a:cs typeface="Arial"/>
              <a:sym typeface="Arial"/>
            </a:endParaRPr>
          </a:p>
        </p:txBody>
      </p:sp>
      <p:sp>
        <p:nvSpPr>
          <p:cNvPr id="2" name="Marcador de número de diapositiva 1">
            <a:extLst>
              <a:ext uri="{FF2B5EF4-FFF2-40B4-BE49-F238E27FC236}">
                <a16:creationId xmlns:a16="http://schemas.microsoft.com/office/drawing/2014/main" id="{AAD5CC46-BACC-225E-68FF-A379848939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7</a:t>
            </a:fld>
            <a:endParaRPr lang="es-ES"/>
          </a:p>
        </p:txBody>
      </p:sp>
    </p:spTree>
    <p:extLst>
      <p:ext uri="{BB962C8B-B14F-4D97-AF65-F5344CB8AC3E}">
        <p14:creationId xmlns:p14="http://schemas.microsoft.com/office/powerpoint/2010/main" val="4293610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1"/>
          <p:cNvSpPr txBox="1">
            <a:spLocks noGrp="1"/>
          </p:cNvSpPr>
          <p:nvPr>
            <p:ph type="body" idx="2"/>
          </p:nvPr>
        </p:nvSpPr>
        <p:spPr>
          <a:xfrm>
            <a:off x="475605" y="1461490"/>
            <a:ext cx="8229599" cy="3160653"/>
          </a:xfrm>
          <a:prstGeom prst="rect">
            <a:avLst/>
          </a:prstGeom>
          <a:noFill/>
          <a:ln>
            <a:noFill/>
          </a:ln>
        </p:spPr>
        <p:txBody>
          <a:bodyPr spcFirstLastPara="1" wrap="square" lIns="91425" tIns="45700" rIns="91425" bIns="45700" anchor="t" anchorCtr="0">
            <a:normAutofit/>
          </a:bodyPr>
          <a:lstStyle/>
          <a:p>
            <a:pPr marL="285750" lvl="0" indent="-285750" algn="just" rtl="0">
              <a:lnSpc>
                <a:spcPct val="200000"/>
              </a:lnSpc>
              <a:spcBef>
                <a:spcPts val="0"/>
              </a:spcBef>
              <a:spcAft>
                <a:spcPts val="0"/>
              </a:spcAft>
              <a:buClr>
                <a:srgbClr val="7F7F7F"/>
              </a:buClr>
              <a:buSzPts val="1900"/>
              <a:buFont typeface="Arial" panose="020B0604020202020204" pitchFamily="34" charset="0"/>
              <a:buChar char="•"/>
            </a:pPr>
            <a:r>
              <a:rPr lang="es-MX" sz="1800" dirty="0">
                <a:solidFill>
                  <a:schemeClr val="tx1"/>
                </a:solidFill>
              </a:rPr>
              <a:t>¿Qué medidas de seguridad a nivel de aplicación han sido propuestas y evaluadas frente a los ataques de inyección de </a:t>
            </a:r>
            <a:r>
              <a:rPr lang="es-MX" sz="1800" i="1" dirty="0" err="1">
                <a:solidFill>
                  <a:schemeClr val="tx1"/>
                </a:solidFill>
              </a:rPr>
              <a:t>prompt</a:t>
            </a:r>
            <a:r>
              <a:rPr lang="es-MX" sz="1800" dirty="0">
                <a:solidFill>
                  <a:schemeClr val="tx1"/>
                </a:solidFill>
              </a:rPr>
              <a:t> en sistemas basados en LLM, y cuáles son sus principales características, alcances, limitaciones y criterios de evaluación?</a:t>
            </a:r>
            <a:endParaRPr sz="1800" dirty="0">
              <a:solidFill>
                <a:schemeClr val="tx1"/>
              </a:solidFill>
            </a:endParaRPr>
          </a:p>
        </p:txBody>
      </p:sp>
      <p:sp>
        <p:nvSpPr>
          <p:cNvPr id="80" name="Google Shape;80;p11"/>
          <p:cNvSpPr txBox="1">
            <a:spLocks noGrp="1"/>
          </p:cNvSpPr>
          <p:nvPr>
            <p:ph type="body" idx="4"/>
          </p:nvPr>
        </p:nvSpPr>
        <p:spPr>
          <a:xfrm>
            <a:off x="451084" y="726351"/>
            <a:ext cx="8105700" cy="609533"/>
          </a:xfrm>
          <a:prstGeom prst="rect">
            <a:avLst/>
          </a:prstGeom>
          <a:noFill/>
          <a:ln>
            <a:noFill/>
          </a:ln>
        </p:spPr>
        <p:txBody>
          <a:bodyPr spcFirstLastPara="1" wrap="square" lIns="91425" tIns="45700" rIns="91425" bIns="45700" anchor="t" anchorCtr="0">
            <a:normAutofit/>
          </a:bodyPr>
          <a:lstStyle/>
          <a:p>
            <a:pPr marL="0" lvl="0" indent="0" algn="l" rtl="0">
              <a:lnSpc>
                <a:spcPct val="121052"/>
              </a:lnSpc>
              <a:spcBef>
                <a:spcPts val="0"/>
              </a:spcBef>
              <a:spcAft>
                <a:spcPts val="0"/>
              </a:spcAft>
              <a:buClr>
                <a:schemeClr val="dk1"/>
              </a:buClr>
              <a:buSzPts val="1900"/>
              <a:buNone/>
            </a:pPr>
            <a:r>
              <a:rPr lang="es-ES" b="1" dirty="0"/>
              <a:t>Preguntas de investigación (1</a:t>
            </a:r>
            <a:r>
              <a:rPr lang="en-US" b="1" dirty="0"/>
              <a:t>/2</a:t>
            </a:r>
            <a:r>
              <a:rPr lang="es-ES" b="1" dirty="0"/>
              <a:t>) – Pregunta principal</a:t>
            </a:r>
            <a:endParaRPr b="1" dirty="0"/>
          </a:p>
        </p:txBody>
      </p:sp>
      <p:sp>
        <p:nvSpPr>
          <p:cNvPr id="82" name="Google Shape;82;p11"/>
          <p:cNvSpPr txBox="1">
            <a:spLocks noGrp="1"/>
          </p:cNvSpPr>
          <p:nvPr>
            <p:ph type="title" idx="4294967295"/>
          </p:nvPr>
        </p:nvSpPr>
        <p:spPr>
          <a:xfrm>
            <a:off x="457197" y="4747750"/>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a:t>​​Estado del arte de las medidas de seguridad a nivel de aplicación en el contexto de ataques de inyección de prompt dirigidos a sistemas basados en LLM​</a:t>
            </a:r>
            <a:endParaRPr sz="1000"/>
          </a:p>
          <a:p>
            <a:pPr marL="0" lvl="0" indent="0" algn="l" rtl="0">
              <a:lnSpc>
                <a:spcPct val="114285"/>
              </a:lnSpc>
              <a:spcBef>
                <a:spcPts val="0"/>
              </a:spcBef>
              <a:spcAft>
                <a:spcPts val="0"/>
              </a:spcAft>
              <a:buClr>
                <a:schemeClr val="dk1"/>
              </a:buClr>
              <a:buSzPts val="700"/>
              <a:buFont typeface="Gill Sans"/>
              <a:buNone/>
            </a:pPr>
            <a:endParaRPr sz="1000">
              <a:latin typeface="Arial"/>
              <a:ea typeface="Arial"/>
              <a:cs typeface="Arial"/>
              <a:sym typeface="Arial"/>
            </a:endParaRPr>
          </a:p>
        </p:txBody>
      </p:sp>
      <p:sp>
        <p:nvSpPr>
          <p:cNvPr id="2" name="Marcador de número de diapositiva 1">
            <a:extLst>
              <a:ext uri="{FF2B5EF4-FFF2-40B4-BE49-F238E27FC236}">
                <a16:creationId xmlns:a16="http://schemas.microsoft.com/office/drawing/2014/main" id="{C21744DB-5F1E-6AF4-D62F-7D5E07DBE7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8</a:t>
            </a:fld>
            <a:endParaRPr lang="es-E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A814-B3C0-C9E2-2025-8CC18DD6BCB2}"/>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C0E9478-BBF1-2827-226A-8E8F2ABE2464}"/>
              </a:ext>
            </a:extLst>
          </p:cNvPr>
          <p:cNvSpPr>
            <a:spLocks noGrp="1"/>
          </p:cNvSpPr>
          <p:nvPr>
            <p:ph sz="quarter" idx="15"/>
          </p:nvPr>
        </p:nvSpPr>
        <p:spPr>
          <a:xfrm>
            <a:off x="574593" y="1203598"/>
            <a:ext cx="8012976" cy="3024335"/>
          </a:xfrm>
        </p:spPr>
        <p:txBody>
          <a:bodyPr>
            <a:normAutofit lnSpcReduction="10000"/>
          </a:bodyPr>
          <a:lstStyle/>
          <a:p>
            <a:pPr marL="342900" indent="-342900" algn="just">
              <a:lnSpc>
                <a:spcPct val="170000"/>
              </a:lnSpc>
              <a:buFont typeface="Arial" panose="020B0604020202020204" pitchFamily="34" charset="0"/>
              <a:buChar char="•"/>
            </a:pPr>
            <a:r>
              <a:rPr lang="es-MX" sz="1600" noProof="0" dirty="0">
                <a:solidFill>
                  <a:schemeClr val="tx1"/>
                </a:solidFill>
              </a:rPr>
              <a:t>¿Qué es un ataque de inyección de </a:t>
            </a:r>
            <a:r>
              <a:rPr lang="es-MX" sz="1600" i="1" noProof="0" dirty="0" err="1">
                <a:solidFill>
                  <a:schemeClr val="tx1"/>
                </a:solidFill>
              </a:rPr>
              <a:t>prompt</a:t>
            </a:r>
            <a:r>
              <a:rPr lang="es-MX" sz="1600" noProof="0" dirty="0">
                <a:solidFill>
                  <a:schemeClr val="tx1"/>
                </a:solidFill>
              </a:rPr>
              <a:t> y cuáles son las categorías que presenta?</a:t>
            </a:r>
          </a:p>
          <a:p>
            <a:pPr algn="just">
              <a:lnSpc>
                <a:spcPct val="170000"/>
              </a:lnSpc>
            </a:pPr>
            <a:endParaRPr lang="es-MX" sz="1600" noProof="0" dirty="0">
              <a:solidFill>
                <a:schemeClr val="tx1"/>
              </a:solidFill>
            </a:endParaRPr>
          </a:p>
          <a:p>
            <a:pPr marL="342900" indent="-342900" algn="just">
              <a:lnSpc>
                <a:spcPct val="170000"/>
              </a:lnSpc>
              <a:buFont typeface="Arial" panose="020B0604020202020204" pitchFamily="34" charset="0"/>
              <a:buChar char="•"/>
            </a:pPr>
            <a:r>
              <a:rPr lang="es-MX" sz="1600" noProof="0" dirty="0">
                <a:solidFill>
                  <a:schemeClr val="tx1"/>
                </a:solidFill>
              </a:rPr>
              <a:t>¿Qué medidas de seguridad a nivel de aplicación han sido propuestas en la literatura reciente para reducir los ataques de inyección de </a:t>
            </a:r>
            <a:r>
              <a:rPr lang="es-MX" sz="1600" i="1" noProof="0" dirty="0" err="1">
                <a:solidFill>
                  <a:schemeClr val="tx1"/>
                </a:solidFill>
              </a:rPr>
              <a:t>prompt</a:t>
            </a:r>
            <a:r>
              <a:rPr lang="es-MX" sz="1600" noProof="0" dirty="0">
                <a:solidFill>
                  <a:schemeClr val="tx1"/>
                </a:solidFill>
              </a:rPr>
              <a:t> en sistemas basados en LLM?</a:t>
            </a:r>
          </a:p>
          <a:p>
            <a:pPr algn="just">
              <a:lnSpc>
                <a:spcPct val="170000"/>
              </a:lnSpc>
            </a:pPr>
            <a:endParaRPr lang="es-MX" sz="1600" noProof="0" dirty="0">
              <a:solidFill>
                <a:schemeClr val="tx1"/>
              </a:solidFill>
            </a:endParaRPr>
          </a:p>
          <a:p>
            <a:pPr marL="342900" indent="-342900" algn="just">
              <a:lnSpc>
                <a:spcPct val="170000"/>
              </a:lnSpc>
              <a:buFont typeface="Arial" panose="020B0604020202020204" pitchFamily="34" charset="0"/>
              <a:buChar char="•"/>
            </a:pPr>
            <a:r>
              <a:rPr lang="es-MX" sz="1600" noProof="0" dirty="0">
                <a:solidFill>
                  <a:schemeClr val="tx1"/>
                </a:solidFill>
              </a:rPr>
              <a:t>¿Cómo pueden clasificarse las medidas de seguridad identificadas de acuerdo con el punto de intervención dentro del sistema basado en LLM?</a:t>
            </a:r>
          </a:p>
        </p:txBody>
      </p:sp>
      <p:sp>
        <p:nvSpPr>
          <p:cNvPr id="4" name="Marcador de texto 3">
            <a:extLst>
              <a:ext uri="{FF2B5EF4-FFF2-40B4-BE49-F238E27FC236}">
                <a16:creationId xmlns:a16="http://schemas.microsoft.com/office/drawing/2014/main" id="{5557F97A-23A3-481A-499B-3E6CB0AA3F96}"/>
              </a:ext>
            </a:extLst>
          </p:cNvPr>
          <p:cNvSpPr>
            <a:spLocks noGrp="1"/>
          </p:cNvSpPr>
          <p:nvPr>
            <p:ph type="body" sz="quarter" idx="16"/>
          </p:nvPr>
        </p:nvSpPr>
        <p:spPr>
          <a:xfrm>
            <a:off x="574593" y="580087"/>
            <a:ext cx="7994811" cy="407488"/>
          </a:xfrm>
        </p:spPr>
        <p:txBody>
          <a:bodyPr>
            <a:normAutofit lnSpcReduction="10000"/>
          </a:bodyPr>
          <a:lstStyle/>
          <a:p>
            <a:pPr lvl="0">
              <a:lnSpc>
                <a:spcPct val="121052"/>
              </a:lnSpc>
              <a:spcBef>
                <a:spcPts val="0"/>
              </a:spcBef>
              <a:buClr>
                <a:schemeClr val="dk1"/>
              </a:buClr>
              <a:buSzPts val="1900"/>
            </a:pPr>
            <a:r>
              <a:rPr lang="es-ES" b="1" dirty="0"/>
              <a:t>Preguntas de investigación (2/3) – Preguntas complementarias </a:t>
            </a:r>
          </a:p>
        </p:txBody>
      </p:sp>
      <p:sp>
        <p:nvSpPr>
          <p:cNvPr id="11" name="Google Shape;106;p14">
            <a:extLst>
              <a:ext uri="{FF2B5EF4-FFF2-40B4-BE49-F238E27FC236}">
                <a16:creationId xmlns:a16="http://schemas.microsoft.com/office/drawing/2014/main" id="{F38D3791-B76E-197D-8A69-A47E867EEFDA}"/>
              </a:ext>
            </a:extLst>
          </p:cNvPr>
          <p:cNvSpPr txBox="1">
            <a:spLocks/>
          </p:cNvSpPr>
          <p:nvPr/>
        </p:nvSpPr>
        <p:spPr>
          <a:xfrm>
            <a:off x="457197" y="4747750"/>
            <a:ext cx="8229600" cy="142800"/>
          </a:xfrm>
          <a:prstGeom prst="rect">
            <a:avLst/>
          </a:prstGeom>
          <a:noFill/>
          <a:ln>
            <a:noFill/>
          </a:ln>
        </p:spPr>
        <p:txBody>
          <a:bodyPr spcFirstLastPara="1" wrap="square" lIns="36000" tIns="0" rIns="91425" bIns="4570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gn="r">
              <a:lnSpc>
                <a:spcPct val="116666"/>
              </a:lnSpc>
              <a:spcBef>
                <a:spcPts val="0"/>
              </a:spcBef>
              <a:buClr>
                <a:schemeClr val="dk1"/>
              </a:buClr>
              <a:buFont typeface="Arial"/>
              <a:buNone/>
            </a:pPr>
            <a:r>
              <a:rPr lang="es-MX" sz="1000"/>
              <a:t>​​Estado del arte de las medidas de seguridad a nivel de aplicación en el contexto de ataques de inyección de </a:t>
            </a:r>
            <a:r>
              <a:rPr lang="es-MX" sz="1000" i="1"/>
              <a:t>prompt</a:t>
            </a:r>
            <a:r>
              <a:rPr lang="es-MX" sz="1000"/>
              <a:t> dirigidos a sistemas basados en LLM​</a:t>
            </a:r>
          </a:p>
          <a:p>
            <a:pPr>
              <a:lnSpc>
                <a:spcPct val="114285"/>
              </a:lnSpc>
              <a:spcBef>
                <a:spcPts val="0"/>
              </a:spcBef>
              <a:buClr>
                <a:schemeClr val="dk1"/>
              </a:buClr>
              <a:buSzPts val="700"/>
              <a:buFont typeface="Gill Sans"/>
              <a:buNone/>
            </a:pPr>
            <a:endParaRPr lang="es-MX" sz="1000" dirty="0">
              <a:latin typeface="Arial"/>
              <a:ea typeface="Arial"/>
              <a:cs typeface="Arial"/>
              <a:sym typeface="Arial"/>
            </a:endParaRPr>
          </a:p>
        </p:txBody>
      </p:sp>
    </p:spTree>
    <p:extLst>
      <p:ext uri="{BB962C8B-B14F-4D97-AF65-F5344CB8AC3E}">
        <p14:creationId xmlns:p14="http://schemas.microsoft.com/office/powerpoint/2010/main" val="2309812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3A041-1E26-E54B-DD56-879120A8A1BF}"/>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D47E8E9-88AF-B6C0-5243-259089C2CBB6}"/>
              </a:ext>
            </a:extLst>
          </p:cNvPr>
          <p:cNvSpPr>
            <a:spLocks noGrp="1"/>
          </p:cNvSpPr>
          <p:nvPr>
            <p:ph sz="quarter" idx="15"/>
          </p:nvPr>
        </p:nvSpPr>
        <p:spPr>
          <a:xfrm>
            <a:off x="629079" y="1325379"/>
            <a:ext cx="7885836" cy="3024335"/>
          </a:xfrm>
        </p:spPr>
        <p:txBody>
          <a:bodyPr>
            <a:normAutofit fontScale="92500" lnSpcReduction="20000"/>
          </a:bodyPr>
          <a:lstStyle/>
          <a:p>
            <a:pPr marL="342900" indent="-342900" algn="just">
              <a:lnSpc>
                <a:spcPct val="170000"/>
              </a:lnSpc>
              <a:buFont typeface="Arial" panose="020B0604020202020204" pitchFamily="34" charset="0"/>
              <a:buChar char="•"/>
            </a:pPr>
            <a:r>
              <a:rPr lang="es-MX" sz="1600" noProof="0" dirty="0">
                <a:solidFill>
                  <a:schemeClr val="tx1"/>
                </a:solidFill>
              </a:rPr>
              <a:t>¿En qué contextos y escenarios han sido evaluadas las medidas identificadas, qué tipos de ataques abordan y qué criterios se utilizan para determinar su efectividad?</a:t>
            </a:r>
          </a:p>
          <a:p>
            <a:pPr algn="just">
              <a:lnSpc>
                <a:spcPct val="170000"/>
              </a:lnSpc>
            </a:pPr>
            <a:endParaRPr lang="es-MX" sz="1600" noProof="0" dirty="0">
              <a:solidFill>
                <a:schemeClr val="tx1"/>
              </a:solidFill>
            </a:endParaRPr>
          </a:p>
          <a:p>
            <a:pPr marL="342900" indent="-342900" algn="just">
              <a:lnSpc>
                <a:spcPct val="170000"/>
              </a:lnSpc>
              <a:buFont typeface="Arial" panose="020B0604020202020204" pitchFamily="34" charset="0"/>
              <a:buChar char="•"/>
            </a:pPr>
            <a:r>
              <a:rPr lang="es-MX" sz="1600" noProof="0" dirty="0">
                <a:solidFill>
                  <a:schemeClr val="tx1"/>
                </a:solidFill>
              </a:rPr>
              <a:t>¿Qué limitaciones y compromisos entre seguridad, utilidad, rendimiento, costo o complejidad de implementación han sido reportados para las medidas analizadas?</a:t>
            </a:r>
          </a:p>
          <a:p>
            <a:pPr algn="just">
              <a:lnSpc>
                <a:spcPct val="170000"/>
              </a:lnSpc>
            </a:pPr>
            <a:endParaRPr lang="es-MX" sz="1600" noProof="0" dirty="0">
              <a:solidFill>
                <a:schemeClr val="tx1"/>
              </a:solidFill>
            </a:endParaRPr>
          </a:p>
          <a:p>
            <a:pPr marL="342900" indent="-342900" algn="just">
              <a:lnSpc>
                <a:spcPct val="170000"/>
              </a:lnSpc>
              <a:buFont typeface="Arial" panose="020B0604020202020204" pitchFamily="34" charset="0"/>
              <a:buChar char="•"/>
            </a:pPr>
            <a:r>
              <a:rPr lang="es-MX" sz="1600" noProof="0" dirty="0">
                <a:solidFill>
                  <a:schemeClr val="tx1"/>
                </a:solidFill>
              </a:rPr>
              <a:t>¿Qué cosas permanecen abiertas o insuficientemente en la literatura sobre medidas de seguridad a nivel de aplicación frente a ataques de inyección de </a:t>
            </a:r>
            <a:r>
              <a:rPr lang="es-MX" sz="1600" i="1" noProof="0" dirty="0" err="1">
                <a:solidFill>
                  <a:schemeClr val="tx1"/>
                </a:solidFill>
              </a:rPr>
              <a:t>prompt</a:t>
            </a:r>
            <a:r>
              <a:rPr lang="es-MX" sz="1600" noProof="0" dirty="0">
                <a:solidFill>
                  <a:schemeClr val="tx1"/>
                </a:solidFill>
              </a:rPr>
              <a:t>?</a:t>
            </a:r>
          </a:p>
        </p:txBody>
      </p:sp>
      <p:sp>
        <p:nvSpPr>
          <p:cNvPr id="4" name="Marcador de texto 3">
            <a:extLst>
              <a:ext uri="{FF2B5EF4-FFF2-40B4-BE49-F238E27FC236}">
                <a16:creationId xmlns:a16="http://schemas.microsoft.com/office/drawing/2014/main" id="{20BCABCE-A632-8AF3-DE16-10E3911691A8}"/>
              </a:ext>
            </a:extLst>
          </p:cNvPr>
          <p:cNvSpPr>
            <a:spLocks noGrp="1"/>
          </p:cNvSpPr>
          <p:nvPr>
            <p:ph type="body" sz="quarter" idx="16"/>
          </p:nvPr>
        </p:nvSpPr>
        <p:spPr>
          <a:xfrm>
            <a:off x="574593" y="580087"/>
            <a:ext cx="7994811" cy="407488"/>
          </a:xfrm>
        </p:spPr>
        <p:txBody>
          <a:bodyPr>
            <a:normAutofit lnSpcReduction="10000"/>
          </a:bodyPr>
          <a:lstStyle/>
          <a:p>
            <a:pPr lvl="0">
              <a:lnSpc>
                <a:spcPct val="121052"/>
              </a:lnSpc>
              <a:spcBef>
                <a:spcPts val="0"/>
              </a:spcBef>
              <a:buClr>
                <a:schemeClr val="dk1"/>
              </a:buClr>
              <a:buSzPts val="1900"/>
            </a:pPr>
            <a:r>
              <a:rPr lang="es-ES" b="1" dirty="0"/>
              <a:t>Preguntas de investigación (3/3) – Preguntas complementarias </a:t>
            </a:r>
          </a:p>
        </p:txBody>
      </p:sp>
      <p:sp>
        <p:nvSpPr>
          <p:cNvPr id="11" name="Google Shape;106;p14">
            <a:extLst>
              <a:ext uri="{FF2B5EF4-FFF2-40B4-BE49-F238E27FC236}">
                <a16:creationId xmlns:a16="http://schemas.microsoft.com/office/drawing/2014/main" id="{D779A4BE-EA00-9734-ED1C-912EC8230A65}"/>
              </a:ext>
            </a:extLst>
          </p:cNvPr>
          <p:cNvSpPr txBox="1">
            <a:spLocks/>
          </p:cNvSpPr>
          <p:nvPr/>
        </p:nvSpPr>
        <p:spPr>
          <a:xfrm>
            <a:off x="457197" y="4747750"/>
            <a:ext cx="8229600" cy="142800"/>
          </a:xfrm>
          <a:prstGeom prst="rect">
            <a:avLst/>
          </a:prstGeom>
          <a:noFill/>
          <a:ln>
            <a:noFill/>
          </a:ln>
        </p:spPr>
        <p:txBody>
          <a:bodyPr spcFirstLastPara="1" wrap="square" lIns="36000" tIns="0" rIns="91425" bIns="4570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gn="r">
              <a:lnSpc>
                <a:spcPct val="116666"/>
              </a:lnSpc>
              <a:spcBef>
                <a:spcPts val="0"/>
              </a:spcBef>
              <a:buClr>
                <a:schemeClr val="dk1"/>
              </a:buClr>
              <a:buFont typeface="Arial"/>
              <a:buNone/>
            </a:pPr>
            <a:r>
              <a:rPr lang="es-MX" sz="1000"/>
              <a:t>​​Estado del arte de las medidas de seguridad a nivel de aplicación en el contexto de ataques de inyección de </a:t>
            </a:r>
            <a:r>
              <a:rPr lang="es-MX" sz="1000" i="1"/>
              <a:t>prompt</a:t>
            </a:r>
            <a:r>
              <a:rPr lang="es-MX" sz="1000"/>
              <a:t> dirigidos a sistemas basados en LLM​</a:t>
            </a:r>
          </a:p>
          <a:p>
            <a:pPr>
              <a:lnSpc>
                <a:spcPct val="114285"/>
              </a:lnSpc>
              <a:spcBef>
                <a:spcPts val="0"/>
              </a:spcBef>
              <a:buClr>
                <a:schemeClr val="dk1"/>
              </a:buClr>
              <a:buSzPts val="700"/>
              <a:buFont typeface="Gill Sans"/>
              <a:buNone/>
            </a:pPr>
            <a:endParaRPr lang="es-MX" sz="1000" dirty="0">
              <a:latin typeface="Arial"/>
              <a:ea typeface="Arial"/>
              <a:cs typeface="Arial"/>
              <a:sym typeface="Arial"/>
            </a:endParaRPr>
          </a:p>
        </p:txBody>
      </p:sp>
    </p:spTree>
    <p:extLst>
      <p:ext uri="{BB962C8B-B14F-4D97-AF65-F5344CB8AC3E}">
        <p14:creationId xmlns:p14="http://schemas.microsoft.com/office/powerpoint/2010/main" val="3106519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sz="quarter" idx="14"/>
          </p:nvPr>
        </p:nvSpPr>
        <p:spPr>
          <a:xfrm>
            <a:off x="458459" y="1505999"/>
            <a:ext cx="8233694" cy="2865951"/>
          </a:xfrm>
        </p:spPr>
        <p:txBody>
          <a:bodyPr>
            <a:normAutofit/>
          </a:bodyPr>
          <a:lstStyle/>
          <a:p>
            <a:pPr marL="342900" indent="-342900" algn="just">
              <a:lnSpc>
                <a:spcPct val="200000"/>
              </a:lnSpc>
              <a:buFont typeface="Arial" panose="020B0604020202020204" pitchFamily="34" charset="0"/>
              <a:buChar char="•"/>
            </a:pPr>
            <a:r>
              <a:rPr lang="es-MX" sz="1800" noProof="0" dirty="0">
                <a:solidFill>
                  <a:schemeClr val="tx1"/>
                </a:solidFill>
              </a:rPr>
              <a:t>Analizar las medidas de seguridad a nivel de aplicación frente a ataques de inyección de </a:t>
            </a:r>
            <a:r>
              <a:rPr lang="es-MX" sz="1800" i="1" noProof="0" dirty="0" err="1">
                <a:solidFill>
                  <a:schemeClr val="tx1"/>
                </a:solidFill>
              </a:rPr>
              <a:t>prompt</a:t>
            </a:r>
            <a:r>
              <a:rPr lang="es-MX" sz="1800" noProof="0" dirty="0">
                <a:solidFill>
                  <a:schemeClr val="tx1"/>
                </a:solidFill>
              </a:rPr>
              <a:t> en sistemas basados en LLM, mediante la revisión, clasificación, comparación y síntesis de literatura científica reciente, con el propósito de identificar sus características, contextos de aplicación, alcances, limitaciones y criterios de evaluación.</a:t>
            </a:r>
          </a:p>
        </p:txBody>
      </p:sp>
      <p:sp>
        <p:nvSpPr>
          <p:cNvPr id="5" name="Marcador de texto 4"/>
          <p:cNvSpPr>
            <a:spLocks noGrp="1"/>
          </p:cNvSpPr>
          <p:nvPr>
            <p:ph type="body" sz="quarter" idx="17"/>
          </p:nvPr>
        </p:nvSpPr>
        <p:spPr>
          <a:xfrm>
            <a:off x="550841" y="771551"/>
            <a:ext cx="4525215" cy="648072"/>
          </a:xfrm>
        </p:spPr>
        <p:txBody>
          <a:bodyPr/>
          <a:lstStyle/>
          <a:p>
            <a:pPr>
              <a:lnSpc>
                <a:spcPct val="150000"/>
              </a:lnSpc>
            </a:pPr>
            <a:r>
              <a:rPr lang="es-MX" b="1" noProof="0" dirty="0"/>
              <a:t>Objetivos (1/2) - Objetivo general</a:t>
            </a:r>
          </a:p>
        </p:txBody>
      </p:sp>
      <p:sp>
        <p:nvSpPr>
          <p:cNvPr id="8" name="Google Shape;106;p14">
            <a:extLst>
              <a:ext uri="{FF2B5EF4-FFF2-40B4-BE49-F238E27FC236}">
                <a16:creationId xmlns:a16="http://schemas.microsoft.com/office/drawing/2014/main" id="{D02FE48C-E5B5-DD5F-524D-9267FE67C9C8}"/>
              </a:ext>
            </a:extLst>
          </p:cNvPr>
          <p:cNvSpPr txBox="1">
            <a:spLocks/>
          </p:cNvSpPr>
          <p:nvPr/>
        </p:nvSpPr>
        <p:spPr>
          <a:xfrm>
            <a:off x="457197" y="4747750"/>
            <a:ext cx="8229600" cy="142800"/>
          </a:xfrm>
          <a:prstGeom prst="rect">
            <a:avLst/>
          </a:prstGeom>
          <a:noFill/>
          <a:ln>
            <a:noFill/>
          </a:ln>
        </p:spPr>
        <p:txBody>
          <a:bodyPr spcFirstLastPara="1" wrap="square" lIns="36000" tIns="0" rIns="91425" bIns="4570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gn="r">
              <a:lnSpc>
                <a:spcPct val="116666"/>
              </a:lnSpc>
              <a:spcBef>
                <a:spcPts val="0"/>
              </a:spcBef>
              <a:buClr>
                <a:schemeClr val="dk1"/>
              </a:buClr>
              <a:buFont typeface="Arial"/>
              <a:buNone/>
            </a:pPr>
            <a:r>
              <a:rPr lang="es-MX" sz="1000"/>
              <a:t>​​Estado del arte de las medidas de seguridad a nivel de aplicación en el contexto de ataques de inyección de </a:t>
            </a:r>
            <a:r>
              <a:rPr lang="es-MX" sz="1000" i="1"/>
              <a:t>prompt</a:t>
            </a:r>
            <a:r>
              <a:rPr lang="es-MX" sz="1000"/>
              <a:t> dirigidos a sistemas basados en LLM​</a:t>
            </a:r>
          </a:p>
          <a:p>
            <a:pPr>
              <a:lnSpc>
                <a:spcPct val="114285"/>
              </a:lnSpc>
              <a:spcBef>
                <a:spcPts val="0"/>
              </a:spcBef>
              <a:buClr>
                <a:schemeClr val="dk1"/>
              </a:buClr>
              <a:buSzPts val="700"/>
              <a:buFont typeface="Gill Sans"/>
              <a:buNone/>
            </a:pPr>
            <a:endParaRPr lang="es-MX" sz="1000" dirty="0">
              <a:latin typeface="Arial"/>
              <a:ea typeface="Arial"/>
              <a:cs typeface="Arial"/>
              <a:sym typeface="Arial"/>
            </a:endParaRPr>
          </a:p>
        </p:txBody>
      </p:sp>
    </p:spTree>
    <p:extLst>
      <p:ext uri="{BB962C8B-B14F-4D97-AF65-F5344CB8AC3E}">
        <p14:creationId xmlns:p14="http://schemas.microsoft.com/office/powerpoint/2010/main" val="2211088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D506B-01F4-2F26-EC3E-60C4CE7DBE36}"/>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88CB29A-C4FE-7078-1DC2-D2E27CB5BECC}"/>
              </a:ext>
            </a:extLst>
          </p:cNvPr>
          <p:cNvSpPr>
            <a:spLocks noGrp="1"/>
          </p:cNvSpPr>
          <p:nvPr>
            <p:ph sz="quarter" idx="15"/>
          </p:nvPr>
        </p:nvSpPr>
        <p:spPr>
          <a:xfrm>
            <a:off x="560238" y="1123721"/>
            <a:ext cx="8208913" cy="3384375"/>
          </a:xfrm>
        </p:spPr>
        <p:txBody>
          <a:bodyPr>
            <a:normAutofit fontScale="85000" lnSpcReduction="20000"/>
          </a:bodyPr>
          <a:lstStyle/>
          <a:p>
            <a:pPr marL="342900" indent="-342900" algn="just">
              <a:lnSpc>
                <a:spcPct val="200000"/>
              </a:lnSpc>
              <a:buFont typeface="Arial" panose="020B0604020202020204" pitchFamily="34" charset="0"/>
              <a:buChar char="•"/>
            </a:pPr>
            <a:r>
              <a:rPr lang="es-MX" sz="1600" noProof="0" dirty="0">
                <a:solidFill>
                  <a:schemeClr val="tx1"/>
                </a:solidFill>
              </a:rPr>
              <a:t>OE-01: Identificar los ataques de inyección de </a:t>
            </a:r>
            <a:r>
              <a:rPr lang="es-MX" sz="1600" i="1" noProof="0" dirty="0" err="1">
                <a:solidFill>
                  <a:schemeClr val="tx1"/>
                </a:solidFill>
              </a:rPr>
              <a:t>prompt</a:t>
            </a:r>
            <a:r>
              <a:rPr lang="es-MX" sz="1600" noProof="0" dirty="0">
                <a:solidFill>
                  <a:schemeClr val="tx1"/>
                </a:solidFill>
              </a:rPr>
              <a:t> que pueden ser mitigados desde el lado de la aplicación.</a:t>
            </a:r>
          </a:p>
          <a:p>
            <a:pPr algn="just">
              <a:lnSpc>
                <a:spcPct val="200000"/>
              </a:lnSpc>
            </a:pPr>
            <a:endParaRPr lang="es-MX" sz="1600" noProof="0" dirty="0">
              <a:solidFill>
                <a:schemeClr val="tx1"/>
              </a:solidFill>
            </a:endParaRPr>
          </a:p>
          <a:p>
            <a:pPr marL="342900" indent="-342900" algn="just">
              <a:lnSpc>
                <a:spcPct val="200000"/>
              </a:lnSpc>
              <a:buFont typeface="Arial" panose="020B0604020202020204" pitchFamily="34" charset="0"/>
              <a:buChar char="•"/>
            </a:pPr>
            <a:r>
              <a:rPr lang="es-MX" sz="1600" noProof="0" dirty="0">
                <a:solidFill>
                  <a:schemeClr val="tx1"/>
                </a:solidFill>
              </a:rPr>
              <a:t>OE-02: Analizar las medidas de seguridad a nivel de aplicación propuestas en la literatura reciente para mitigar los ataques de inyección de </a:t>
            </a:r>
            <a:r>
              <a:rPr lang="es-MX" sz="1600" i="1" noProof="0" dirty="0" err="1">
                <a:solidFill>
                  <a:schemeClr val="tx1"/>
                </a:solidFill>
              </a:rPr>
              <a:t>prompt</a:t>
            </a:r>
            <a:r>
              <a:rPr lang="es-MX" sz="1600" noProof="0" dirty="0">
                <a:solidFill>
                  <a:schemeClr val="tx1"/>
                </a:solidFill>
              </a:rPr>
              <a:t> en sistemas basados en LLM.</a:t>
            </a:r>
          </a:p>
          <a:p>
            <a:pPr algn="just">
              <a:lnSpc>
                <a:spcPct val="200000"/>
              </a:lnSpc>
            </a:pPr>
            <a:endParaRPr lang="es-MX" sz="1600" noProof="0" dirty="0">
              <a:solidFill>
                <a:schemeClr val="tx1"/>
              </a:solidFill>
            </a:endParaRPr>
          </a:p>
          <a:p>
            <a:pPr marL="342900" indent="-342900" algn="just">
              <a:lnSpc>
                <a:spcPct val="200000"/>
              </a:lnSpc>
              <a:buFont typeface="Arial" panose="020B0604020202020204" pitchFamily="34" charset="0"/>
              <a:buChar char="•"/>
            </a:pPr>
            <a:r>
              <a:rPr lang="es-MX" sz="1600" noProof="0" dirty="0">
                <a:solidFill>
                  <a:schemeClr val="tx1"/>
                </a:solidFill>
              </a:rPr>
              <a:t>OE-03: Clasificar las medidas de seguridad identificadas de acuerdo con el punto de intervención dentro del sistema.</a:t>
            </a:r>
          </a:p>
        </p:txBody>
      </p:sp>
      <p:sp>
        <p:nvSpPr>
          <p:cNvPr id="4" name="Marcador de texto 3">
            <a:extLst>
              <a:ext uri="{FF2B5EF4-FFF2-40B4-BE49-F238E27FC236}">
                <a16:creationId xmlns:a16="http://schemas.microsoft.com/office/drawing/2014/main" id="{5E16FE36-B834-A692-EE0B-B6D28EC6B825}"/>
              </a:ext>
            </a:extLst>
          </p:cNvPr>
          <p:cNvSpPr>
            <a:spLocks noGrp="1"/>
          </p:cNvSpPr>
          <p:nvPr>
            <p:ph type="body" sz="quarter" idx="16"/>
          </p:nvPr>
        </p:nvSpPr>
        <p:spPr>
          <a:xfrm>
            <a:off x="574593" y="580087"/>
            <a:ext cx="7994811" cy="407488"/>
          </a:xfrm>
        </p:spPr>
        <p:txBody>
          <a:bodyPr/>
          <a:lstStyle/>
          <a:p>
            <a:r>
              <a:rPr lang="es-MX" b="1" dirty="0"/>
              <a:t>Objetivos (2/3) - </a:t>
            </a:r>
            <a:r>
              <a:rPr lang="es-MX" b="1" noProof="0" dirty="0"/>
              <a:t>Objetivos específicos</a:t>
            </a:r>
          </a:p>
        </p:txBody>
      </p:sp>
      <p:sp>
        <p:nvSpPr>
          <p:cNvPr id="11" name="Google Shape;106;p14">
            <a:extLst>
              <a:ext uri="{FF2B5EF4-FFF2-40B4-BE49-F238E27FC236}">
                <a16:creationId xmlns:a16="http://schemas.microsoft.com/office/drawing/2014/main" id="{C84E2C74-BE1A-2DB5-C96D-A0F529AD646E}"/>
              </a:ext>
            </a:extLst>
          </p:cNvPr>
          <p:cNvSpPr txBox="1">
            <a:spLocks/>
          </p:cNvSpPr>
          <p:nvPr/>
        </p:nvSpPr>
        <p:spPr>
          <a:xfrm>
            <a:off x="457197" y="4747750"/>
            <a:ext cx="8229600" cy="142800"/>
          </a:xfrm>
          <a:prstGeom prst="rect">
            <a:avLst/>
          </a:prstGeom>
          <a:noFill/>
          <a:ln>
            <a:noFill/>
          </a:ln>
        </p:spPr>
        <p:txBody>
          <a:bodyPr spcFirstLastPara="1" wrap="square" lIns="36000" tIns="0" rIns="91425" bIns="4570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gn="r">
              <a:lnSpc>
                <a:spcPct val="116666"/>
              </a:lnSpc>
              <a:spcBef>
                <a:spcPts val="0"/>
              </a:spcBef>
              <a:buClr>
                <a:schemeClr val="dk1"/>
              </a:buClr>
              <a:buFont typeface="Arial"/>
              <a:buNone/>
            </a:pPr>
            <a:r>
              <a:rPr lang="es-MX" sz="1000"/>
              <a:t>​​Estado del arte de las medidas de seguridad a nivel de aplicación en el contexto de ataques de inyección de </a:t>
            </a:r>
            <a:r>
              <a:rPr lang="es-MX" sz="1000" i="1"/>
              <a:t>prompt</a:t>
            </a:r>
            <a:r>
              <a:rPr lang="es-MX" sz="1000"/>
              <a:t> dirigidos a sistemas basados en LLM​</a:t>
            </a:r>
          </a:p>
          <a:p>
            <a:pPr>
              <a:lnSpc>
                <a:spcPct val="114285"/>
              </a:lnSpc>
              <a:spcBef>
                <a:spcPts val="0"/>
              </a:spcBef>
              <a:buClr>
                <a:schemeClr val="dk1"/>
              </a:buClr>
              <a:buSzPts val="700"/>
              <a:buFont typeface="Gill Sans"/>
              <a:buNone/>
            </a:pPr>
            <a:endParaRPr lang="es-MX" sz="1000" dirty="0">
              <a:latin typeface="Arial"/>
              <a:ea typeface="Arial"/>
              <a:cs typeface="Arial"/>
              <a:sym typeface="Arial"/>
            </a:endParaRPr>
          </a:p>
        </p:txBody>
      </p:sp>
    </p:spTree>
    <p:extLst>
      <p:ext uri="{BB962C8B-B14F-4D97-AF65-F5344CB8AC3E}">
        <p14:creationId xmlns:p14="http://schemas.microsoft.com/office/powerpoint/2010/main" val="610408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F5CC7-80ED-60E7-851A-E9BEE845539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70AA596-17F4-9492-0DFC-1EF3E1B4FE34}"/>
              </a:ext>
            </a:extLst>
          </p:cNvPr>
          <p:cNvSpPr>
            <a:spLocks noGrp="1"/>
          </p:cNvSpPr>
          <p:nvPr>
            <p:ph sz="quarter" idx="15"/>
          </p:nvPr>
        </p:nvSpPr>
        <p:spPr>
          <a:xfrm>
            <a:off x="574593" y="1171912"/>
            <a:ext cx="8101860" cy="3248701"/>
          </a:xfrm>
        </p:spPr>
        <p:txBody>
          <a:bodyPr>
            <a:normAutofit/>
          </a:bodyPr>
          <a:lstStyle/>
          <a:p>
            <a:pPr marL="342900" indent="-342900" algn="just">
              <a:lnSpc>
                <a:spcPct val="170000"/>
              </a:lnSpc>
              <a:buFont typeface="Arial" panose="020B0604020202020204" pitchFamily="34" charset="0"/>
              <a:buChar char="•"/>
            </a:pPr>
            <a:r>
              <a:rPr lang="es-MX" sz="1400" dirty="0">
                <a:solidFill>
                  <a:schemeClr val="tx1"/>
                </a:solidFill>
              </a:rPr>
              <a:t>OE-04: Identificar las taxonomías existentes para clasificar las mitigaciones de ataques de inyección de </a:t>
            </a:r>
            <a:r>
              <a:rPr lang="es-MX" sz="1400" i="1" dirty="0" err="1">
                <a:solidFill>
                  <a:schemeClr val="tx1"/>
                </a:solidFill>
              </a:rPr>
              <a:t>prompt</a:t>
            </a:r>
            <a:r>
              <a:rPr lang="es-MX" sz="1400" dirty="0">
                <a:solidFill>
                  <a:schemeClr val="tx1"/>
                </a:solidFill>
              </a:rPr>
              <a:t> a nivel de aplicación.</a:t>
            </a:r>
          </a:p>
          <a:p>
            <a:pPr algn="just">
              <a:lnSpc>
                <a:spcPct val="170000"/>
              </a:lnSpc>
            </a:pPr>
            <a:endParaRPr lang="es-MX" sz="1400" dirty="0">
              <a:solidFill>
                <a:schemeClr val="tx1"/>
              </a:solidFill>
            </a:endParaRPr>
          </a:p>
          <a:p>
            <a:pPr marL="342900" indent="-342900" algn="just">
              <a:lnSpc>
                <a:spcPct val="170000"/>
              </a:lnSpc>
              <a:buFont typeface="Arial" panose="020B0604020202020204" pitchFamily="34" charset="0"/>
              <a:buChar char="•"/>
            </a:pPr>
            <a:r>
              <a:rPr lang="es-MX" sz="1400" dirty="0">
                <a:solidFill>
                  <a:schemeClr val="tx1"/>
                </a:solidFill>
              </a:rPr>
              <a:t>OE-05: Analizar las formas en las que se evalúan las medidas de seguridad reportadas en la literatura considerando los tipos de ataques abordados, contextos de aplicación, criterios de evaluación, efectividad, impacto sobre la utilidad y limitaciones.</a:t>
            </a:r>
          </a:p>
          <a:p>
            <a:pPr algn="just">
              <a:lnSpc>
                <a:spcPct val="170000"/>
              </a:lnSpc>
            </a:pPr>
            <a:endParaRPr lang="es-MX" sz="1400" dirty="0">
              <a:solidFill>
                <a:schemeClr val="tx1"/>
              </a:solidFill>
            </a:endParaRPr>
          </a:p>
          <a:p>
            <a:pPr marL="342900" indent="-342900" algn="just">
              <a:lnSpc>
                <a:spcPct val="170000"/>
              </a:lnSpc>
              <a:buFont typeface="Arial" panose="020B0604020202020204" pitchFamily="34" charset="0"/>
              <a:buChar char="•"/>
            </a:pPr>
            <a:r>
              <a:rPr lang="es-MX" sz="1400" dirty="0">
                <a:solidFill>
                  <a:schemeClr val="tx1"/>
                </a:solidFill>
              </a:rPr>
              <a:t>OE-06: Discutir los alcances y limitaciones que permanezcan abiertos para futuras investigaciones.</a:t>
            </a:r>
          </a:p>
        </p:txBody>
      </p:sp>
      <p:sp>
        <p:nvSpPr>
          <p:cNvPr id="4" name="Marcador de texto 3">
            <a:extLst>
              <a:ext uri="{FF2B5EF4-FFF2-40B4-BE49-F238E27FC236}">
                <a16:creationId xmlns:a16="http://schemas.microsoft.com/office/drawing/2014/main" id="{B9D1D9AD-1178-DBA4-1676-FFA4DDFCFF07}"/>
              </a:ext>
            </a:extLst>
          </p:cNvPr>
          <p:cNvSpPr>
            <a:spLocks noGrp="1"/>
          </p:cNvSpPr>
          <p:nvPr>
            <p:ph type="body" sz="quarter" idx="16"/>
          </p:nvPr>
        </p:nvSpPr>
        <p:spPr>
          <a:xfrm>
            <a:off x="574593" y="580087"/>
            <a:ext cx="7994811" cy="407488"/>
          </a:xfrm>
        </p:spPr>
        <p:txBody>
          <a:bodyPr/>
          <a:lstStyle/>
          <a:p>
            <a:r>
              <a:rPr lang="es-MX" b="1" dirty="0"/>
              <a:t>Objetivos (3/3) - </a:t>
            </a:r>
            <a:r>
              <a:rPr lang="es-MX" b="1" noProof="0" dirty="0"/>
              <a:t>Objetivos específicos</a:t>
            </a:r>
          </a:p>
        </p:txBody>
      </p:sp>
      <p:sp>
        <p:nvSpPr>
          <p:cNvPr id="11" name="Google Shape;106;p14">
            <a:extLst>
              <a:ext uri="{FF2B5EF4-FFF2-40B4-BE49-F238E27FC236}">
                <a16:creationId xmlns:a16="http://schemas.microsoft.com/office/drawing/2014/main" id="{732B24CC-3685-3E2D-4134-BE8ACDB107FB}"/>
              </a:ext>
            </a:extLst>
          </p:cNvPr>
          <p:cNvSpPr txBox="1">
            <a:spLocks/>
          </p:cNvSpPr>
          <p:nvPr/>
        </p:nvSpPr>
        <p:spPr>
          <a:xfrm>
            <a:off x="457197" y="4747750"/>
            <a:ext cx="8229600" cy="142800"/>
          </a:xfrm>
          <a:prstGeom prst="rect">
            <a:avLst/>
          </a:prstGeom>
          <a:noFill/>
          <a:ln>
            <a:noFill/>
          </a:ln>
        </p:spPr>
        <p:txBody>
          <a:bodyPr spcFirstLastPara="1" wrap="square" lIns="36000" tIns="0" rIns="91425" bIns="4570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gn="r">
              <a:lnSpc>
                <a:spcPct val="116666"/>
              </a:lnSpc>
              <a:spcBef>
                <a:spcPts val="0"/>
              </a:spcBef>
              <a:buClr>
                <a:schemeClr val="dk1"/>
              </a:buClr>
              <a:buFont typeface="Arial"/>
              <a:buNone/>
            </a:pPr>
            <a:r>
              <a:rPr lang="es-MX" sz="1000"/>
              <a:t>​​Estado del arte de las medidas de seguridad a nivel de aplicación en el contexto de ataques de inyección de </a:t>
            </a:r>
            <a:r>
              <a:rPr lang="es-MX" sz="1000" i="1"/>
              <a:t>prompt</a:t>
            </a:r>
            <a:r>
              <a:rPr lang="es-MX" sz="1000"/>
              <a:t> dirigidos a sistemas basados en LLM​</a:t>
            </a:r>
          </a:p>
          <a:p>
            <a:pPr>
              <a:lnSpc>
                <a:spcPct val="114285"/>
              </a:lnSpc>
              <a:spcBef>
                <a:spcPts val="0"/>
              </a:spcBef>
              <a:buClr>
                <a:schemeClr val="dk1"/>
              </a:buClr>
              <a:buSzPts val="700"/>
              <a:buFont typeface="Gill Sans"/>
              <a:buNone/>
            </a:pPr>
            <a:endParaRPr lang="es-MX" sz="1000" dirty="0">
              <a:latin typeface="Arial"/>
              <a:ea typeface="Arial"/>
              <a:cs typeface="Arial"/>
              <a:sym typeface="Arial"/>
            </a:endParaRPr>
          </a:p>
        </p:txBody>
      </p:sp>
    </p:spTree>
    <p:extLst>
      <p:ext uri="{BB962C8B-B14F-4D97-AF65-F5344CB8AC3E}">
        <p14:creationId xmlns:p14="http://schemas.microsoft.com/office/powerpoint/2010/main" val="980608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3"/>
          <p:cNvSpPr txBox="1">
            <a:spLocks noGrp="1"/>
          </p:cNvSpPr>
          <p:nvPr>
            <p:ph type="body" idx="1"/>
          </p:nvPr>
        </p:nvSpPr>
        <p:spPr>
          <a:xfrm>
            <a:off x="515250" y="1476200"/>
            <a:ext cx="8113500" cy="30966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Clr>
                <a:srgbClr val="7F7F7F"/>
              </a:buClr>
              <a:buSzPts val="1900"/>
              <a:buFont typeface="Arial" panose="020B0604020202020204" pitchFamily="34" charset="0"/>
              <a:buChar char="•"/>
            </a:pPr>
            <a:r>
              <a:rPr lang="es-MX" sz="1600" dirty="0">
                <a:solidFill>
                  <a:schemeClr val="tx1"/>
                </a:solidFill>
              </a:rPr>
              <a:t>Los ataques de </a:t>
            </a:r>
            <a:r>
              <a:rPr lang="es-MX" sz="1600" i="1" dirty="0" err="1">
                <a:solidFill>
                  <a:schemeClr val="tx1"/>
                </a:solidFill>
              </a:rPr>
              <a:t>prompt</a:t>
            </a:r>
            <a:r>
              <a:rPr lang="es-MX" sz="1600" i="1" dirty="0">
                <a:solidFill>
                  <a:schemeClr val="tx1"/>
                </a:solidFill>
              </a:rPr>
              <a:t> </a:t>
            </a:r>
            <a:r>
              <a:rPr lang="es-MX" sz="1600" i="1" dirty="0" err="1">
                <a:solidFill>
                  <a:schemeClr val="tx1"/>
                </a:solidFill>
              </a:rPr>
              <a:t>injection</a:t>
            </a:r>
            <a:r>
              <a:rPr lang="es-MX" sz="1600" i="1" dirty="0">
                <a:solidFill>
                  <a:schemeClr val="tx1"/>
                </a:solidFill>
              </a:rPr>
              <a:t> </a:t>
            </a:r>
            <a:r>
              <a:rPr lang="es-MX" sz="1600" dirty="0">
                <a:solidFill>
                  <a:schemeClr val="tx1"/>
                </a:solidFill>
              </a:rPr>
              <a:t>han sido identificados en diferentes escenarios. </a:t>
            </a:r>
          </a:p>
          <a:p>
            <a:pPr marL="342900" lvl="0" indent="-342900" algn="just" rtl="0">
              <a:lnSpc>
                <a:spcPct val="150000"/>
              </a:lnSpc>
              <a:spcBef>
                <a:spcPts val="0"/>
              </a:spcBef>
              <a:spcAft>
                <a:spcPts val="0"/>
              </a:spcAft>
              <a:buClr>
                <a:srgbClr val="7F7F7F"/>
              </a:buClr>
              <a:buSzPts val="1900"/>
              <a:buFont typeface="Arial" panose="020B0604020202020204" pitchFamily="34" charset="0"/>
              <a:buChar char="•"/>
            </a:pPr>
            <a:r>
              <a:rPr lang="es-MX" sz="1600" dirty="0">
                <a:solidFill>
                  <a:schemeClr val="tx1"/>
                </a:solidFill>
              </a:rPr>
              <a:t>Existe una diversidad de medidas de seguridad propuestas. </a:t>
            </a:r>
          </a:p>
          <a:p>
            <a:pPr marL="342900" lvl="0" indent="-342900" algn="just" rtl="0">
              <a:lnSpc>
                <a:spcPct val="150000"/>
              </a:lnSpc>
              <a:spcBef>
                <a:spcPts val="0"/>
              </a:spcBef>
              <a:spcAft>
                <a:spcPts val="0"/>
              </a:spcAft>
              <a:buClr>
                <a:srgbClr val="7F7F7F"/>
              </a:buClr>
              <a:buSzPts val="1900"/>
              <a:buFont typeface="Arial" panose="020B0604020202020204" pitchFamily="34" charset="0"/>
              <a:buChar char="•"/>
            </a:pPr>
            <a:r>
              <a:rPr lang="es-MX" sz="1600" dirty="0">
                <a:solidFill>
                  <a:schemeClr val="tx1"/>
                </a:solidFill>
              </a:rPr>
              <a:t>Las medidas presentan diferentes alcances, limitaciones y criterios de evaluación.</a:t>
            </a:r>
          </a:p>
          <a:p>
            <a:pPr marL="342900" lvl="0" indent="-342900" algn="just" rtl="0">
              <a:lnSpc>
                <a:spcPct val="150000"/>
              </a:lnSpc>
              <a:spcBef>
                <a:spcPts val="0"/>
              </a:spcBef>
              <a:spcAft>
                <a:spcPts val="0"/>
              </a:spcAft>
              <a:buClr>
                <a:srgbClr val="7F7F7F"/>
              </a:buClr>
              <a:buSzPts val="1900"/>
              <a:buFont typeface="Arial" panose="020B0604020202020204" pitchFamily="34" charset="0"/>
              <a:buChar char="•"/>
            </a:pPr>
            <a:endParaRPr lang="es-MX" sz="1600" dirty="0">
              <a:solidFill>
                <a:schemeClr val="tx1"/>
              </a:solidFill>
            </a:endParaRPr>
          </a:p>
          <a:p>
            <a:pPr marL="342900" lvl="0" indent="-342900" algn="just" rtl="0">
              <a:lnSpc>
                <a:spcPct val="150000"/>
              </a:lnSpc>
              <a:spcBef>
                <a:spcPts val="0"/>
              </a:spcBef>
              <a:spcAft>
                <a:spcPts val="0"/>
              </a:spcAft>
              <a:buClr>
                <a:srgbClr val="7F7F7F"/>
              </a:buClr>
              <a:buSzPts val="1900"/>
              <a:buFont typeface="Arial" panose="020B0604020202020204" pitchFamily="34" charset="0"/>
              <a:buChar char="•"/>
            </a:pPr>
            <a:r>
              <a:rPr lang="es-MX" sz="1600" dirty="0">
                <a:solidFill>
                  <a:schemeClr val="tx1"/>
                </a:solidFill>
              </a:rPr>
              <a:t>La información disponible se encuentra distribuida. </a:t>
            </a:r>
          </a:p>
          <a:p>
            <a:pPr marL="342900" lvl="0" indent="-342900" algn="just" rtl="0">
              <a:lnSpc>
                <a:spcPct val="150000"/>
              </a:lnSpc>
              <a:spcBef>
                <a:spcPts val="0"/>
              </a:spcBef>
              <a:spcAft>
                <a:spcPts val="0"/>
              </a:spcAft>
              <a:buClr>
                <a:srgbClr val="7F7F7F"/>
              </a:buClr>
              <a:buSzPts val="1900"/>
              <a:buFont typeface="Arial" panose="020B0604020202020204" pitchFamily="34" charset="0"/>
              <a:buChar char="•"/>
            </a:pPr>
            <a:r>
              <a:rPr lang="es-MX" sz="1600" dirty="0">
                <a:solidFill>
                  <a:schemeClr val="tx1"/>
                </a:solidFill>
              </a:rPr>
              <a:t>No existe una visión organizada específicamente de las medidas implementables a nivel de aplicación.</a:t>
            </a:r>
          </a:p>
          <a:p>
            <a:pPr marL="342900" lvl="0" indent="-342900" algn="just" rtl="0">
              <a:lnSpc>
                <a:spcPct val="150000"/>
              </a:lnSpc>
              <a:spcBef>
                <a:spcPts val="0"/>
              </a:spcBef>
              <a:spcAft>
                <a:spcPts val="0"/>
              </a:spcAft>
              <a:buClr>
                <a:srgbClr val="7F7F7F"/>
              </a:buClr>
              <a:buSzPts val="1900"/>
              <a:buFont typeface="Arial" panose="020B0604020202020204" pitchFamily="34" charset="0"/>
              <a:buChar char="•"/>
            </a:pPr>
            <a:endParaRPr lang="es-MX" sz="1800" dirty="0">
              <a:solidFill>
                <a:schemeClr val="tx1"/>
              </a:solidFill>
            </a:endParaRPr>
          </a:p>
        </p:txBody>
      </p:sp>
      <p:sp>
        <p:nvSpPr>
          <p:cNvPr id="98" name="Google Shape;98;p13"/>
          <p:cNvSpPr txBox="1">
            <a:spLocks noGrp="1"/>
          </p:cNvSpPr>
          <p:nvPr>
            <p:ph type="body" idx="2"/>
          </p:nvPr>
        </p:nvSpPr>
        <p:spPr>
          <a:xfrm>
            <a:off x="515244" y="729648"/>
            <a:ext cx="6425400" cy="571500"/>
          </a:xfrm>
          <a:prstGeom prst="rect">
            <a:avLst/>
          </a:prstGeom>
          <a:noFill/>
          <a:ln>
            <a:noFill/>
          </a:ln>
        </p:spPr>
        <p:txBody>
          <a:bodyPr spcFirstLastPara="1" wrap="square" lIns="91425" tIns="45700" rIns="91425" bIns="45700" anchor="t" anchorCtr="0">
            <a:normAutofit/>
          </a:bodyPr>
          <a:lstStyle/>
          <a:p>
            <a:pPr marL="0" lvl="0" indent="0" algn="l" rtl="0">
              <a:lnSpc>
                <a:spcPct val="121052"/>
              </a:lnSpc>
              <a:spcBef>
                <a:spcPts val="0"/>
              </a:spcBef>
              <a:spcAft>
                <a:spcPts val="0"/>
              </a:spcAft>
              <a:buClr>
                <a:schemeClr val="dk1"/>
              </a:buClr>
              <a:buSzPts val="1900"/>
              <a:buNone/>
            </a:pPr>
            <a:r>
              <a:rPr lang="es-ES" b="1" dirty="0"/>
              <a:t>Justificación (1/2) - Situación actual y necesidad</a:t>
            </a:r>
          </a:p>
          <a:p>
            <a:pPr marL="0" lvl="0" indent="0" algn="l" rtl="0">
              <a:lnSpc>
                <a:spcPct val="121052"/>
              </a:lnSpc>
              <a:spcBef>
                <a:spcPts val="0"/>
              </a:spcBef>
              <a:spcAft>
                <a:spcPts val="0"/>
              </a:spcAft>
              <a:buClr>
                <a:schemeClr val="dk1"/>
              </a:buClr>
              <a:buSzPts val="1900"/>
              <a:buNone/>
            </a:pPr>
            <a:endParaRPr b="1" dirty="0"/>
          </a:p>
        </p:txBody>
      </p:sp>
      <p:sp>
        <p:nvSpPr>
          <p:cNvPr id="100" name="Google Shape;100;p13"/>
          <p:cNvSpPr txBox="1">
            <a:spLocks noGrp="1"/>
          </p:cNvSpPr>
          <p:nvPr>
            <p:ph type="title" idx="4294967295"/>
          </p:nvPr>
        </p:nvSpPr>
        <p:spPr>
          <a:xfrm>
            <a:off x="457197" y="4747750"/>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a:t>​​Estado del arte de las medidas de seguridad a nivel de aplicación en el contexto de ataques de inyección de prompt dirigidos a sistemas basados en LLM​</a:t>
            </a:r>
            <a:endParaRPr sz="1000"/>
          </a:p>
          <a:p>
            <a:pPr marL="0" lvl="0" indent="0" algn="l" rtl="0">
              <a:lnSpc>
                <a:spcPct val="114285"/>
              </a:lnSpc>
              <a:spcBef>
                <a:spcPts val="0"/>
              </a:spcBef>
              <a:spcAft>
                <a:spcPts val="0"/>
              </a:spcAft>
              <a:buClr>
                <a:schemeClr val="dk1"/>
              </a:buClr>
              <a:buSzPts val="700"/>
              <a:buFont typeface="Gill Sans"/>
              <a:buNone/>
            </a:pPr>
            <a:endParaRPr sz="1000">
              <a:latin typeface="Arial"/>
              <a:ea typeface="Arial"/>
              <a:cs typeface="Arial"/>
              <a:sym typeface="Arial"/>
            </a:endParaRPr>
          </a:p>
        </p:txBody>
      </p:sp>
      <p:sp>
        <p:nvSpPr>
          <p:cNvPr id="2" name="Marcador de número de diapositiva 1">
            <a:extLst>
              <a:ext uri="{FF2B5EF4-FFF2-40B4-BE49-F238E27FC236}">
                <a16:creationId xmlns:a16="http://schemas.microsoft.com/office/drawing/2014/main" id="{2E1B4307-C6CD-40E9-382B-16FA013625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14</a:t>
            </a:fld>
            <a:endParaRPr lang="es-E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B448606E-AB64-69B0-B72A-D4C269E96B07}"/>
            </a:ext>
          </a:extLst>
        </p:cNvPr>
        <p:cNvGrpSpPr/>
        <p:nvPr/>
      </p:nvGrpSpPr>
      <p:grpSpPr>
        <a:xfrm>
          <a:off x="0" y="0"/>
          <a:ext cx="0" cy="0"/>
          <a:chOff x="0" y="0"/>
          <a:chExt cx="0" cy="0"/>
        </a:xfrm>
      </p:grpSpPr>
      <p:sp>
        <p:nvSpPr>
          <p:cNvPr id="97" name="Google Shape;97;p13">
            <a:extLst>
              <a:ext uri="{FF2B5EF4-FFF2-40B4-BE49-F238E27FC236}">
                <a16:creationId xmlns:a16="http://schemas.microsoft.com/office/drawing/2014/main" id="{9A7B08D7-1732-F1C6-0523-D4B7B7120AC1}"/>
              </a:ext>
            </a:extLst>
          </p:cNvPr>
          <p:cNvSpPr txBox="1">
            <a:spLocks noGrp="1"/>
          </p:cNvSpPr>
          <p:nvPr>
            <p:ph type="body" idx="1"/>
          </p:nvPr>
        </p:nvSpPr>
        <p:spPr>
          <a:xfrm>
            <a:off x="515250" y="1203598"/>
            <a:ext cx="8113500" cy="3544152"/>
          </a:xfrm>
          <a:prstGeom prst="rect">
            <a:avLst/>
          </a:prstGeom>
          <a:noFill/>
          <a:ln>
            <a:noFill/>
          </a:ln>
        </p:spPr>
        <p:txBody>
          <a:bodyPr spcFirstLastPara="1" wrap="square" lIns="91425" tIns="45700" rIns="91425" bIns="45700" anchor="t" anchorCtr="0">
            <a:normAutofit fontScale="85000" lnSpcReduction="20000"/>
          </a:bodyPr>
          <a:lstStyle/>
          <a:p>
            <a:pPr marL="514350" lvl="0" indent="-285750">
              <a:lnSpc>
                <a:spcPct val="170000"/>
              </a:lnSpc>
              <a:buFont typeface="Arial" panose="020B0604020202020204" pitchFamily="34" charset="0"/>
              <a:buChar char="•"/>
            </a:pPr>
            <a:r>
              <a:rPr lang="es-MX" sz="1600" dirty="0">
                <a:solidFill>
                  <a:schemeClr val="tx1"/>
                </a:solidFill>
              </a:rPr>
              <a:t>Identificar las medidas existentes. </a:t>
            </a:r>
          </a:p>
          <a:p>
            <a:pPr marL="514350" lvl="0" indent="-285750">
              <a:lnSpc>
                <a:spcPct val="170000"/>
              </a:lnSpc>
              <a:buFont typeface="Arial" panose="020B0604020202020204" pitchFamily="34" charset="0"/>
              <a:buChar char="•"/>
            </a:pPr>
            <a:r>
              <a:rPr lang="es-MX" sz="1600" dirty="0">
                <a:solidFill>
                  <a:schemeClr val="tx1"/>
                </a:solidFill>
              </a:rPr>
              <a:t>Clasificarlas según su punto de intervención. </a:t>
            </a:r>
          </a:p>
          <a:p>
            <a:pPr marL="514350" lvl="0" indent="-285750">
              <a:lnSpc>
                <a:spcPct val="170000"/>
              </a:lnSpc>
              <a:buFont typeface="Arial" panose="020B0604020202020204" pitchFamily="34" charset="0"/>
              <a:buChar char="•"/>
            </a:pPr>
            <a:r>
              <a:rPr lang="es-MX" sz="1600" dirty="0">
                <a:solidFill>
                  <a:schemeClr val="tx1"/>
                </a:solidFill>
              </a:rPr>
              <a:t>Comparar y sintetizar sus características. </a:t>
            </a:r>
          </a:p>
          <a:p>
            <a:pPr marL="514350" lvl="0" indent="-285750">
              <a:lnSpc>
                <a:spcPct val="170000"/>
              </a:lnSpc>
              <a:buFont typeface="Arial" panose="020B0604020202020204" pitchFamily="34" charset="0"/>
              <a:buChar char="•"/>
            </a:pPr>
            <a:r>
              <a:rPr lang="es-MX" sz="1600" dirty="0">
                <a:solidFill>
                  <a:schemeClr val="tx1"/>
                </a:solidFill>
              </a:rPr>
              <a:t>Analizar: </a:t>
            </a:r>
          </a:p>
          <a:p>
            <a:pPr lvl="1">
              <a:lnSpc>
                <a:spcPct val="170000"/>
              </a:lnSpc>
            </a:pPr>
            <a:r>
              <a:rPr lang="es-MX" sz="1600" dirty="0">
                <a:latin typeface="Gill Sans MT" panose="020B0502020104020203" pitchFamily="34" charset="0"/>
              </a:rPr>
              <a:t>Contextos de aplicación. </a:t>
            </a:r>
          </a:p>
          <a:p>
            <a:pPr lvl="1">
              <a:lnSpc>
                <a:spcPct val="170000"/>
              </a:lnSpc>
            </a:pPr>
            <a:r>
              <a:rPr lang="es-MX" sz="1600" dirty="0">
                <a:latin typeface="Gill Sans MT" panose="020B0502020104020203" pitchFamily="34" charset="0"/>
              </a:rPr>
              <a:t>Criterios de evaluación. </a:t>
            </a:r>
          </a:p>
          <a:p>
            <a:pPr lvl="1">
              <a:lnSpc>
                <a:spcPct val="170000"/>
              </a:lnSpc>
            </a:pPr>
            <a:r>
              <a:rPr lang="es-MX" sz="1600" dirty="0">
                <a:latin typeface="Gill Sans MT" panose="020B0502020104020203" pitchFamily="34" charset="0"/>
              </a:rPr>
              <a:t>Alcances y limitaciones. </a:t>
            </a:r>
          </a:p>
          <a:p>
            <a:pPr lvl="1">
              <a:lnSpc>
                <a:spcPct val="170000"/>
              </a:lnSpc>
            </a:pPr>
            <a:r>
              <a:rPr lang="es-MX" sz="1600" dirty="0">
                <a:latin typeface="Gill Sans MT" panose="020B0502020104020203" pitchFamily="34" charset="0"/>
              </a:rPr>
              <a:t>Compromisos entre seguridad y utilidad. </a:t>
            </a:r>
          </a:p>
          <a:p>
            <a:pPr marL="514350" lvl="0" indent="-285750">
              <a:lnSpc>
                <a:spcPct val="170000"/>
              </a:lnSpc>
              <a:buFont typeface="Arial" panose="020B0604020202020204" pitchFamily="34" charset="0"/>
              <a:buChar char="•"/>
            </a:pPr>
            <a:r>
              <a:rPr lang="es-MX" sz="1600" dirty="0">
                <a:solidFill>
                  <a:schemeClr val="tx1"/>
                </a:solidFill>
              </a:rPr>
              <a:t>Identificar aspectos abiertos para futuras investigaciones</a:t>
            </a:r>
          </a:p>
        </p:txBody>
      </p:sp>
      <p:sp>
        <p:nvSpPr>
          <p:cNvPr id="98" name="Google Shape;98;p13">
            <a:extLst>
              <a:ext uri="{FF2B5EF4-FFF2-40B4-BE49-F238E27FC236}">
                <a16:creationId xmlns:a16="http://schemas.microsoft.com/office/drawing/2014/main" id="{A4ABA6AD-2F10-FEA9-F7D9-F1538A440544}"/>
              </a:ext>
            </a:extLst>
          </p:cNvPr>
          <p:cNvSpPr txBox="1">
            <a:spLocks noGrp="1"/>
          </p:cNvSpPr>
          <p:nvPr>
            <p:ph type="body" idx="2"/>
          </p:nvPr>
        </p:nvSpPr>
        <p:spPr>
          <a:xfrm>
            <a:off x="515244" y="729648"/>
            <a:ext cx="6425400" cy="571500"/>
          </a:xfrm>
          <a:prstGeom prst="rect">
            <a:avLst/>
          </a:prstGeom>
          <a:noFill/>
          <a:ln>
            <a:noFill/>
          </a:ln>
        </p:spPr>
        <p:txBody>
          <a:bodyPr spcFirstLastPara="1" wrap="square" lIns="91425" tIns="45700" rIns="91425" bIns="45700" anchor="t" anchorCtr="0">
            <a:normAutofit/>
          </a:bodyPr>
          <a:lstStyle/>
          <a:p>
            <a:pPr marL="0" lvl="0" indent="0" algn="l" rtl="0">
              <a:lnSpc>
                <a:spcPct val="121052"/>
              </a:lnSpc>
              <a:spcBef>
                <a:spcPts val="0"/>
              </a:spcBef>
              <a:spcAft>
                <a:spcPts val="0"/>
              </a:spcAft>
              <a:buClr>
                <a:schemeClr val="dk1"/>
              </a:buClr>
              <a:buSzPts val="1900"/>
              <a:buNone/>
            </a:pPr>
            <a:r>
              <a:rPr lang="es-ES" b="1" dirty="0"/>
              <a:t>Justificación (2/2) – Aporte esperado</a:t>
            </a:r>
            <a:endParaRPr b="1" dirty="0"/>
          </a:p>
        </p:txBody>
      </p:sp>
      <p:sp>
        <p:nvSpPr>
          <p:cNvPr id="100" name="Google Shape;100;p13">
            <a:extLst>
              <a:ext uri="{FF2B5EF4-FFF2-40B4-BE49-F238E27FC236}">
                <a16:creationId xmlns:a16="http://schemas.microsoft.com/office/drawing/2014/main" id="{9226AA18-AE51-73B5-C596-E48ED82B0F37}"/>
              </a:ext>
            </a:extLst>
          </p:cNvPr>
          <p:cNvSpPr txBox="1">
            <a:spLocks noGrp="1"/>
          </p:cNvSpPr>
          <p:nvPr>
            <p:ph type="title" idx="4294967295"/>
          </p:nvPr>
        </p:nvSpPr>
        <p:spPr>
          <a:xfrm>
            <a:off x="457197" y="4747750"/>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a:t>​​Estado del arte de las medidas de seguridad a nivel de aplicación en el contexto de ataques de inyección de prompt dirigidos a sistemas basados en LLM​</a:t>
            </a:r>
            <a:endParaRPr sz="1000"/>
          </a:p>
          <a:p>
            <a:pPr marL="0" lvl="0" indent="0" algn="l" rtl="0">
              <a:lnSpc>
                <a:spcPct val="114285"/>
              </a:lnSpc>
              <a:spcBef>
                <a:spcPts val="0"/>
              </a:spcBef>
              <a:spcAft>
                <a:spcPts val="0"/>
              </a:spcAft>
              <a:buClr>
                <a:schemeClr val="dk1"/>
              </a:buClr>
              <a:buSzPts val="700"/>
              <a:buFont typeface="Gill Sans"/>
              <a:buNone/>
            </a:pPr>
            <a:endParaRPr sz="1000">
              <a:latin typeface="Arial"/>
              <a:ea typeface="Arial"/>
              <a:cs typeface="Arial"/>
              <a:sym typeface="Arial"/>
            </a:endParaRPr>
          </a:p>
        </p:txBody>
      </p:sp>
      <p:sp>
        <p:nvSpPr>
          <p:cNvPr id="2" name="Marcador de número de diapositiva 1">
            <a:extLst>
              <a:ext uri="{FF2B5EF4-FFF2-40B4-BE49-F238E27FC236}">
                <a16:creationId xmlns:a16="http://schemas.microsoft.com/office/drawing/2014/main" id="{AC223565-C3B0-6805-572E-5091560B08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15</a:t>
            </a:fld>
            <a:endParaRPr lang="es-ES"/>
          </a:p>
        </p:txBody>
      </p:sp>
    </p:spTree>
    <p:extLst>
      <p:ext uri="{BB962C8B-B14F-4D97-AF65-F5344CB8AC3E}">
        <p14:creationId xmlns:p14="http://schemas.microsoft.com/office/powerpoint/2010/main" val="769753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ctr" rtl="0">
              <a:lnSpc>
                <a:spcPct val="118181"/>
              </a:lnSpc>
              <a:spcBef>
                <a:spcPts val="0"/>
              </a:spcBef>
              <a:spcAft>
                <a:spcPts val="0"/>
              </a:spcAft>
              <a:buClr>
                <a:schemeClr val="dk1"/>
              </a:buClr>
              <a:buSzPts val="2200"/>
              <a:buFont typeface="Gill Sans"/>
              <a:buNone/>
            </a:pPr>
            <a:r>
              <a:rPr lang="es-ES" b="1" dirty="0"/>
              <a:t>Delimitación del trabajo</a:t>
            </a:r>
            <a:endParaRPr b="1" dirty="0"/>
          </a:p>
        </p:txBody>
      </p:sp>
      <p:sp>
        <p:nvSpPr>
          <p:cNvPr id="106" name="Google Shape;106;p14"/>
          <p:cNvSpPr txBox="1">
            <a:spLocks noGrp="1"/>
          </p:cNvSpPr>
          <p:nvPr>
            <p:ph type="title"/>
          </p:nvPr>
        </p:nvSpPr>
        <p:spPr>
          <a:xfrm>
            <a:off x="457197" y="4747750"/>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dirty="0"/>
              <a:t>​​Estado del arte de las medidas de seguridad a nivel de aplicación en el contexto de ataques de inyección de </a:t>
            </a:r>
            <a:r>
              <a:rPr lang="es-ES" sz="1000" i="1" dirty="0" err="1"/>
              <a:t>prompt</a:t>
            </a:r>
            <a:r>
              <a:rPr lang="es-ES" sz="1000" dirty="0"/>
              <a:t> dirigidos a sistemas basados en LLM​</a:t>
            </a:r>
            <a:endParaRPr sz="1000" dirty="0"/>
          </a:p>
          <a:p>
            <a:pPr marL="0" lvl="0" indent="0" algn="l" rtl="0">
              <a:lnSpc>
                <a:spcPct val="114285"/>
              </a:lnSpc>
              <a:spcBef>
                <a:spcPts val="0"/>
              </a:spcBef>
              <a:spcAft>
                <a:spcPts val="0"/>
              </a:spcAft>
              <a:buClr>
                <a:schemeClr val="dk1"/>
              </a:buClr>
              <a:buSzPts val="700"/>
              <a:buFont typeface="Gill Sans"/>
              <a:buNone/>
            </a:pPr>
            <a:endParaRPr sz="1000" dirty="0">
              <a:latin typeface="Arial"/>
              <a:ea typeface="Arial"/>
              <a:cs typeface="Arial"/>
              <a:sym typeface="Arial"/>
            </a:endParaRPr>
          </a:p>
        </p:txBody>
      </p:sp>
      <p:sp>
        <p:nvSpPr>
          <p:cNvPr id="108" name="Google Shape;108;p14"/>
          <p:cNvSpPr txBox="1">
            <a:spLocks noGrp="1"/>
          </p:cNvSpPr>
          <p:nvPr>
            <p:ph type="body" idx="4294967295"/>
          </p:nvPr>
        </p:nvSpPr>
        <p:spPr>
          <a:xfrm>
            <a:off x="349904" y="1131591"/>
            <a:ext cx="4131600" cy="3441510"/>
          </a:xfrm>
          <a:prstGeom prst="rect">
            <a:avLst/>
          </a:prstGeom>
          <a:noFill/>
          <a:ln>
            <a:noFill/>
          </a:ln>
        </p:spPr>
        <p:txBody>
          <a:bodyPr spcFirstLastPara="1" wrap="square" lIns="91425" tIns="45700" rIns="91425" bIns="45700" anchor="t" anchorCtr="0">
            <a:normAutofit fontScale="85000" lnSpcReduction="20000"/>
          </a:bodyPr>
          <a:lstStyle/>
          <a:p>
            <a:pPr marL="107950" lvl="0" algn="l" rtl="0">
              <a:lnSpc>
                <a:spcPct val="121052"/>
              </a:lnSpc>
              <a:spcBef>
                <a:spcPts val="0"/>
              </a:spcBef>
              <a:spcAft>
                <a:spcPts val="0"/>
              </a:spcAft>
              <a:buSzPts val="1900"/>
            </a:pPr>
            <a:r>
              <a:rPr lang="es-ES" b="1" dirty="0">
                <a:solidFill>
                  <a:schemeClr val="tx1"/>
                </a:solidFill>
              </a:rPr>
              <a:t>Alcances</a:t>
            </a:r>
          </a:p>
          <a:p>
            <a:pPr marL="450850" lvl="0" indent="-342900" algn="l" rtl="0">
              <a:lnSpc>
                <a:spcPct val="160000"/>
              </a:lnSpc>
              <a:spcBef>
                <a:spcPts val="0"/>
              </a:spcBef>
              <a:spcAft>
                <a:spcPts val="0"/>
              </a:spcAft>
              <a:buSzPts val="1900"/>
              <a:buFont typeface="Arial" panose="020B0604020202020204" pitchFamily="34" charset="0"/>
              <a:buChar char="•"/>
            </a:pPr>
            <a:r>
              <a:rPr lang="es-ES" sz="1600" dirty="0">
                <a:solidFill>
                  <a:schemeClr val="tx1"/>
                </a:solidFill>
              </a:rPr>
              <a:t>Alcance de tipo descriptivo.</a:t>
            </a:r>
          </a:p>
          <a:p>
            <a:pPr marL="450850" lvl="0" indent="-342900" algn="l" rtl="0">
              <a:lnSpc>
                <a:spcPct val="160000"/>
              </a:lnSpc>
              <a:spcBef>
                <a:spcPts val="0"/>
              </a:spcBef>
              <a:spcAft>
                <a:spcPts val="0"/>
              </a:spcAft>
              <a:buSzPts val="1900"/>
              <a:buFont typeface="Arial" panose="020B0604020202020204" pitchFamily="34" charset="0"/>
              <a:buChar char="•"/>
            </a:pPr>
            <a:r>
              <a:rPr lang="es-ES" sz="1600" dirty="0">
                <a:solidFill>
                  <a:schemeClr val="tx1"/>
                </a:solidFill>
              </a:rPr>
              <a:t>Literatura científica no mayor a cinco años en ingles.</a:t>
            </a:r>
          </a:p>
          <a:p>
            <a:pPr marL="450850" lvl="0" indent="-342900" algn="l" rtl="0">
              <a:lnSpc>
                <a:spcPct val="160000"/>
              </a:lnSpc>
              <a:spcBef>
                <a:spcPts val="0"/>
              </a:spcBef>
              <a:spcAft>
                <a:spcPts val="0"/>
              </a:spcAft>
              <a:buSzPts val="1900"/>
              <a:buFont typeface="Arial" panose="020B0604020202020204" pitchFamily="34" charset="0"/>
              <a:buChar char="•"/>
            </a:pPr>
            <a:r>
              <a:rPr lang="es-ES" sz="1600" dirty="0">
                <a:solidFill>
                  <a:schemeClr val="tx1"/>
                </a:solidFill>
              </a:rPr>
              <a:t>Literatura que sea accesible mediante motores de búsqueda con acceso institucional como ACM, </a:t>
            </a:r>
            <a:r>
              <a:rPr lang="es-ES" sz="1600" i="1" dirty="0">
                <a:solidFill>
                  <a:schemeClr val="tx1"/>
                </a:solidFill>
              </a:rPr>
              <a:t>Springer</a:t>
            </a:r>
            <a:r>
              <a:rPr lang="es-ES" sz="1600" dirty="0">
                <a:solidFill>
                  <a:schemeClr val="tx1"/>
                </a:solidFill>
              </a:rPr>
              <a:t>, </a:t>
            </a:r>
            <a:r>
              <a:rPr lang="es-ES" sz="1600" i="1" dirty="0" err="1">
                <a:solidFill>
                  <a:schemeClr val="tx1"/>
                </a:solidFill>
              </a:rPr>
              <a:t>ScienceDirect</a:t>
            </a:r>
            <a:r>
              <a:rPr lang="es-ES" sz="1600" dirty="0">
                <a:solidFill>
                  <a:schemeClr val="tx1"/>
                </a:solidFill>
              </a:rPr>
              <a:t> e IEEE.</a:t>
            </a:r>
          </a:p>
          <a:p>
            <a:pPr marL="450850" lvl="0" indent="-342900" algn="l" rtl="0">
              <a:lnSpc>
                <a:spcPct val="160000"/>
              </a:lnSpc>
              <a:spcBef>
                <a:spcPts val="0"/>
              </a:spcBef>
              <a:spcAft>
                <a:spcPts val="0"/>
              </a:spcAft>
              <a:buSzPts val="1900"/>
              <a:buFont typeface="Arial" panose="020B0604020202020204" pitchFamily="34" charset="0"/>
              <a:buChar char="•"/>
            </a:pPr>
            <a:r>
              <a:rPr lang="es-ES" sz="1600" dirty="0">
                <a:solidFill>
                  <a:schemeClr val="tx1"/>
                </a:solidFill>
              </a:rPr>
              <a:t>Centrada en el área de ciberseguridad analizando los ataques y mitigaciones.</a:t>
            </a:r>
          </a:p>
          <a:p>
            <a:pPr marL="450850" lvl="0" indent="-342900" algn="l" rtl="0">
              <a:lnSpc>
                <a:spcPct val="160000"/>
              </a:lnSpc>
              <a:spcBef>
                <a:spcPts val="0"/>
              </a:spcBef>
              <a:spcAft>
                <a:spcPts val="0"/>
              </a:spcAft>
              <a:buSzPts val="1900"/>
              <a:buFont typeface="Arial" panose="020B0604020202020204" pitchFamily="34" charset="0"/>
              <a:buChar char="•"/>
            </a:pPr>
            <a:r>
              <a:rPr lang="es-ES" sz="1600" dirty="0">
                <a:solidFill>
                  <a:schemeClr val="tx1"/>
                </a:solidFill>
              </a:rPr>
              <a:t>Medidas de seguridad que pueden implementarse a nivel de aplicación.</a:t>
            </a:r>
          </a:p>
          <a:p>
            <a:pPr marL="450850" lvl="0" indent="-342900" algn="l" rtl="0">
              <a:lnSpc>
                <a:spcPct val="121052"/>
              </a:lnSpc>
              <a:spcBef>
                <a:spcPts val="0"/>
              </a:spcBef>
              <a:spcAft>
                <a:spcPts val="0"/>
              </a:spcAft>
              <a:buSzPts val="1900"/>
              <a:buFont typeface="Arial" panose="020B0604020202020204" pitchFamily="34" charset="0"/>
              <a:buChar char="•"/>
            </a:pPr>
            <a:endParaRPr lang="es-ES" sz="1600" dirty="0">
              <a:solidFill>
                <a:schemeClr val="tx1"/>
              </a:solidFill>
            </a:endParaRPr>
          </a:p>
          <a:p>
            <a:pPr marL="450850" lvl="0" indent="-342900" algn="l" rtl="0">
              <a:lnSpc>
                <a:spcPct val="121052"/>
              </a:lnSpc>
              <a:spcBef>
                <a:spcPts val="0"/>
              </a:spcBef>
              <a:spcAft>
                <a:spcPts val="0"/>
              </a:spcAft>
              <a:buSzPts val="1900"/>
              <a:buFont typeface="Arial" panose="020B0604020202020204" pitchFamily="34" charset="0"/>
              <a:buChar char="•"/>
            </a:pPr>
            <a:endParaRPr lang="es-ES" sz="1800" dirty="0">
              <a:solidFill>
                <a:schemeClr val="tx1"/>
              </a:solidFill>
            </a:endParaRPr>
          </a:p>
          <a:p>
            <a:pPr marL="450850" lvl="0" indent="-342900" algn="l" rtl="0">
              <a:lnSpc>
                <a:spcPct val="121052"/>
              </a:lnSpc>
              <a:spcBef>
                <a:spcPts val="0"/>
              </a:spcBef>
              <a:spcAft>
                <a:spcPts val="0"/>
              </a:spcAft>
              <a:buSzPts val="1900"/>
              <a:buFont typeface="Arial" panose="020B0604020202020204" pitchFamily="34" charset="0"/>
              <a:buChar char="•"/>
            </a:pPr>
            <a:endParaRPr lang="es-MX" sz="1800" dirty="0">
              <a:solidFill>
                <a:schemeClr val="tx1"/>
              </a:solidFill>
            </a:endParaRPr>
          </a:p>
        </p:txBody>
      </p:sp>
      <p:sp>
        <p:nvSpPr>
          <p:cNvPr id="109" name="Google Shape;109;p14"/>
          <p:cNvSpPr txBox="1">
            <a:spLocks noGrp="1"/>
          </p:cNvSpPr>
          <p:nvPr>
            <p:ph type="body" idx="4294967295"/>
          </p:nvPr>
        </p:nvSpPr>
        <p:spPr>
          <a:xfrm>
            <a:off x="4690829" y="1131590"/>
            <a:ext cx="4131600" cy="3441510"/>
          </a:xfrm>
          <a:prstGeom prst="rect">
            <a:avLst/>
          </a:prstGeom>
          <a:noFill/>
          <a:ln>
            <a:noFill/>
          </a:ln>
        </p:spPr>
        <p:txBody>
          <a:bodyPr spcFirstLastPara="1" wrap="square" lIns="91425" tIns="45700" rIns="91425" bIns="45700" anchor="t" anchorCtr="0">
            <a:normAutofit/>
          </a:bodyPr>
          <a:lstStyle/>
          <a:p>
            <a:pPr marL="107950" lvl="0" algn="l" rtl="0">
              <a:lnSpc>
                <a:spcPct val="121052"/>
              </a:lnSpc>
              <a:spcBef>
                <a:spcPts val="0"/>
              </a:spcBef>
              <a:spcAft>
                <a:spcPts val="0"/>
              </a:spcAft>
              <a:buSzPts val="1900"/>
            </a:pPr>
            <a:r>
              <a:rPr lang="es-ES" sz="1600" b="1" dirty="0">
                <a:solidFill>
                  <a:schemeClr val="tx1"/>
                </a:solidFill>
              </a:rPr>
              <a:t>Limitaciones</a:t>
            </a:r>
          </a:p>
          <a:p>
            <a:pPr marL="393700" lvl="0" indent="-285750" algn="l" rtl="0">
              <a:lnSpc>
                <a:spcPct val="150000"/>
              </a:lnSpc>
              <a:spcBef>
                <a:spcPts val="0"/>
              </a:spcBef>
              <a:spcAft>
                <a:spcPts val="0"/>
              </a:spcAft>
              <a:buSzPts val="1900"/>
              <a:buFont typeface="Arial" panose="020B0604020202020204" pitchFamily="34" charset="0"/>
              <a:buChar char="•"/>
            </a:pPr>
            <a:r>
              <a:rPr lang="es-MX" sz="1400" dirty="0">
                <a:solidFill>
                  <a:schemeClr val="tx1"/>
                </a:solidFill>
              </a:rPr>
              <a:t>Artículos o revisiones que no puedan ser accedidos por medios institucionales.</a:t>
            </a:r>
          </a:p>
          <a:p>
            <a:pPr marL="393700" lvl="0" indent="-285750" algn="l" rtl="0">
              <a:lnSpc>
                <a:spcPct val="150000"/>
              </a:lnSpc>
              <a:spcBef>
                <a:spcPts val="0"/>
              </a:spcBef>
              <a:spcAft>
                <a:spcPts val="0"/>
              </a:spcAft>
              <a:buSzPts val="1900"/>
              <a:buFont typeface="Arial" panose="020B0604020202020204" pitchFamily="34" charset="0"/>
              <a:buChar char="•"/>
            </a:pPr>
            <a:r>
              <a:rPr lang="es-MX" sz="1400" dirty="0">
                <a:solidFill>
                  <a:schemeClr val="tx1"/>
                </a:solidFill>
              </a:rPr>
              <a:t>Artículos o revisiones que no hayan sido publicados o revisados oficialmente.</a:t>
            </a:r>
          </a:p>
          <a:p>
            <a:pPr marL="393700" lvl="0" indent="-285750" algn="l" rtl="0">
              <a:lnSpc>
                <a:spcPct val="150000"/>
              </a:lnSpc>
              <a:spcBef>
                <a:spcPts val="0"/>
              </a:spcBef>
              <a:spcAft>
                <a:spcPts val="0"/>
              </a:spcAft>
              <a:buSzPts val="1900"/>
              <a:buFont typeface="Arial" panose="020B0604020202020204" pitchFamily="34" charset="0"/>
              <a:buChar char="•"/>
            </a:pPr>
            <a:r>
              <a:rPr lang="es-MX" sz="1400" dirty="0">
                <a:solidFill>
                  <a:schemeClr val="tx1"/>
                </a:solidFill>
              </a:rPr>
              <a:t>Medidas de seguridad que modifiquen el LLM.</a:t>
            </a:r>
          </a:p>
        </p:txBody>
      </p:sp>
      <p:sp>
        <p:nvSpPr>
          <p:cNvPr id="2" name="Marcador de número de diapositiva 1">
            <a:extLst>
              <a:ext uri="{FF2B5EF4-FFF2-40B4-BE49-F238E27FC236}">
                <a16:creationId xmlns:a16="http://schemas.microsoft.com/office/drawing/2014/main" id="{B1C591E9-7B04-448A-1E63-F04E547235E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16</a:t>
            </a:fld>
            <a:endParaRPr lang="es-E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Google Shape;106;p14">
            <a:extLst>
              <a:ext uri="{FF2B5EF4-FFF2-40B4-BE49-F238E27FC236}">
                <a16:creationId xmlns:a16="http://schemas.microsoft.com/office/drawing/2014/main" id="{DC3D2AAF-744F-9310-4FC9-2FAFA9A77A31}"/>
              </a:ext>
            </a:extLst>
          </p:cNvPr>
          <p:cNvSpPr txBox="1">
            <a:spLocks noGrp="1"/>
          </p:cNvSpPr>
          <p:nvPr>
            <p:ph type="title"/>
          </p:nvPr>
        </p:nvSpPr>
        <p:spPr>
          <a:xfrm>
            <a:off x="457196" y="4875251"/>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dirty="0"/>
              <a:t>​​Estado del arte de las medidas de seguridad a nivel de aplicación en el contexto de ataques de inyección de </a:t>
            </a:r>
            <a:r>
              <a:rPr lang="es-ES" sz="1000" i="1" dirty="0" err="1"/>
              <a:t>prompt</a:t>
            </a:r>
            <a:r>
              <a:rPr lang="es-ES" sz="1000" dirty="0"/>
              <a:t> dirigidos a sistemas basados en LLM​</a:t>
            </a:r>
            <a:endParaRPr sz="1000" dirty="0"/>
          </a:p>
          <a:p>
            <a:pPr marL="0" lvl="0" indent="0" algn="l" rtl="0">
              <a:lnSpc>
                <a:spcPct val="114285"/>
              </a:lnSpc>
              <a:spcBef>
                <a:spcPts val="0"/>
              </a:spcBef>
              <a:spcAft>
                <a:spcPts val="0"/>
              </a:spcAft>
              <a:buClr>
                <a:schemeClr val="dk1"/>
              </a:buClr>
              <a:buSzPts val="700"/>
              <a:buFont typeface="Gill Sans"/>
              <a:buNone/>
            </a:pPr>
            <a:endParaRPr sz="1000" dirty="0">
              <a:latin typeface="Arial"/>
              <a:ea typeface="Arial"/>
              <a:cs typeface="Arial"/>
              <a:sym typeface="Arial"/>
            </a:endParaRPr>
          </a:p>
        </p:txBody>
      </p:sp>
      <p:pic>
        <p:nvPicPr>
          <p:cNvPr id="4" name="Imagen 3">
            <a:extLst>
              <a:ext uri="{FF2B5EF4-FFF2-40B4-BE49-F238E27FC236}">
                <a16:creationId xmlns:a16="http://schemas.microsoft.com/office/drawing/2014/main" id="{768D82D1-6F39-10DF-0761-6B9F31D9F4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743" y="909820"/>
            <a:ext cx="6982687" cy="3902731"/>
          </a:xfrm>
          <a:prstGeom prst="rect">
            <a:avLst/>
          </a:prstGeom>
        </p:spPr>
      </p:pic>
      <p:sp>
        <p:nvSpPr>
          <p:cNvPr id="5" name="Google Shape;120;p16">
            <a:extLst>
              <a:ext uri="{FF2B5EF4-FFF2-40B4-BE49-F238E27FC236}">
                <a16:creationId xmlns:a16="http://schemas.microsoft.com/office/drawing/2014/main" id="{60E535A0-4524-652F-BB95-95F72F815DD0}"/>
              </a:ext>
            </a:extLst>
          </p:cNvPr>
          <p:cNvSpPr txBox="1">
            <a:spLocks/>
          </p:cNvSpPr>
          <p:nvPr/>
        </p:nvSpPr>
        <p:spPr>
          <a:xfrm>
            <a:off x="457196" y="567520"/>
            <a:ext cx="8229600" cy="342300"/>
          </a:xfrm>
          <a:prstGeom prst="rect">
            <a:avLst/>
          </a:prstGeom>
          <a:noFill/>
          <a:ln>
            <a:noFill/>
          </a:ln>
        </p:spPr>
        <p:txBody>
          <a:bodyPr spcFirstLastPara="1" vert="horz" wrap="square" lIns="91425" tIns="45700" rIns="91425" bIns="45700" rtlCol="0" anchor="ctr" anchorCtr="0">
            <a:noAutofit/>
          </a:bodyPr>
          <a:lstStyle>
            <a:lvl1pPr lvl="0" algn="ctr" defTabSz="298227" rtl="0" eaLnBrk="1" latinLnBrk="0" hangingPunct="1">
              <a:lnSpc>
                <a:spcPct val="110526"/>
              </a:lnSpc>
              <a:spcBef>
                <a:spcPts val="0"/>
              </a:spcBef>
              <a:spcAft>
                <a:spcPts val="0"/>
              </a:spcAft>
              <a:buClr>
                <a:schemeClr val="dk1"/>
              </a:buClr>
              <a:buSzPts val="1900"/>
              <a:buFont typeface="Gill Sans"/>
              <a:buNone/>
              <a:defRPr sz="1900" kern="1200">
                <a:solidFill>
                  <a:schemeClr val="dk1"/>
                </a:solidFill>
                <a:latin typeface="Gill Sans MT" panose="020B0502020104020203" pitchFamily="34" charset="0"/>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lgn="r">
              <a:lnSpc>
                <a:spcPct val="118181"/>
              </a:lnSpc>
              <a:buSzPts val="2200"/>
            </a:pPr>
            <a:r>
              <a:rPr lang="es-ES" b="1" dirty="0"/>
              <a:t>Marco teórico del trabajo </a:t>
            </a:r>
          </a:p>
        </p:txBody>
      </p:sp>
      <p:sp>
        <p:nvSpPr>
          <p:cNvPr id="6" name="Marcador de número de diapositiva 5">
            <a:extLst>
              <a:ext uri="{FF2B5EF4-FFF2-40B4-BE49-F238E27FC236}">
                <a16:creationId xmlns:a16="http://schemas.microsoft.com/office/drawing/2014/main" id="{9A534FB4-B095-2269-C117-21D914B8B5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17</a:t>
            </a:fld>
            <a:endParaRPr lang="es-E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6"/>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l" rtl="0">
              <a:lnSpc>
                <a:spcPct val="118181"/>
              </a:lnSpc>
              <a:spcBef>
                <a:spcPts val="0"/>
              </a:spcBef>
              <a:spcAft>
                <a:spcPts val="0"/>
              </a:spcAft>
              <a:buClr>
                <a:schemeClr val="dk1"/>
              </a:buClr>
              <a:buSzPts val="2200"/>
              <a:buFont typeface="Gill Sans"/>
              <a:buNone/>
            </a:pPr>
            <a:r>
              <a:rPr lang="es-ES" b="1" dirty="0"/>
              <a:t>Método de investigación - Kitchenham</a:t>
            </a:r>
            <a:endParaRPr b="1" dirty="0"/>
          </a:p>
        </p:txBody>
      </p:sp>
      <p:sp>
        <p:nvSpPr>
          <p:cNvPr id="121" name="Google Shape;121;p16"/>
          <p:cNvSpPr txBox="1">
            <a:spLocks noGrp="1"/>
          </p:cNvSpPr>
          <p:nvPr>
            <p:ph type="title"/>
          </p:nvPr>
        </p:nvSpPr>
        <p:spPr>
          <a:xfrm>
            <a:off x="457197" y="4747750"/>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a:t>​​Estado del arte de las medidas de seguridad a nivel de aplicación en el contexto de ataques de inyección de prompt dirigidos a sistemas basados en LLM​</a:t>
            </a:r>
            <a:endParaRPr sz="1000"/>
          </a:p>
          <a:p>
            <a:pPr marL="0" lvl="0" indent="0" algn="l" rtl="0">
              <a:lnSpc>
                <a:spcPct val="114285"/>
              </a:lnSpc>
              <a:spcBef>
                <a:spcPts val="0"/>
              </a:spcBef>
              <a:spcAft>
                <a:spcPts val="0"/>
              </a:spcAft>
              <a:buClr>
                <a:schemeClr val="dk1"/>
              </a:buClr>
              <a:buSzPts val="700"/>
              <a:buFont typeface="Gill Sans"/>
              <a:buNone/>
            </a:pPr>
            <a:endParaRPr sz="1000">
              <a:latin typeface="Arial"/>
              <a:ea typeface="Arial"/>
              <a:cs typeface="Arial"/>
              <a:sym typeface="Arial"/>
            </a:endParaRPr>
          </a:p>
        </p:txBody>
      </p:sp>
      <p:sp>
        <p:nvSpPr>
          <p:cNvPr id="123" name="Google Shape;123;p16"/>
          <p:cNvSpPr txBox="1">
            <a:spLocks noGrp="1"/>
          </p:cNvSpPr>
          <p:nvPr>
            <p:ph type="body" idx="4294967295"/>
          </p:nvPr>
        </p:nvSpPr>
        <p:spPr>
          <a:xfrm>
            <a:off x="389397" y="1203598"/>
            <a:ext cx="8365200" cy="3384376"/>
          </a:xfrm>
          <a:prstGeom prst="rect">
            <a:avLst/>
          </a:prstGeom>
          <a:noFill/>
          <a:ln>
            <a:noFill/>
          </a:ln>
        </p:spPr>
        <p:txBody>
          <a:bodyPr spcFirstLastPara="1" wrap="square" lIns="91425" tIns="45700" rIns="91425" bIns="45700" anchor="t" anchorCtr="0">
            <a:normAutofit/>
          </a:bodyPr>
          <a:lstStyle/>
          <a:p>
            <a:pPr marL="457200" lvl="0" indent="-349250" algn="l" rtl="0">
              <a:lnSpc>
                <a:spcPct val="150000"/>
              </a:lnSpc>
              <a:spcBef>
                <a:spcPts val="0"/>
              </a:spcBef>
              <a:spcAft>
                <a:spcPts val="0"/>
              </a:spcAft>
              <a:buSzPts val="1900"/>
              <a:buChar char="-"/>
            </a:pPr>
            <a:r>
              <a:rPr lang="es-MX" sz="1400" dirty="0">
                <a:solidFill>
                  <a:schemeClr val="tx1"/>
                </a:solidFill>
              </a:rPr>
              <a:t>Es un marco para realizar revisiones sistemáticas de literatura especializado en la ingeniería de software</a:t>
            </a:r>
          </a:p>
          <a:p>
            <a:pPr marL="457200" lvl="0" indent="-349250" algn="l" rtl="0">
              <a:lnSpc>
                <a:spcPct val="150000"/>
              </a:lnSpc>
              <a:spcBef>
                <a:spcPts val="0"/>
              </a:spcBef>
              <a:spcAft>
                <a:spcPts val="0"/>
              </a:spcAft>
              <a:buSzPts val="1900"/>
              <a:buChar char="-"/>
            </a:pPr>
            <a:endParaRPr lang="es-MX" sz="1400" dirty="0">
              <a:solidFill>
                <a:schemeClr val="tx1"/>
              </a:solidFill>
            </a:endParaRPr>
          </a:p>
          <a:p>
            <a:pPr marL="457200" lvl="0" indent="-349250" algn="l" rtl="0">
              <a:lnSpc>
                <a:spcPct val="150000"/>
              </a:lnSpc>
              <a:spcBef>
                <a:spcPts val="0"/>
              </a:spcBef>
              <a:spcAft>
                <a:spcPts val="0"/>
              </a:spcAft>
              <a:buSzPts val="1900"/>
              <a:buChar char="-"/>
            </a:pPr>
            <a:r>
              <a:rPr lang="es-MX" sz="1400" dirty="0">
                <a:solidFill>
                  <a:schemeClr val="tx1"/>
                </a:solidFill>
              </a:rPr>
              <a:t>Busca minimizar el sesgo mediante protocolo definidos, estrategias de búsqueda auditables y criterios estrictos de inclusión de estudios.</a:t>
            </a:r>
          </a:p>
          <a:p>
            <a:pPr marL="107950" lvl="0" algn="l" rtl="0">
              <a:lnSpc>
                <a:spcPct val="150000"/>
              </a:lnSpc>
              <a:spcBef>
                <a:spcPts val="0"/>
              </a:spcBef>
              <a:spcAft>
                <a:spcPts val="0"/>
              </a:spcAft>
              <a:buSzPts val="1900"/>
            </a:pPr>
            <a:endParaRPr lang="es-MX" sz="1400" dirty="0">
              <a:solidFill>
                <a:schemeClr val="tx1"/>
              </a:solidFill>
            </a:endParaRPr>
          </a:p>
          <a:p>
            <a:pPr marL="457200" lvl="0" indent="-349250" algn="l" rtl="0">
              <a:lnSpc>
                <a:spcPct val="150000"/>
              </a:lnSpc>
              <a:spcBef>
                <a:spcPts val="0"/>
              </a:spcBef>
              <a:spcAft>
                <a:spcPts val="0"/>
              </a:spcAft>
              <a:buSzPts val="1900"/>
              <a:buChar char="-"/>
            </a:pPr>
            <a:r>
              <a:rPr lang="es-MX" sz="1400" dirty="0">
                <a:solidFill>
                  <a:schemeClr val="tx1"/>
                </a:solidFill>
              </a:rPr>
              <a:t>Kitchenham define la revisión sistemática de literatura como una forma de identificar, evaluar e interpretar la mayor cantidad de información disponible y relevante sobre un tema.</a:t>
            </a:r>
          </a:p>
          <a:p>
            <a:pPr marL="457200" lvl="0" indent="-349250" algn="l" rtl="0">
              <a:lnSpc>
                <a:spcPct val="150000"/>
              </a:lnSpc>
              <a:spcBef>
                <a:spcPts val="0"/>
              </a:spcBef>
              <a:spcAft>
                <a:spcPts val="0"/>
              </a:spcAft>
              <a:buSzPts val="1900"/>
              <a:buChar char="-"/>
            </a:pPr>
            <a:endParaRPr lang="es-MX" sz="1400" dirty="0">
              <a:solidFill>
                <a:schemeClr val="tx1"/>
              </a:solidFill>
            </a:endParaRPr>
          </a:p>
          <a:p>
            <a:pPr marL="457200" lvl="0" indent="-349250" algn="l" rtl="0">
              <a:lnSpc>
                <a:spcPct val="150000"/>
              </a:lnSpc>
              <a:spcBef>
                <a:spcPts val="0"/>
              </a:spcBef>
              <a:spcAft>
                <a:spcPts val="0"/>
              </a:spcAft>
              <a:buSzPts val="1900"/>
              <a:buChar char="-"/>
            </a:pPr>
            <a:r>
              <a:rPr lang="es-MX" sz="1400" dirty="0">
                <a:solidFill>
                  <a:schemeClr val="tx1"/>
                </a:solidFill>
              </a:rPr>
              <a:t>Una revisión sistemática es un estudio secundario mientras que los estudios individuales que contribuyen a la revisión son estudios primarios.</a:t>
            </a:r>
            <a:endParaRPr sz="1400" dirty="0">
              <a:solidFill>
                <a:schemeClr val="tx1"/>
              </a:solidFill>
            </a:endParaRPr>
          </a:p>
        </p:txBody>
      </p:sp>
      <p:sp>
        <p:nvSpPr>
          <p:cNvPr id="2" name="Marcador de número de diapositiva 1">
            <a:extLst>
              <a:ext uri="{FF2B5EF4-FFF2-40B4-BE49-F238E27FC236}">
                <a16:creationId xmlns:a16="http://schemas.microsoft.com/office/drawing/2014/main" id="{DFF6769B-35EA-C830-F4AD-091B5FFB54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18</a:t>
            </a:fld>
            <a:endParaRPr lang="es-E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04C7527E-88F3-69B7-AD58-4CD3A33BB0D9}"/>
            </a:ext>
          </a:extLst>
        </p:cNvPr>
        <p:cNvGrpSpPr/>
        <p:nvPr/>
      </p:nvGrpSpPr>
      <p:grpSpPr>
        <a:xfrm>
          <a:off x="0" y="0"/>
          <a:ext cx="0" cy="0"/>
          <a:chOff x="0" y="0"/>
          <a:chExt cx="0" cy="0"/>
        </a:xfrm>
      </p:grpSpPr>
      <p:sp>
        <p:nvSpPr>
          <p:cNvPr id="120" name="Google Shape;120;p16">
            <a:extLst>
              <a:ext uri="{FF2B5EF4-FFF2-40B4-BE49-F238E27FC236}">
                <a16:creationId xmlns:a16="http://schemas.microsoft.com/office/drawing/2014/main" id="{C022D33D-5B98-BC33-C023-0569B556152B}"/>
              </a:ext>
            </a:extLst>
          </p:cNvPr>
          <p:cNvSpPr txBox="1">
            <a:spLocks noGrp="1"/>
          </p:cNvSpPr>
          <p:nvPr>
            <p:ph type="title"/>
          </p:nvPr>
        </p:nvSpPr>
        <p:spPr>
          <a:xfrm>
            <a:off x="457197" y="555526"/>
            <a:ext cx="8229600" cy="342300"/>
          </a:xfrm>
          <a:prstGeom prst="rect">
            <a:avLst/>
          </a:prstGeom>
          <a:noFill/>
          <a:ln>
            <a:noFill/>
          </a:ln>
        </p:spPr>
        <p:txBody>
          <a:bodyPr spcFirstLastPara="1" wrap="square" lIns="91425" tIns="45700" rIns="91425" bIns="45700" anchor="ctr" anchorCtr="0">
            <a:noAutofit/>
          </a:bodyPr>
          <a:lstStyle/>
          <a:p>
            <a:pPr marL="0" lvl="0" indent="0" algn="l" rtl="0">
              <a:lnSpc>
                <a:spcPct val="118181"/>
              </a:lnSpc>
              <a:spcBef>
                <a:spcPts val="0"/>
              </a:spcBef>
              <a:spcAft>
                <a:spcPts val="0"/>
              </a:spcAft>
              <a:buClr>
                <a:schemeClr val="dk1"/>
              </a:buClr>
              <a:buSzPts val="2200"/>
              <a:buFont typeface="Gill Sans"/>
              <a:buNone/>
            </a:pPr>
            <a:r>
              <a:rPr lang="es-ES" b="1" dirty="0"/>
              <a:t>Método de investigación – Etapas del método Kitchenham</a:t>
            </a:r>
            <a:endParaRPr b="1" dirty="0"/>
          </a:p>
        </p:txBody>
      </p:sp>
      <p:sp>
        <p:nvSpPr>
          <p:cNvPr id="121" name="Google Shape;121;p16">
            <a:extLst>
              <a:ext uri="{FF2B5EF4-FFF2-40B4-BE49-F238E27FC236}">
                <a16:creationId xmlns:a16="http://schemas.microsoft.com/office/drawing/2014/main" id="{FED3183C-7870-EAA1-7057-C141308E3A46}"/>
              </a:ext>
            </a:extLst>
          </p:cNvPr>
          <p:cNvSpPr txBox="1">
            <a:spLocks noGrp="1"/>
          </p:cNvSpPr>
          <p:nvPr>
            <p:ph type="title"/>
          </p:nvPr>
        </p:nvSpPr>
        <p:spPr>
          <a:xfrm>
            <a:off x="457197" y="4747750"/>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a:t>​​Estado del arte de las medidas de seguridad a nivel de aplicación en el contexto de ataques de inyección de prompt dirigidos a sistemas basados en LLM​</a:t>
            </a:r>
            <a:endParaRPr sz="1000"/>
          </a:p>
          <a:p>
            <a:pPr marL="0" lvl="0" indent="0" algn="l" rtl="0">
              <a:lnSpc>
                <a:spcPct val="114285"/>
              </a:lnSpc>
              <a:spcBef>
                <a:spcPts val="0"/>
              </a:spcBef>
              <a:spcAft>
                <a:spcPts val="0"/>
              </a:spcAft>
              <a:buClr>
                <a:schemeClr val="dk1"/>
              </a:buClr>
              <a:buSzPts val="700"/>
              <a:buFont typeface="Gill Sans"/>
              <a:buNone/>
            </a:pPr>
            <a:endParaRPr sz="1000">
              <a:latin typeface="Arial"/>
              <a:ea typeface="Arial"/>
              <a:cs typeface="Arial"/>
              <a:sym typeface="Arial"/>
            </a:endParaRPr>
          </a:p>
        </p:txBody>
      </p:sp>
      <p:pic>
        <p:nvPicPr>
          <p:cNvPr id="3" name="Imagen 2">
            <a:extLst>
              <a:ext uri="{FF2B5EF4-FFF2-40B4-BE49-F238E27FC236}">
                <a16:creationId xmlns:a16="http://schemas.microsoft.com/office/drawing/2014/main" id="{B9DC538D-8BF1-E181-7202-76611EC121EC}"/>
              </a:ext>
            </a:extLst>
          </p:cNvPr>
          <p:cNvPicPr>
            <a:picLocks noChangeAspect="1"/>
          </p:cNvPicPr>
          <p:nvPr/>
        </p:nvPicPr>
        <p:blipFill>
          <a:blip r:embed="rId3" cstate="print">
            <a:extLst>
              <a:ext uri="{28A0092B-C50C-407E-A947-70E740481C1C}">
                <a14:useLocalDpi xmlns:a14="http://schemas.microsoft.com/office/drawing/2010/main" val="0"/>
              </a:ext>
            </a:extLst>
          </a:blip>
          <a:srcRect l="13860" r="13860"/>
          <a:stretch>
            <a:fillRect/>
          </a:stretch>
        </p:blipFill>
        <p:spPr>
          <a:xfrm>
            <a:off x="1907705" y="944377"/>
            <a:ext cx="5328589" cy="3797778"/>
          </a:xfrm>
          <a:prstGeom prst="rect">
            <a:avLst/>
          </a:prstGeom>
        </p:spPr>
      </p:pic>
      <p:sp>
        <p:nvSpPr>
          <p:cNvPr id="4" name="Marcador de número de diapositiva 3">
            <a:extLst>
              <a:ext uri="{FF2B5EF4-FFF2-40B4-BE49-F238E27FC236}">
                <a16:creationId xmlns:a16="http://schemas.microsoft.com/office/drawing/2014/main" id="{AC2C486E-F314-DF97-EC34-EBFB49C129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19</a:t>
            </a:fld>
            <a:endParaRPr lang="es-ES"/>
          </a:p>
        </p:txBody>
      </p:sp>
    </p:spTree>
    <p:extLst>
      <p:ext uri="{BB962C8B-B14F-4D97-AF65-F5344CB8AC3E}">
        <p14:creationId xmlns:p14="http://schemas.microsoft.com/office/powerpoint/2010/main" val="151726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A85DE8C5-A6E8-7733-3E12-83C5FBAEDFDE}"/>
            </a:ext>
          </a:extLst>
        </p:cNvPr>
        <p:cNvGrpSpPr/>
        <p:nvPr/>
      </p:nvGrpSpPr>
      <p:grpSpPr>
        <a:xfrm>
          <a:off x="0" y="0"/>
          <a:ext cx="0" cy="0"/>
          <a:chOff x="0" y="0"/>
          <a:chExt cx="0" cy="0"/>
        </a:xfrm>
      </p:grpSpPr>
      <p:sp>
        <p:nvSpPr>
          <p:cNvPr id="128" name="Google Shape;128;p17">
            <a:extLst>
              <a:ext uri="{FF2B5EF4-FFF2-40B4-BE49-F238E27FC236}">
                <a16:creationId xmlns:a16="http://schemas.microsoft.com/office/drawing/2014/main" id="{02EC2CF8-2016-4579-5ABC-DB93EEBB68C7}"/>
              </a:ext>
            </a:extLst>
          </p:cNvPr>
          <p:cNvSpPr txBox="1">
            <a:spLocks noGrp="1"/>
          </p:cNvSpPr>
          <p:nvPr>
            <p:ph type="title"/>
          </p:nvPr>
        </p:nvSpPr>
        <p:spPr>
          <a:xfrm>
            <a:off x="457198" y="577190"/>
            <a:ext cx="8229600" cy="342300"/>
          </a:xfrm>
          <a:prstGeom prst="rect">
            <a:avLst/>
          </a:prstGeom>
          <a:noFill/>
          <a:ln>
            <a:noFill/>
          </a:ln>
        </p:spPr>
        <p:txBody>
          <a:bodyPr spcFirstLastPara="1" wrap="square" lIns="91425" tIns="45700" rIns="91425" bIns="45700" anchor="ctr" anchorCtr="0">
            <a:noAutofit/>
          </a:bodyPr>
          <a:lstStyle/>
          <a:p>
            <a:pPr marL="0" lvl="0" indent="0" algn="ctr" rtl="0">
              <a:lnSpc>
                <a:spcPct val="118181"/>
              </a:lnSpc>
              <a:spcBef>
                <a:spcPts val="0"/>
              </a:spcBef>
              <a:spcAft>
                <a:spcPts val="0"/>
              </a:spcAft>
              <a:buClr>
                <a:schemeClr val="dk1"/>
              </a:buClr>
              <a:buSzPts val="2200"/>
              <a:buFont typeface="Gill Sans"/>
              <a:buNone/>
            </a:pPr>
            <a:r>
              <a:rPr lang="es-ES" b="1" dirty="0"/>
              <a:t>Estructura del trabajo </a:t>
            </a:r>
            <a:r>
              <a:rPr lang="es-ES" b="1" dirty="0" err="1"/>
              <a:t>recepcional</a:t>
            </a:r>
            <a:endParaRPr b="1" dirty="0"/>
          </a:p>
        </p:txBody>
      </p:sp>
      <p:sp>
        <p:nvSpPr>
          <p:cNvPr id="129" name="Google Shape;129;p17">
            <a:extLst>
              <a:ext uri="{FF2B5EF4-FFF2-40B4-BE49-F238E27FC236}">
                <a16:creationId xmlns:a16="http://schemas.microsoft.com/office/drawing/2014/main" id="{9BE70A4D-E571-69B0-33BC-E42396FB1095}"/>
              </a:ext>
            </a:extLst>
          </p:cNvPr>
          <p:cNvSpPr txBox="1">
            <a:spLocks noGrp="1"/>
          </p:cNvSpPr>
          <p:nvPr>
            <p:ph type="title"/>
          </p:nvPr>
        </p:nvSpPr>
        <p:spPr>
          <a:xfrm>
            <a:off x="429864" y="4875251"/>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dirty="0"/>
              <a:t>​​Estado del arte de las medidas de seguridad a nivel de aplicación en el contexto de ataques de inyección de </a:t>
            </a:r>
            <a:r>
              <a:rPr lang="es-ES" sz="1000" dirty="0" err="1"/>
              <a:t>prompt</a:t>
            </a:r>
            <a:r>
              <a:rPr lang="es-ES" sz="1000" dirty="0"/>
              <a:t> dirigidos a sistemas basados en LLM​</a:t>
            </a:r>
            <a:endParaRPr sz="1000" dirty="0"/>
          </a:p>
          <a:p>
            <a:pPr marL="0" lvl="0" indent="0" algn="l" rtl="0">
              <a:lnSpc>
                <a:spcPct val="114285"/>
              </a:lnSpc>
              <a:spcBef>
                <a:spcPts val="0"/>
              </a:spcBef>
              <a:spcAft>
                <a:spcPts val="0"/>
              </a:spcAft>
              <a:buClr>
                <a:schemeClr val="dk1"/>
              </a:buClr>
              <a:buSzPts val="700"/>
              <a:buFont typeface="Gill Sans"/>
              <a:buNone/>
            </a:pPr>
            <a:endParaRPr sz="1000" dirty="0">
              <a:latin typeface="Arial"/>
              <a:ea typeface="Arial"/>
              <a:cs typeface="Arial"/>
              <a:sym typeface="Arial"/>
            </a:endParaRPr>
          </a:p>
        </p:txBody>
      </p:sp>
      <p:pic>
        <p:nvPicPr>
          <p:cNvPr id="3" name="Imagen 2">
            <a:extLst>
              <a:ext uri="{FF2B5EF4-FFF2-40B4-BE49-F238E27FC236}">
                <a16:creationId xmlns:a16="http://schemas.microsoft.com/office/drawing/2014/main" id="{667E4B17-8C89-ADCB-99BC-A8037907BC68}"/>
              </a:ext>
            </a:extLst>
          </p:cNvPr>
          <p:cNvPicPr>
            <a:picLocks noChangeAspect="1"/>
          </p:cNvPicPr>
          <p:nvPr/>
        </p:nvPicPr>
        <p:blipFill>
          <a:blip r:embed="rId3">
            <a:extLst>
              <a:ext uri="{28A0092B-C50C-407E-A947-70E740481C1C}">
                <a14:useLocalDpi xmlns:a14="http://schemas.microsoft.com/office/drawing/2010/main" val="0"/>
              </a:ext>
            </a:extLst>
          </a:blip>
          <a:srcRect b="54726"/>
          <a:stretch>
            <a:fillRect/>
          </a:stretch>
        </p:blipFill>
        <p:spPr>
          <a:xfrm>
            <a:off x="1286792" y="1131599"/>
            <a:ext cx="3168352" cy="3441631"/>
          </a:xfrm>
          <a:prstGeom prst="rect">
            <a:avLst/>
          </a:prstGeom>
        </p:spPr>
      </p:pic>
      <p:pic>
        <p:nvPicPr>
          <p:cNvPr id="5" name="Imagen 4">
            <a:extLst>
              <a:ext uri="{FF2B5EF4-FFF2-40B4-BE49-F238E27FC236}">
                <a16:creationId xmlns:a16="http://schemas.microsoft.com/office/drawing/2014/main" id="{5FB93001-0229-4F9A-0A3C-93DF988BE301}"/>
              </a:ext>
            </a:extLst>
          </p:cNvPr>
          <p:cNvPicPr>
            <a:picLocks noChangeAspect="1"/>
          </p:cNvPicPr>
          <p:nvPr/>
        </p:nvPicPr>
        <p:blipFill>
          <a:blip r:embed="rId3">
            <a:extLst>
              <a:ext uri="{28A0092B-C50C-407E-A947-70E740481C1C}">
                <a14:useLocalDpi xmlns:a14="http://schemas.microsoft.com/office/drawing/2010/main" val="0"/>
              </a:ext>
            </a:extLst>
          </a:blip>
          <a:srcRect l="-369" t="44809" r="369" b="-177"/>
          <a:stretch>
            <a:fillRect/>
          </a:stretch>
        </p:blipFill>
        <p:spPr>
          <a:xfrm>
            <a:off x="4688858" y="1151881"/>
            <a:ext cx="2925168" cy="3434712"/>
          </a:xfrm>
          <a:prstGeom prst="rect">
            <a:avLst/>
          </a:prstGeom>
        </p:spPr>
      </p:pic>
      <p:sp>
        <p:nvSpPr>
          <p:cNvPr id="6" name="Marcador de número de diapositiva 5">
            <a:extLst>
              <a:ext uri="{FF2B5EF4-FFF2-40B4-BE49-F238E27FC236}">
                <a16:creationId xmlns:a16="http://schemas.microsoft.com/office/drawing/2014/main" id="{836EAC17-BBF7-0E87-9C4E-A64E45EC7E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20</a:t>
            </a:fld>
            <a:endParaRPr lang="es-ES"/>
          </a:p>
        </p:txBody>
      </p:sp>
    </p:spTree>
    <p:extLst>
      <p:ext uri="{BB962C8B-B14F-4D97-AF65-F5344CB8AC3E}">
        <p14:creationId xmlns:p14="http://schemas.microsoft.com/office/powerpoint/2010/main" val="3848494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r" rtl="0">
              <a:lnSpc>
                <a:spcPct val="118181"/>
              </a:lnSpc>
              <a:spcBef>
                <a:spcPts val="0"/>
              </a:spcBef>
              <a:spcAft>
                <a:spcPts val="0"/>
              </a:spcAft>
              <a:buClr>
                <a:schemeClr val="dk1"/>
              </a:buClr>
              <a:buSzPts val="2200"/>
              <a:buFont typeface="Gill Sans"/>
              <a:buNone/>
            </a:pPr>
            <a:r>
              <a:rPr lang="es-ES" b="1" dirty="0"/>
              <a:t>Cronograma</a:t>
            </a:r>
            <a:endParaRPr b="1" dirty="0"/>
          </a:p>
        </p:txBody>
      </p:sp>
      <p:sp>
        <p:nvSpPr>
          <p:cNvPr id="137" name="Google Shape;137;p18"/>
          <p:cNvSpPr txBox="1">
            <a:spLocks noGrp="1"/>
          </p:cNvSpPr>
          <p:nvPr>
            <p:ph type="title"/>
          </p:nvPr>
        </p:nvSpPr>
        <p:spPr>
          <a:xfrm>
            <a:off x="457197" y="4747750"/>
            <a:ext cx="8229600" cy="142800"/>
          </a:xfrm>
          <a:prstGeom prst="rect">
            <a:avLst/>
          </a:prstGeom>
          <a:noFill/>
          <a:ln>
            <a:noFill/>
          </a:ln>
        </p:spPr>
        <p:txBody>
          <a:bodyPr spcFirstLastPara="1" wrap="square" lIns="36000" tIns="0" rIns="91425" bIns="45700" anchor="t" anchorCtr="0">
            <a:noAutofit/>
          </a:bodyPr>
          <a:lstStyle/>
          <a:p>
            <a:pPr marL="0" lvl="0" indent="0" algn="r" rtl="0">
              <a:lnSpc>
                <a:spcPct val="116666"/>
              </a:lnSpc>
              <a:spcBef>
                <a:spcPts val="0"/>
              </a:spcBef>
              <a:spcAft>
                <a:spcPts val="0"/>
              </a:spcAft>
              <a:buClr>
                <a:schemeClr val="dk1"/>
              </a:buClr>
              <a:buFont typeface="Arial"/>
              <a:buNone/>
            </a:pPr>
            <a:r>
              <a:rPr lang="es-ES" sz="1000"/>
              <a:t>​​Estado del arte de las medidas de seguridad a nivel de aplicación en el contexto de ataques de inyección de prompt dirigidos a sistemas basados en LLM​</a:t>
            </a:r>
            <a:endParaRPr sz="1000"/>
          </a:p>
          <a:p>
            <a:pPr marL="0" lvl="0" indent="0" algn="l" rtl="0">
              <a:lnSpc>
                <a:spcPct val="114285"/>
              </a:lnSpc>
              <a:spcBef>
                <a:spcPts val="0"/>
              </a:spcBef>
              <a:spcAft>
                <a:spcPts val="0"/>
              </a:spcAft>
              <a:buClr>
                <a:schemeClr val="dk1"/>
              </a:buClr>
              <a:buSzPts val="700"/>
              <a:buFont typeface="Gill Sans"/>
              <a:buNone/>
            </a:pPr>
            <a:endParaRPr sz="1000">
              <a:latin typeface="Arial"/>
              <a:ea typeface="Arial"/>
              <a:cs typeface="Arial"/>
              <a:sym typeface="Arial"/>
            </a:endParaRPr>
          </a:p>
        </p:txBody>
      </p:sp>
      <p:pic>
        <p:nvPicPr>
          <p:cNvPr id="3" name="Imagen 2">
            <a:extLst>
              <a:ext uri="{FF2B5EF4-FFF2-40B4-BE49-F238E27FC236}">
                <a16:creationId xmlns:a16="http://schemas.microsoft.com/office/drawing/2014/main" id="{881F3109-23F5-ED48-7EE9-01A08276521E}"/>
              </a:ext>
            </a:extLst>
          </p:cNvPr>
          <p:cNvPicPr>
            <a:picLocks noChangeAspect="1"/>
          </p:cNvPicPr>
          <p:nvPr/>
        </p:nvPicPr>
        <p:blipFill>
          <a:blip r:embed="rId3"/>
          <a:stretch>
            <a:fillRect/>
          </a:stretch>
        </p:blipFill>
        <p:spPr>
          <a:xfrm>
            <a:off x="89756" y="1202771"/>
            <a:ext cx="8964488" cy="2737958"/>
          </a:xfrm>
          <a:prstGeom prst="rect">
            <a:avLst/>
          </a:prstGeom>
        </p:spPr>
      </p:pic>
      <p:sp>
        <p:nvSpPr>
          <p:cNvPr id="4" name="Marcador de número de diapositiva 3">
            <a:extLst>
              <a:ext uri="{FF2B5EF4-FFF2-40B4-BE49-F238E27FC236}">
                <a16:creationId xmlns:a16="http://schemas.microsoft.com/office/drawing/2014/main" id="{14F552E3-D3D6-B39D-76B2-6748D3ED0E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21</a:t>
            </a:fld>
            <a:endParaRPr lang="es-ES"/>
          </a:p>
        </p:txBody>
      </p:sp>
    </p:spTree>
  </p:cSld>
  <p:clrMapOvr>
    <a:masterClrMapping/>
  </p:clrMapOvr>
</p:sld>
</file>

<file path=ppt/theme/theme1.xml><?xml version="1.0" encoding="utf-8"?>
<a:theme xmlns:a="http://schemas.openxmlformats.org/drawingml/2006/main" name="3234 Portada facebook con fotografia_RGB">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ción1" id="{EA541A49-8E3F-42EC-BDEC-1E4DDBAD5F1A}" vid="{C711CBF6-4D2A-42B7-842F-7ED3AFEA8AC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3923 Presentacion PPT_16 a 9</Template>
  <TotalTime>211</TotalTime>
  <Words>1793</Words>
  <Application>Microsoft Office PowerPoint</Application>
  <PresentationFormat>Presentación en pantalla (16:9)</PresentationFormat>
  <Paragraphs>164</Paragraphs>
  <Slides>21</Slides>
  <Notes>11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vt:i4>
      </vt:variant>
    </vt:vector>
  </HeadingPairs>
  <TitlesOfParts>
    <vt:vector size="27" baseType="lpstr">
      <vt:lpstr>Aptos</vt:lpstr>
      <vt:lpstr>Arial</vt:lpstr>
      <vt:lpstr>Calibri</vt:lpstr>
      <vt:lpstr>Gill Sans</vt:lpstr>
      <vt:lpstr>Gill Sans MT</vt:lpstr>
      <vt:lpstr>3234 Portada facebook con fotografia_RGB</vt:lpstr>
      <vt:lpstr>Facultad de Estadística e Informática</vt:lpstr>
      <vt:lpstr>Antecedentes (1/4) - Contexto</vt:lpstr>
      <vt:lpstr>Antecedentes (2/4) – Prompt Injection</vt:lpstr>
      <vt:lpstr>Antecedentes (3/4) – Prompt Injection</vt:lpstr>
      <vt:lpstr>Antecedentes (4/4) – Medidas a nivel de aplicación</vt:lpstr>
      <vt:lpstr>Problemática (1/2)</vt:lpstr>
      <vt:lpstr>Problemática (1/2)</vt:lpstr>
      <vt:lpstr>​​Estado del arte de las medidas de seguridad a nivel de aplicación en el contexto de ataques de inyección de prompt dirigidos a sistemas basados en LLM​ </vt:lpstr>
      <vt:lpstr>Presentación de PowerPoint</vt:lpstr>
      <vt:lpstr>Presentación de PowerPoint</vt:lpstr>
      <vt:lpstr>Presentación de PowerPoint</vt:lpstr>
      <vt:lpstr>Presentación de PowerPoint</vt:lpstr>
      <vt:lpstr>Presentación de PowerPoint</vt:lpstr>
      <vt:lpstr>​​Estado del arte de las medidas de seguridad a nivel de aplicación en el contexto de ataques de inyección de prompt dirigidos a sistemas basados en LLM​ </vt:lpstr>
      <vt:lpstr>​​Estado del arte de las medidas de seguridad a nivel de aplicación en el contexto de ataques de inyección de prompt dirigidos a sistemas basados en LLM​ </vt:lpstr>
      <vt:lpstr>Delimitación del trabajo</vt:lpstr>
      <vt:lpstr>​​Estado del arte de las medidas de seguridad a nivel de aplicación en el contexto de ataques de inyección de prompt dirigidos a sistemas basados en LLM​ </vt:lpstr>
      <vt:lpstr>Método de investigación - Kitchenham</vt:lpstr>
      <vt:lpstr>Método de investigación – Etapas del método Kitchenham</vt:lpstr>
      <vt:lpstr>Estructura del trabajo recepcional</vt:lpstr>
      <vt:lpstr>Cronograma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abraham nuñez</dc:creator>
  <cp:lastModifiedBy>abraham nuñez</cp:lastModifiedBy>
  <cp:revision>8</cp:revision>
  <dcterms:created xsi:type="dcterms:W3CDTF">2026-09-19T18:18:39Z</dcterms:created>
  <dcterms:modified xsi:type="dcterms:W3CDTF">2026-09-19T21:50:37Z</dcterms:modified>
</cp:coreProperties>
</file>